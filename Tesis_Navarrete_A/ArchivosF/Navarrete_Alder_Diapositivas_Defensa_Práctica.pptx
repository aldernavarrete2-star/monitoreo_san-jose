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 bookmarkIdSeed="5">
  <p:sldMasterIdLst>
    <p:sldMasterId id="2147483648" r:id="rId4"/>
  </p:sldMasterIdLst>
  <p:notesMasterIdLst>
    <p:notesMasterId r:id="rId34"/>
  </p:notesMasterIdLst>
  <p:sldIdLst>
    <p:sldId id="303" r:id="rId5"/>
    <p:sldId id="256" r:id="rId6"/>
    <p:sldId id="642" r:id="rId7"/>
    <p:sldId id="341" r:id="rId8"/>
    <p:sldId id="644" r:id="rId9"/>
    <p:sldId id="645" r:id="rId10"/>
    <p:sldId id="646" r:id="rId11"/>
    <p:sldId id="669" r:id="rId12"/>
    <p:sldId id="670" r:id="rId13"/>
    <p:sldId id="671" r:id="rId14"/>
    <p:sldId id="672" r:id="rId15"/>
    <p:sldId id="676" r:id="rId16"/>
    <p:sldId id="678" r:id="rId17"/>
    <p:sldId id="675" r:id="rId18"/>
    <p:sldId id="677" r:id="rId19"/>
    <p:sldId id="673" r:id="rId20"/>
    <p:sldId id="679" r:id="rId21"/>
    <p:sldId id="653" r:id="rId22"/>
    <p:sldId id="681" r:id="rId23"/>
    <p:sldId id="687" r:id="rId24"/>
    <p:sldId id="680" r:id="rId25"/>
    <p:sldId id="686" r:id="rId26"/>
    <p:sldId id="684" r:id="rId27"/>
    <p:sldId id="685" r:id="rId28"/>
    <p:sldId id="666" r:id="rId29"/>
    <p:sldId id="682" r:id="rId30"/>
    <p:sldId id="668" r:id="rId31"/>
    <p:sldId id="340" r:id="rId32"/>
    <p:sldId id="688" r:id="rId33"/>
  </p:sldIdLst>
  <p:sldSz cx="12192000" cy="6858000"/>
  <p:notesSz cx="6858000" cy="9144000"/>
  <p:defaultTextStyle>
    <a:defPPr>
      <a:defRPr lang="es-EC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4393DD04-57A4-C3BF-A933-27E511886E33}" name="Marlon Moncayo" initials="MM" userId="Marlon Moncayo" providerId="Non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C083E6E3-FA7D-4D7B-A595-EF9225AFEA82}" styleName="Estilo claro 1 - Acento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073A0DAA-6AF3-43AB-8588-CEC1D06C72B9}" styleName="Estilo medio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9012ECD-51FC-41F1-AA8D-1B2483CD663E}" styleName="Estilo claro 2 - Acento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9D7B26C5-4107-4FEC-AEDC-1716B250A1EF}" styleName="Estilo claro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4550" autoAdjust="0"/>
    <p:restoredTop sz="96327"/>
  </p:normalViewPr>
  <p:slideViewPr>
    <p:cSldViewPr snapToGrid="0">
      <p:cViewPr varScale="1">
        <p:scale>
          <a:sx n="97" d="100"/>
          <a:sy n="97" d="100"/>
        </p:scale>
        <p:origin x="56" y="3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microsoft.com/office/2018/10/relationships/authors" Target="authors.xml"/><Relationship Id="rId21" Type="http://schemas.openxmlformats.org/officeDocument/2006/relationships/slide" Target="slides/slide17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presProps" Target="presProps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C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2CD9372-4AB5-41D5-8634-CCAB76B088FE}" type="datetimeFigureOut">
              <a:rPr lang="es-EC" smtClean="0"/>
              <a:t>2/9/2026</a:t>
            </a:fld>
            <a:endParaRPr lang="es-EC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C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C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9F7B6C4-90C3-4829-833B-7F08A6563FDE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41197388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.png"/><Relationship Id="rId4" Type="http://schemas.openxmlformats.org/officeDocument/2006/relationships/hyperlink" Target="http://aka.ms/mixgallery" TargetMode="Externa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2D290DD-1E9C-9121-C3C7-8F0197765D4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MX"/>
              <a:t>Haz clic para modificar el estilo de título del patrón</a:t>
            </a:r>
            <a:endParaRPr lang="es-EC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77F08FC-0013-532C-31FF-2018A6A6652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MX"/>
              <a:t>Haz clic para editar el estilo de subtítulo del patrón</a:t>
            </a:r>
            <a:endParaRPr lang="es-EC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1C74360-920E-BE2D-752C-D21C4D6756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DD0D3B-B2DF-914A-8517-44B097541E97}" type="datetimeFigureOut">
              <a:rPr lang="es-EC" smtClean="0"/>
              <a:t>2/9/2026</a:t>
            </a:fld>
            <a:endParaRPr lang="es-EC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E03586C-AD0A-FABD-84C1-438FF05347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56B7CB6-8589-1615-BEBD-A7CB612CCC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DA2C8-492B-6E46-92A7-16921DB77AC6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23908750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90261DE-0288-1BC6-A70E-263F6016F6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s-EC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DC04FF2-6B80-727A-802E-65DC898B79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EC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B218892-2A26-1D0E-C6C7-F30424EAC4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DD0D3B-B2DF-914A-8517-44B097541E97}" type="datetimeFigureOut">
              <a:rPr lang="es-EC" smtClean="0"/>
              <a:t>2/9/2026</a:t>
            </a:fld>
            <a:endParaRPr lang="es-EC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20B5E86-DD8C-2C88-D210-A1D5E24FA7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F6A4250-7748-8703-7267-2AE43C7CBF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DA2C8-492B-6E46-92A7-16921DB77AC6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13399008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6AA043F-9BB6-1F98-61D5-0AFB4158E6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MX"/>
              <a:t>Haz clic para modificar el estilo de título del patrón</a:t>
            </a:r>
            <a:endParaRPr lang="es-EC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216118C6-611A-43D1-907D-F5549641AD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BAC76B9-7FFB-560D-9B93-D80102DAFA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DD0D3B-B2DF-914A-8517-44B097541E97}" type="datetimeFigureOut">
              <a:rPr lang="es-EC" smtClean="0"/>
              <a:t>2/9/2026</a:t>
            </a:fld>
            <a:endParaRPr lang="es-EC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09CA652-14A6-DBB9-724D-17F7A6F797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ED617BF-38EC-26F9-1F2C-500191234B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DA2C8-492B-6E46-92A7-16921DB77AC6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11367814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16C9C62-511D-DCE7-C35A-06A7F12276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s-EC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43D11F3-8D37-2421-3813-ED8933311A3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EC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B6B6F217-77DA-F41C-03E1-B07F9567A04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EC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C85B2742-9939-30C7-FA2B-ECFC8E8B4A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DD0D3B-B2DF-914A-8517-44B097541E97}" type="datetimeFigureOut">
              <a:rPr lang="es-EC" smtClean="0"/>
              <a:t>2/9/2026</a:t>
            </a:fld>
            <a:endParaRPr lang="es-EC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090AC317-3831-69B7-0F5F-CCD124E0DE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916518CA-9BD0-174A-203D-6A5039EC58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DA2C8-492B-6E46-92A7-16921DB77AC6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19769660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EAF32B1-4A91-4C97-B6C1-65678D5DFF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MX"/>
              <a:t>Haz clic para modificar el estilo de título del patrón</a:t>
            </a:r>
            <a:endParaRPr lang="es-EC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9F12F0E5-E11C-55CD-FB83-727FE301EC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4B0526F3-1206-0D0D-554D-B5F442E7CAA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EC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7A6CD229-57C1-0EFB-71D5-AF8A4E0C79E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C74833E5-B614-4837-83EF-1D6BD3D9F2F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EC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EB088774-3425-9644-7CB0-37DF128925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DD0D3B-B2DF-914A-8517-44B097541E97}" type="datetimeFigureOut">
              <a:rPr lang="es-EC" smtClean="0"/>
              <a:t>2/9/2026</a:t>
            </a:fld>
            <a:endParaRPr lang="es-EC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D398D1D2-34D9-FD51-B091-7E1E0C228B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88514379-F153-FB16-3093-A40DD28DAA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DA2C8-492B-6E46-92A7-16921DB77AC6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23094643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AEA5FCE-7F1E-B3DF-7201-7E3C2CC8E8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s-EC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0E1CCB96-E918-3AC8-B2F5-243B7C4E1D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DD0D3B-B2DF-914A-8517-44B097541E97}" type="datetimeFigureOut">
              <a:rPr lang="es-EC" smtClean="0"/>
              <a:t>2/9/2026</a:t>
            </a:fld>
            <a:endParaRPr lang="es-EC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C7E855FB-C12A-DE5A-E041-C962290C9D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8942CE42-0BDD-7621-B672-3DB46F8D6B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DA2C8-492B-6E46-92A7-16921DB77AC6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26919552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1EB822A4-5176-CF95-4972-86EB0531EE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DD0D3B-B2DF-914A-8517-44B097541E97}" type="datetimeFigureOut">
              <a:rPr lang="es-EC" smtClean="0"/>
              <a:t>2/9/2026</a:t>
            </a:fld>
            <a:endParaRPr lang="es-EC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963626CD-DE6C-12C6-A70B-2E0C486907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2046CD41-1459-7566-5076-D0794FD4AC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DA2C8-492B-6E46-92A7-16921DB77AC6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42156619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C79AC4D-EAFD-90BF-3625-4D8A4D882B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MX"/>
              <a:t>Haz clic para modificar el estilo de título del patrón</a:t>
            </a:r>
            <a:endParaRPr lang="es-EC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9C4E1F0-0C62-E1D4-8CB2-4278C70E57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EC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C53A81E5-B5B9-128F-1D1E-2D605F104C0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143B2880-E7F2-7D37-553A-CCD8F78590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DD0D3B-B2DF-914A-8517-44B097541E97}" type="datetimeFigureOut">
              <a:rPr lang="es-EC" smtClean="0"/>
              <a:t>2/9/2026</a:t>
            </a:fld>
            <a:endParaRPr lang="es-EC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A5847BE3-6C0E-8F48-B7C6-30A30BECF3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EB84631C-3785-D6E9-FD5A-AD04050B6A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DA2C8-492B-6E46-92A7-16921DB77AC6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26836196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5D86B76-7044-5A65-A597-60A1840655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MX"/>
              <a:t>Haz clic para modificar el estilo de título del patrón</a:t>
            </a:r>
            <a:endParaRPr lang="es-EC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C9779259-C20A-262E-C3A9-B3F5C3755E7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C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F0BBE926-D4A3-7859-DD94-391A4F7B7BB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BA9FD5DD-AC6A-DFA2-BB0D-237DBC3D8B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DD0D3B-B2DF-914A-8517-44B097541E97}" type="datetimeFigureOut">
              <a:rPr lang="es-EC" smtClean="0"/>
              <a:t>2/9/2026</a:t>
            </a:fld>
            <a:endParaRPr lang="es-EC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90344145-2BFD-A17A-E39F-0C9A58BC3A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18A5BF82-4F69-408C-D73E-A9B95559C4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DA2C8-492B-6E46-92A7-16921DB77AC6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20054904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51686EA-B517-48BD-46F6-19F7D49B73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s-EC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2E31B498-02E2-A65E-D43E-0440C385AB7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EC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FA1A666-FA92-FD99-20AF-59A2DA4A0E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DD0D3B-B2DF-914A-8517-44B097541E97}" type="datetimeFigureOut">
              <a:rPr lang="es-EC" smtClean="0"/>
              <a:t>2/9/2026</a:t>
            </a:fld>
            <a:endParaRPr lang="es-EC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D0E838B-A5AF-B996-F949-85FED7CA5D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E746F1B-1E7B-22DB-2956-EA6B117927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DA2C8-492B-6E46-92A7-16921DB77AC6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8170700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5285C5DE-BCA1-0F3F-6EE0-C6C18C8507C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MX"/>
              <a:t>Haz clic para modificar el estilo de título del patrón</a:t>
            </a:r>
            <a:endParaRPr lang="es-EC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23F59F32-250C-7F0D-1C7F-FF17970F8F7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EC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B3D4532-ACCA-C6D3-373A-F22A019FAE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DD0D3B-B2DF-914A-8517-44B097541E97}" type="datetimeFigureOut">
              <a:rPr lang="es-EC" smtClean="0"/>
              <a:t>2/9/2026</a:t>
            </a:fld>
            <a:endParaRPr lang="es-EC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6CBE30F-722A-BF89-3344-F886A3DEC2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5D6B015-9130-6897-AF02-55347ED1DE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DA2C8-492B-6E46-92A7-16921DB77AC6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134223652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 Imag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/>
          <p:cNvPicPr>
            <a:picLocks noChangeAspect="1"/>
          </p:cNvPicPr>
          <p:nvPr userDrawn="1"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17080" r="11324" b="-2"/>
          <a:stretch/>
        </p:blipFill>
        <p:spPr>
          <a:xfrm>
            <a:off x="0" y="-1"/>
            <a:ext cx="12197289" cy="6858001"/>
          </a:xfrm>
          <a:prstGeom prst="rect">
            <a:avLst/>
          </a:prstGeom>
        </p:spPr>
      </p:pic>
      <p:sp>
        <p:nvSpPr>
          <p:cNvPr id="8" name="Rectangle 7">
            <a:hlinkClick r:id="rId4"/>
          </p:cNvPr>
          <p:cNvSpPr/>
          <p:nvPr userDrawn="1"/>
        </p:nvSpPr>
        <p:spPr>
          <a:xfrm flipH="1">
            <a:off x="2097112" y="5777510"/>
            <a:ext cx="1790018" cy="40011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grpSp>
        <p:nvGrpSpPr>
          <p:cNvPr id="10" name="Grupo 9"/>
          <p:cNvGrpSpPr/>
          <p:nvPr userDrawn="1"/>
        </p:nvGrpSpPr>
        <p:grpSpPr>
          <a:xfrm>
            <a:off x="10274531" y="3"/>
            <a:ext cx="1925782" cy="3110481"/>
            <a:chOff x="10266218" y="1122218"/>
            <a:chExt cx="1925782" cy="3110481"/>
          </a:xfrm>
        </p:grpSpPr>
        <p:sp>
          <p:nvSpPr>
            <p:cNvPr id="7" name="Rectángulo 6"/>
            <p:cNvSpPr/>
            <p:nvPr userDrawn="1"/>
          </p:nvSpPr>
          <p:spPr>
            <a:xfrm>
              <a:off x="10266218" y="1122218"/>
              <a:ext cx="1925782" cy="311048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C"/>
            </a:p>
          </p:txBody>
        </p:sp>
        <p:pic>
          <p:nvPicPr>
            <p:cNvPr id="2" name="Imagen 1"/>
            <p:cNvPicPr>
              <a:picLocks noChangeAspect="1"/>
            </p:cNvPicPr>
            <p:nvPr userDrawn="1"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287417" y="1148106"/>
              <a:ext cx="1877595" cy="3042894"/>
            </a:xfrm>
            <a:prstGeom prst="rect">
              <a:avLst/>
            </a:prstGeom>
          </p:spPr>
        </p:pic>
      </p:grpSp>
      <p:sp>
        <p:nvSpPr>
          <p:cNvPr id="14" name="Right Triangle 7"/>
          <p:cNvSpPr/>
          <p:nvPr userDrawn="1"/>
        </p:nvSpPr>
        <p:spPr>
          <a:xfrm flipH="1">
            <a:off x="-1586" y="481599"/>
            <a:ext cx="7666495" cy="6390469"/>
          </a:xfrm>
          <a:custGeom>
            <a:avLst/>
            <a:gdLst>
              <a:gd name="connsiteX0" fmla="*/ 0 w 5151550"/>
              <a:gd name="connsiteY0" fmla="*/ 3876541 h 3876541"/>
              <a:gd name="connsiteX1" fmla="*/ 0 w 5151550"/>
              <a:gd name="connsiteY1" fmla="*/ 0 h 3876541"/>
              <a:gd name="connsiteX2" fmla="*/ 5151550 w 5151550"/>
              <a:gd name="connsiteY2" fmla="*/ 3876541 h 3876541"/>
              <a:gd name="connsiteX3" fmla="*/ 0 w 5151550"/>
              <a:gd name="connsiteY3" fmla="*/ 3876541 h 3876541"/>
              <a:gd name="connsiteX0" fmla="*/ 4533363 w 4533363"/>
              <a:gd name="connsiteY0" fmla="*/ 3876541 h 3876541"/>
              <a:gd name="connsiteX1" fmla="*/ 4533363 w 4533363"/>
              <a:gd name="connsiteY1" fmla="*/ 0 h 3876541"/>
              <a:gd name="connsiteX2" fmla="*/ 0 w 4533363"/>
              <a:gd name="connsiteY2" fmla="*/ 3876541 h 3876541"/>
              <a:gd name="connsiteX3" fmla="*/ 4533363 w 4533363"/>
              <a:gd name="connsiteY3" fmla="*/ 3876541 h 3876541"/>
              <a:gd name="connsiteX0" fmla="*/ 6645498 w 6645498"/>
              <a:gd name="connsiteY0" fmla="*/ 3876541 h 3883821"/>
              <a:gd name="connsiteX1" fmla="*/ 6645498 w 6645498"/>
              <a:gd name="connsiteY1" fmla="*/ 0 h 3883821"/>
              <a:gd name="connsiteX2" fmla="*/ 0 w 6645498"/>
              <a:gd name="connsiteY2" fmla="*/ 3883821 h 3883821"/>
              <a:gd name="connsiteX3" fmla="*/ 6645498 w 6645498"/>
              <a:gd name="connsiteY3" fmla="*/ 3876541 h 38838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645498" h="3883821">
                <a:moveTo>
                  <a:pt x="6645498" y="3876541"/>
                </a:moveTo>
                <a:lnTo>
                  <a:pt x="6645498" y="0"/>
                </a:lnTo>
                <a:lnTo>
                  <a:pt x="0" y="3883821"/>
                </a:lnTo>
                <a:lnTo>
                  <a:pt x="6645498" y="3876541"/>
                </a:lnTo>
                <a:close/>
              </a:path>
            </a:pathLst>
          </a:custGeom>
          <a:solidFill>
            <a:schemeClr val="bg1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 </a:t>
            </a:r>
          </a:p>
        </p:txBody>
      </p:sp>
      <p:sp>
        <p:nvSpPr>
          <p:cNvPr id="15" name="Right Triangle 7"/>
          <p:cNvSpPr/>
          <p:nvPr userDrawn="1"/>
        </p:nvSpPr>
        <p:spPr>
          <a:xfrm flipH="1">
            <a:off x="0" y="710754"/>
            <a:ext cx="7413935" cy="6161314"/>
          </a:xfrm>
          <a:custGeom>
            <a:avLst/>
            <a:gdLst>
              <a:gd name="connsiteX0" fmla="*/ 0 w 5151550"/>
              <a:gd name="connsiteY0" fmla="*/ 3876541 h 3876541"/>
              <a:gd name="connsiteX1" fmla="*/ 0 w 5151550"/>
              <a:gd name="connsiteY1" fmla="*/ 0 h 3876541"/>
              <a:gd name="connsiteX2" fmla="*/ 5151550 w 5151550"/>
              <a:gd name="connsiteY2" fmla="*/ 3876541 h 3876541"/>
              <a:gd name="connsiteX3" fmla="*/ 0 w 5151550"/>
              <a:gd name="connsiteY3" fmla="*/ 3876541 h 3876541"/>
              <a:gd name="connsiteX0" fmla="*/ 4533363 w 4533363"/>
              <a:gd name="connsiteY0" fmla="*/ 3876541 h 3876541"/>
              <a:gd name="connsiteX1" fmla="*/ 4533363 w 4533363"/>
              <a:gd name="connsiteY1" fmla="*/ 0 h 3876541"/>
              <a:gd name="connsiteX2" fmla="*/ 0 w 4533363"/>
              <a:gd name="connsiteY2" fmla="*/ 3876541 h 3876541"/>
              <a:gd name="connsiteX3" fmla="*/ 4533363 w 4533363"/>
              <a:gd name="connsiteY3" fmla="*/ 3876541 h 3876541"/>
              <a:gd name="connsiteX0" fmla="*/ 6645498 w 6645498"/>
              <a:gd name="connsiteY0" fmla="*/ 3876541 h 3883821"/>
              <a:gd name="connsiteX1" fmla="*/ 6645498 w 6645498"/>
              <a:gd name="connsiteY1" fmla="*/ 0 h 3883821"/>
              <a:gd name="connsiteX2" fmla="*/ 0 w 6645498"/>
              <a:gd name="connsiteY2" fmla="*/ 3883821 h 3883821"/>
              <a:gd name="connsiteX3" fmla="*/ 6645498 w 6645498"/>
              <a:gd name="connsiteY3" fmla="*/ 3876541 h 38838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645498" h="3883821">
                <a:moveTo>
                  <a:pt x="6645498" y="3876541"/>
                </a:moveTo>
                <a:lnTo>
                  <a:pt x="6645498" y="0"/>
                </a:lnTo>
                <a:lnTo>
                  <a:pt x="0" y="3883821"/>
                </a:lnTo>
                <a:lnTo>
                  <a:pt x="6645498" y="3876541"/>
                </a:lnTo>
                <a:close/>
              </a:path>
            </a:pathLst>
          </a:custGeom>
          <a:gradFill>
            <a:gsLst>
              <a:gs pos="0">
                <a:schemeClr val="bg1"/>
              </a:gs>
              <a:gs pos="100000">
                <a:schemeClr val="bg1">
                  <a:lumMod val="85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0532461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74843845-7472-D70C-023B-F8910223F3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MX"/>
              <a:t>Haz clic para modificar el estilo de título del patrón</a:t>
            </a:r>
            <a:endParaRPr lang="es-EC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41D6FC2-BD32-D56E-36C6-4B8C9D50BD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EC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2B5F044-B19C-89A1-5E8B-0AC4E904DC6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EDD0D3B-B2DF-914A-8517-44B097541E97}" type="datetimeFigureOut">
              <a:rPr lang="es-EC" smtClean="0"/>
              <a:t>2/9/2026</a:t>
            </a:fld>
            <a:endParaRPr lang="es-EC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C1205B5-78CD-2FA8-EB6B-718B050FC7B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C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2E67AC3-6B7B-8C8D-4D4F-60297400B4B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E3DA2C8-492B-6E46-92A7-16921DB77AC6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5409243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C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slide" Target="slide18.xml"/><Relationship Id="rId3" Type="http://schemas.openxmlformats.org/officeDocument/2006/relationships/image" Target="../media/image9.png"/><Relationship Id="rId7" Type="http://schemas.openxmlformats.org/officeDocument/2006/relationships/slide" Target="slide7.xml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6" Type="http://schemas.openxmlformats.org/officeDocument/2006/relationships/slide" Target="slide6.xml"/><Relationship Id="rId5" Type="http://schemas.openxmlformats.org/officeDocument/2006/relationships/slide" Target="slide5.xml"/><Relationship Id="rId4" Type="http://schemas.openxmlformats.org/officeDocument/2006/relationships/slide" Target="slide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jpeg"/><Relationship Id="rId5" Type="http://schemas.openxmlformats.org/officeDocument/2006/relationships/image" Target="../media/image17.jpeg"/><Relationship Id="rId4" Type="http://schemas.openxmlformats.org/officeDocument/2006/relationships/image" Target="../media/image16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32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28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38.jpe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7.png"/><Relationship Id="rId5" Type="http://schemas.openxmlformats.org/officeDocument/2006/relationships/image" Target="../media/image36.jpeg"/><Relationship Id="rId4" Type="http://schemas.openxmlformats.org/officeDocument/2006/relationships/image" Target="../media/image35.jpe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1.png"/><Relationship Id="rId5" Type="http://schemas.openxmlformats.org/officeDocument/2006/relationships/image" Target="../media/image40.png"/><Relationship Id="rId4" Type="http://schemas.openxmlformats.org/officeDocument/2006/relationships/image" Target="../media/image39.jpe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4.png"/><Relationship Id="rId5" Type="http://schemas.openxmlformats.org/officeDocument/2006/relationships/image" Target="../media/image43.png"/><Relationship Id="rId4" Type="http://schemas.openxmlformats.org/officeDocument/2006/relationships/image" Target="../media/image42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4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45.png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454568" y="5984083"/>
            <a:ext cx="35459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200"/>
              </a:spcAft>
            </a:pPr>
            <a:r>
              <a:rPr lang="es-US" sz="2000" b="1" noProof="0" dirty="0">
                <a:solidFill>
                  <a:srgbClr val="C00000"/>
                </a:solidFill>
                <a:latin typeface="+mj-lt"/>
                <a:cs typeface="Segoe UI Semibold" panose="020B0702040204020203" pitchFamily="34" charset="0"/>
              </a:rPr>
              <a:t>www.utn.edu.ec</a:t>
            </a:r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3144" y="4317664"/>
            <a:ext cx="3517356" cy="788763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C944F5BF-88B3-78F2-F059-95FA43CEE3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95806" y="0"/>
            <a:ext cx="2996194" cy="31180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98765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ángulo 5">
            <a:extLst>
              <a:ext uri="{FF2B5EF4-FFF2-40B4-BE49-F238E27FC236}">
                <a16:creationId xmlns:a16="http://schemas.microsoft.com/office/drawing/2014/main" id="{8D3FA402-2067-116B-1611-78702CAE3E40}"/>
              </a:ext>
            </a:extLst>
          </p:cNvPr>
          <p:cNvSpPr/>
          <p:nvPr/>
        </p:nvSpPr>
        <p:spPr>
          <a:xfrm>
            <a:off x="5526157" y="6092687"/>
            <a:ext cx="6665843" cy="765313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US" noProof="0" dirty="0"/>
          </a:p>
        </p:txBody>
      </p:sp>
      <p:sp>
        <p:nvSpPr>
          <p:cNvPr id="5" name="Recortar rectángulo de una esquina 4">
            <a:extLst>
              <a:ext uri="{FF2B5EF4-FFF2-40B4-BE49-F238E27FC236}">
                <a16:creationId xmlns:a16="http://schemas.microsoft.com/office/drawing/2014/main" id="{6A962408-0622-CBDA-6837-2449CFAAC9F3}"/>
              </a:ext>
            </a:extLst>
          </p:cNvPr>
          <p:cNvSpPr/>
          <p:nvPr/>
        </p:nvSpPr>
        <p:spPr>
          <a:xfrm>
            <a:off x="-9939" y="5814391"/>
            <a:ext cx="5903843" cy="1053548"/>
          </a:xfrm>
          <a:prstGeom prst="snip1Rect">
            <a:avLst>
              <a:gd name="adj" fmla="val 50000"/>
            </a:avLst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US" noProof="0" dirty="0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5487C14B-74C3-C04B-B6A6-80E3578570F1}"/>
              </a:ext>
            </a:extLst>
          </p:cNvPr>
          <p:cNvSpPr txBox="1"/>
          <p:nvPr/>
        </p:nvSpPr>
        <p:spPr>
          <a:xfrm>
            <a:off x="2477100" y="927787"/>
            <a:ext cx="9101538" cy="8744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s-US" sz="1800" b="1" noProof="0" dirty="0">
                <a:effectLst/>
                <a:latin typeface="Times New Roman" panose="02020603050405020304" pitchFamily="18" charset="0"/>
                <a:ea typeface="Courier New" panose="02070309020205020404" pitchFamily="49" charset="0"/>
                <a:cs typeface="Times New Roman" panose="02020603050405020304" pitchFamily="18" charset="0"/>
              </a:rPr>
              <a:t>“</a:t>
            </a:r>
            <a:r>
              <a:rPr lang="es-MX" b="1" noProof="0" dirty="0">
                <a:latin typeface="Amasis MT Pro Medium" panose="020B060402020202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Sistema de Monitoreo con Arquitectura </a:t>
            </a:r>
            <a:r>
              <a:rPr lang="es-MX" b="1" noProof="0" dirty="0" err="1">
                <a:latin typeface="Amasis MT Pro Medium" panose="020B060402020202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IoT</a:t>
            </a:r>
            <a:r>
              <a:rPr lang="es-MX" b="1" noProof="0" dirty="0">
                <a:latin typeface="Amasis MT Pro Medium" panose="020B060402020202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y Procesamiento de Video para la Seguridad de Plantaciones de Aguacate del sector San José, Mira </a:t>
            </a:r>
            <a:r>
              <a:rPr lang="es-US" sz="1800" b="1" noProof="0" dirty="0">
                <a:effectLst/>
                <a:latin typeface="Times New Roman" panose="02020603050405020304" pitchFamily="18" charset="0"/>
                <a:ea typeface="Courier New" panose="02070309020205020404" pitchFamily="49" charset="0"/>
                <a:cs typeface="Times New Roman" panose="02020603050405020304" pitchFamily="18" charset="0"/>
              </a:rPr>
              <a:t>”</a:t>
            </a:r>
            <a:endParaRPr lang="es-US" sz="1800" b="1" noProof="0" dirty="0">
              <a:effectLst/>
              <a:latin typeface="Times New Roman" panose="02020603050405020304" pitchFamily="18" charset="0"/>
              <a:ea typeface="Courier New" panose="02070309020205020404" pitchFamily="49" charset="0"/>
              <a:cs typeface="Courier New" panose="02070309020205020404" pitchFamily="49" charset="0"/>
            </a:endParaRPr>
          </a:p>
        </p:txBody>
      </p:sp>
      <p:cxnSp>
        <p:nvCxnSpPr>
          <p:cNvPr id="8" name="Conector recto 7">
            <a:extLst>
              <a:ext uri="{FF2B5EF4-FFF2-40B4-BE49-F238E27FC236}">
                <a16:creationId xmlns:a16="http://schemas.microsoft.com/office/drawing/2014/main" id="{DD0495A0-BC27-0092-00F8-5CD7FD4D0D72}"/>
              </a:ext>
            </a:extLst>
          </p:cNvPr>
          <p:cNvCxnSpPr/>
          <p:nvPr/>
        </p:nvCxnSpPr>
        <p:spPr>
          <a:xfrm>
            <a:off x="4547644" y="3341695"/>
            <a:ext cx="4917989" cy="0"/>
          </a:xfrm>
          <a:prstGeom prst="line">
            <a:avLst/>
          </a:prstGeom>
          <a:ln w="4762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Imagen 9">
            <a:extLst>
              <a:ext uri="{FF2B5EF4-FFF2-40B4-BE49-F238E27FC236}">
                <a16:creationId xmlns:a16="http://schemas.microsoft.com/office/drawing/2014/main" id="{29D7E386-6CF5-4974-C17C-654E03E59E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2774" y="561572"/>
            <a:ext cx="1875986" cy="1875986"/>
          </a:xfrm>
          <a:prstGeom prst="rect">
            <a:avLst/>
          </a:prstGeom>
        </p:spPr>
      </p:pic>
      <p:sp>
        <p:nvSpPr>
          <p:cNvPr id="11" name="CuadroTexto 10">
            <a:extLst>
              <a:ext uri="{FF2B5EF4-FFF2-40B4-BE49-F238E27FC236}">
                <a16:creationId xmlns:a16="http://schemas.microsoft.com/office/drawing/2014/main" id="{8D959A44-742C-805E-8272-83504E8CF766}"/>
              </a:ext>
            </a:extLst>
          </p:cNvPr>
          <p:cNvSpPr txBox="1"/>
          <p:nvPr/>
        </p:nvSpPr>
        <p:spPr>
          <a:xfrm>
            <a:off x="10064308" y="6273230"/>
            <a:ext cx="11862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US" noProof="0" dirty="0">
                <a:solidFill>
                  <a:schemeClr val="bg1"/>
                </a:solidFill>
              </a:rPr>
              <a:t>@</a:t>
            </a:r>
            <a:r>
              <a:rPr lang="es-US" b="1" noProof="0" dirty="0">
                <a:solidFill>
                  <a:schemeClr val="bg1"/>
                </a:solidFill>
                <a:effectLst/>
                <a:latin typeface="Archivo Black" panose="020B0A04020102020204" pitchFamily="34" charset="77"/>
              </a:rPr>
              <a:t>utn</a:t>
            </a:r>
            <a:r>
              <a:rPr lang="es-US" noProof="0" dirty="0">
                <a:solidFill>
                  <a:schemeClr val="bg1"/>
                </a:solidFill>
              </a:rPr>
              <a:t>_ec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D8A90882-D608-8E99-926E-D2E701CD61B9}"/>
              </a:ext>
            </a:extLst>
          </p:cNvPr>
          <p:cNvSpPr txBox="1"/>
          <p:nvPr/>
        </p:nvSpPr>
        <p:spPr>
          <a:xfrm>
            <a:off x="7457034" y="6273230"/>
            <a:ext cx="17793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US" noProof="0" dirty="0">
                <a:solidFill>
                  <a:schemeClr val="bg1"/>
                </a:solidFill>
              </a:rPr>
              <a:t>@</a:t>
            </a:r>
            <a:r>
              <a:rPr lang="es-US" b="1" noProof="0" dirty="0">
                <a:solidFill>
                  <a:schemeClr val="bg1"/>
                </a:solidFill>
                <a:effectLst/>
                <a:latin typeface="Archivo Black" panose="020B0A04020102020204" pitchFamily="34" charset="77"/>
              </a:rPr>
              <a:t>utn</a:t>
            </a:r>
            <a:r>
              <a:rPr lang="es-US" noProof="0" dirty="0">
                <a:solidFill>
                  <a:schemeClr val="bg1"/>
                </a:solidFill>
              </a:rPr>
              <a:t>ibarra.ec</a:t>
            </a:r>
          </a:p>
        </p:txBody>
      </p:sp>
      <p:pic>
        <p:nvPicPr>
          <p:cNvPr id="13" name="Imagen 12">
            <a:extLst>
              <a:ext uri="{FF2B5EF4-FFF2-40B4-BE49-F238E27FC236}">
                <a16:creationId xmlns:a16="http://schemas.microsoft.com/office/drawing/2014/main" id="{97BB2AA1-1E8E-6674-70D4-02CB49382E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61968" y="6359648"/>
            <a:ext cx="227292" cy="227292"/>
          </a:xfrm>
          <a:prstGeom prst="rect">
            <a:avLst/>
          </a:prstGeom>
        </p:spPr>
      </p:pic>
      <p:pic>
        <p:nvPicPr>
          <p:cNvPr id="14" name="Imagen 13">
            <a:extLst>
              <a:ext uri="{FF2B5EF4-FFF2-40B4-BE49-F238E27FC236}">
                <a16:creationId xmlns:a16="http://schemas.microsoft.com/office/drawing/2014/main" id="{700815FC-54A4-D4DE-3E7C-AB697D978BC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18248" y="6370697"/>
            <a:ext cx="216243" cy="216243"/>
          </a:xfrm>
          <a:prstGeom prst="rect">
            <a:avLst/>
          </a:prstGeom>
        </p:spPr>
      </p:pic>
      <p:pic>
        <p:nvPicPr>
          <p:cNvPr id="16" name="Imagen 15">
            <a:extLst>
              <a:ext uri="{FF2B5EF4-FFF2-40B4-BE49-F238E27FC236}">
                <a16:creationId xmlns:a16="http://schemas.microsoft.com/office/drawing/2014/main" id="{A95DAE34-7B73-4A38-0F0C-D06891D54C6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50767" y="5928401"/>
            <a:ext cx="2827669" cy="825528"/>
          </a:xfrm>
          <a:prstGeom prst="rect">
            <a:avLst/>
          </a:prstGeom>
        </p:spPr>
      </p:pic>
      <p:sp>
        <p:nvSpPr>
          <p:cNvPr id="2" name="Subtítulo 2">
            <a:extLst>
              <a:ext uri="{FF2B5EF4-FFF2-40B4-BE49-F238E27FC236}">
                <a16:creationId xmlns:a16="http://schemas.microsoft.com/office/drawing/2014/main" id="{0DE56E5A-449E-25FD-F097-D7ADCB8DE7C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434638" y="2403254"/>
            <a:ext cx="9144000" cy="2487314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 algn="ctr">
              <a:buNone/>
            </a:pPr>
            <a:r>
              <a:rPr lang="es-US" sz="2400" b="1" i="1" noProof="0" dirty="0">
                <a:solidFill>
                  <a:schemeClr val="tx2"/>
                </a:solidFill>
                <a:latin typeface="+mj-lt"/>
                <a:cs typeface="Segoe UI Semibold" panose="020B0702040204020203" pitchFamily="34" charset="0"/>
              </a:rPr>
              <a:t>Alder Stalin Navarrete Tipas</a:t>
            </a:r>
          </a:p>
          <a:p>
            <a:pPr marL="0" indent="0" algn="ctr">
              <a:buNone/>
            </a:pPr>
            <a:r>
              <a:rPr lang="es-US" sz="2400" i="1" noProof="0" dirty="0">
                <a:solidFill>
                  <a:schemeClr val="tx2"/>
                </a:solidFill>
                <a:latin typeface="+mj-lt"/>
                <a:cs typeface="Segoe UI Semibold" panose="020B0702040204020203" pitchFamily="34" charset="0"/>
              </a:rPr>
              <a:t>asnavarretetet@utn.edu.ec</a:t>
            </a:r>
          </a:p>
          <a:p>
            <a:endParaRPr lang="es-US" b="1" noProof="0" dirty="0">
              <a:solidFill>
                <a:schemeClr val="tx2"/>
              </a:solidFill>
              <a:latin typeface="+mj-lt"/>
              <a:cs typeface="Segoe UI Semibold"/>
            </a:endParaRPr>
          </a:p>
          <a:p>
            <a:pPr marL="0" indent="0" algn="ctr">
              <a:buNone/>
            </a:pPr>
            <a:r>
              <a:rPr lang="es-US" sz="2400" b="1" i="1" noProof="0" dirty="0">
                <a:solidFill>
                  <a:schemeClr val="tx2"/>
                </a:solidFill>
                <a:latin typeface="+mj-lt"/>
                <a:cs typeface="Segoe UI Semibold"/>
              </a:rPr>
              <a:t>DIRECTOR</a:t>
            </a:r>
            <a:r>
              <a:rPr lang="es-US" b="1" i="1" noProof="0" dirty="0">
                <a:solidFill>
                  <a:schemeClr val="tx2"/>
                </a:solidFill>
                <a:latin typeface="+mj-lt"/>
                <a:cs typeface="Segoe UI Semibold"/>
              </a:rPr>
              <a:t>: </a:t>
            </a:r>
            <a:r>
              <a:rPr lang="it-IT" b="1" i="1" noProof="0" dirty="0">
                <a:solidFill>
                  <a:schemeClr val="tx2"/>
                </a:solidFill>
                <a:latin typeface="+mj-lt"/>
                <a:cs typeface="Segoe UI Semibold"/>
              </a:rPr>
              <a:t>Ing. Jaime Roberto Michilena Calderón, Msc</a:t>
            </a:r>
            <a:endParaRPr lang="es-US" noProof="0" dirty="0"/>
          </a:p>
        </p:txBody>
      </p:sp>
    </p:spTree>
    <p:extLst>
      <p:ext uri="{BB962C8B-B14F-4D97-AF65-F5344CB8AC3E}">
        <p14:creationId xmlns:p14="http://schemas.microsoft.com/office/powerpoint/2010/main" val="8134003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292864" y="77743"/>
            <a:ext cx="9156738" cy="666155"/>
          </a:xfrm>
        </p:spPr>
        <p:txBody>
          <a:bodyPr>
            <a:normAutofit/>
          </a:bodyPr>
          <a:lstStyle/>
          <a:p>
            <a:r>
              <a:rPr lang="es-US" sz="3600" noProof="0" dirty="0">
                <a:solidFill>
                  <a:schemeClr val="accent1">
                    <a:lumMod val="50000"/>
                  </a:schemeClr>
                </a:solidFill>
                <a:latin typeface="Agency FB" panose="020B0503020202020204" pitchFamily="34" charset="0"/>
              </a:rPr>
              <a:t>Agenda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3719263C-FC6F-FBF7-CE8C-6F31702BE5C5}"/>
              </a:ext>
            </a:extLst>
          </p:cNvPr>
          <p:cNvSpPr/>
          <p:nvPr/>
        </p:nvSpPr>
        <p:spPr>
          <a:xfrm>
            <a:off x="5526157" y="6092687"/>
            <a:ext cx="6665843" cy="765313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US" noProof="0" dirty="0"/>
          </a:p>
        </p:txBody>
      </p:sp>
      <p:sp>
        <p:nvSpPr>
          <p:cNvPr id="11" name="Recortar rectángulo de una esquina 9">
            <a:extLst>
              <a:ext uri="{FF2B5EF4-FFF2-40B4-BE49-F238E27FC236}">
                <a16:creationId xmlns:a16="http://schemas.microsoft.com/office/drawing/2014/main" id="{A868E25E-FDE1-FA34-C3CB-9ED2FB3B847E}"/>
              </a:ext>
            </a:extLst>
          </p:cNvPr>
          <p:cNvSpPr/>
          <p:nvPr/>
        </p:nvSpPr>
        <p:spPr>
          <a:xfrm>
            <a:off x="-9939" y="5814391"/>
            <a:ext cx="5903843" cy="1053548"/>
          </a:xfrm>
          <a:prstGeom prst="snip1Rect">
            <a:avLst>
              <a:gd name="adj" fmla="val 50000"/>
            </a:avLst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US" noProof="0" dirty="0"/>
          </a:p>
        </p:txBody>
      </p:sp>
      <p:pic>
        <p:nvPicPr>
          <p:cNvPr id="12" name="Imagen 11">
            <a:extLst>
              <a:ext uri="{FF2B5EF4-FFF2-40B4-BE49-F238E27FC236}">
                <a16:creationId xmlns:a16="http://schemas.microsoft.com/office/drawing/2014/main" id="{83C6E739-9A58-39F6-B2DB-98EDA65D6F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0767" y="5928401"/>
            <a:ext cx="2827669" cy="825528"/>
          </a:xfrm>
          <a:prstGeom prst="rect">
            <a:avLst/>
          </a:prstGeom>
        </p:spPr>
      </p:pic>
      <p:pic>
        <p:nvPicPr>
          <p:cNvPr id="14" name="Imagen 13">
            <a:extLst>
              <a:ext uri="{FF2B5EF4-FFF2-40B4-BE49-F238E27FC236}">
                <a16:creationId xmlns:a16="http://schemas.microsoft.com/office/drawing/2014/main" id="{02FE3ADD-A35F-2BAD-6F90-1CD5FC9D7C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61751" y="5963285"/>
            <a:ext cx="3962401" cy="1024115"/>
          </a:xfrm>
          <a:prstGeom prst="rect">
            <a:avLst/>
          </a:prstGeom>
        </p:spPr>
      </p:pic>
      <p:sp>
        <p:nvSpPr>
          <p:cNvPr id="3" name="Rectangle: Rounded Corners 1">
            <a:extLst>
              <a:ext uri="{FF2B5EF4-FFF2-40B4-BE49-F238E27FC236}">
                <a16:creationId xmlns:a16="http://schemas.microsoft.com/office/drawing/2014/main" id="{47A73CA9-A370-4C52-CB82-417FC4817127}"/>
              </a:ext>
            </a:extLst>
          </p:cNvPr>
          <p:cNvSpPr/>
          <p:nvPr/>
        </p:nvSpPr>
        <p:spPr>
          <a:xfrm>
            <a:off x="6096000" y="590915"/>
            <a:ext cx="457200" cy="4761772"/>
          </a:xfrm>
          <a:prstGeom prst="roundRect">
            <a:avLst>
              <a:gd name="adj" fmla="val 50000"/>
            </a:avLst>
          </a:pr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US" noProof="0" dirty="0"/>
          </a:p>
        </p:txBody>
      </p:sp>
      <p:sp>
        <p:nvSpPr>
          <p:cNvPr id="5" name="Rectangle: Rounded Corners 2">
            <a:extLst>
              <a:ext uri="{FF2B5EF4-FFF2-40B4-BE49-F238E27FC236}">
                <a16:creationId xmlns:a16="http://schemas.microsoft.com/office/drawing/2014/main" id="{C6CFBED4-996F-57F4-3A6A-6109C7545806}"/>
              </a:ext>
            </a:extLst>
          </p:cNvPr>
          <p:cNvSpPr/>
          <p:nvPr/>
        </p:nvSpPr>
        <p:spPr>
          <a:xfrm>
            <a:off x="6096000" y="590914"/>
            <a:ext cx="457200" cy="914400"/>
          </a:xfrm>
          <a:prstGeom prst="roundRect">
            <a:avLst>
              <a:gd name="adj" fmla="val 50000"/>
            </a:avLst>
          </a:prstGeom>
          <a:solidFill>
            <a:srgbClr val="C00000">
              <a:alpha val="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US" noProof="0" dirty="0"/>
          </a:p>
        </p:txBody>
      </p:sp>
      <p:sp>
        <p:nvSpPr>
          <p:cNvPr id="7" name="TextBox 4">
            <a:extLst>
              <a:ext uri="{FF2B5EF4-FFF2-40B4-BE49-F238E27FC236}">
                <a16:creationId xmlns:a16="http://schemas.microsoft.com/office/drawing/2014/main" id="{49422763-E983-0DC0-D5BE-DE5DA7D660BC}"/>
              </a:ext>
            </a:extLst>
          </p:cNvPr>
          <p:cNvSpPr txBox="1"/>
          <p:nvPr/>
        </p:nvSpPr>
        <p:spPr>
          <a:xfrm>
            <a:off x="6709849" y="786504"/>
            <a:ext cx="429583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US" sz="2800" b="1" noProof="0" dirty="0">
                <a:latin typeface="Amasis MT Pro Black" panose="02040A04050005020304" pitchFamily="18" charset="0"/>
                <a:cs typeface="Aharoni" panose="02010803020104030203" pitchFamily="2" charset="-79"/>
              </a:rPr>
              <a:t>Problema</a:t>
            </a:r>
          </a:p>
        </p:txBody>
      </p:sp>
      <p:sp>
        <p:nvSpPr>
          <p:cNvPr id="9" name="TextBox 5">
            <a:hlinkClick r:id="rId4" action="ppaction://hlinksldjump"/>
            <a:extLst>
              <a:ext uri="{FF2B5EF4-FFF2-40B4-BE49-F238E27FC236}">
                <a16:creationId xmlns:a16="http://schemas.microsoft.com/office/drawing/2014/main" id="{61E4A215-96C6-3EE8-89CB-ED322A36BDC0}"/>
              </a:ext>
            </a:extLst>
          </p:cNvPr>
          <p:cNvSpPr txBox="1"/>
          <p:nvPr/>
        </p:nvSpPr>
        <p:spPr>
          <a:xfrm>
            <a:off x="6158529" y="848059"/>
            <a:ext cx="332142" cy="40011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s-US" sz="2000" b="1" u="sng" noProof="0" dirty="0">
                <a:solidFill>
                  <a:schemeClr val="bg1"/>
                </a:solidFill>
                <a:latin typeface="Stencil" panose="040409050D0802020404" pitchFamily="82" charset="0"/>
                <a:cs typeface="Aldhabi" panose="020B0604020202020204" pitchFamily="2" charset="-78"/>
              </a:rPr>
              <a:t>1</a:t>
            </a:r>
          </a:p>
        </p:txBody>
      </p:sp>
      <p:sp>
        <p:nvSpPr>
          <p:cNvPr id="10" name="TextBox 8">
            <a:extLst>
              <a:ext uri="{FF2B5EF4-FFF2-40B4-BE49-F238E27FC236}">
                <a16:creationId xmlns:a16="http://schemas.microsoft.com/office/drawing/2014/main" id="{42134E9B-33B6-C94B-1286-A3B3C6FAAD9B}"/>
              </a:ext>
            </a:extLst>
          </p:cNvPr>
          <p:cNvSpPr txBox="1"/>
          <p:nvPr/>
        </p:nvSpPr>
        <p:spPr>
          <a:xfrm>
            <a:off x="6709849" y="1700904"/>
            <a:ext cx="429583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US" sz="2800" b="1" noProof="0" dirty="0">
                <a:latin typeface="Amasis MT Pro Black" panose="02040A04050005020304" pitchFamily="18" charset="0"/>
                <a:cs typeface="Aharoni" panose="02010803020104030203" pitchFamily="2" charset="-79"/>
              </a:rPr>
              <a:t>Objetivos</a:t>
            </a:r>
          </a:p>
        </p:txBody>
      </p:sp>
      <p:sp>
        <p:nvSpPr>
          <p:cNvPr id="13" name="TextBox 6">
            <a:hlinkClick r:id="rId5" action="ppaction://hlinksldjump"/>
            <a:extLst>
              <a:ext uri="{FF2B5EF4-FFF2-40B4-BE49-F238E27FC236}">
                <a16:creationId xmlns:a16="http://schemas.microsoft.com/office/drawing/2014/main" id="{7B3E5ADF-A130-79AF-8078-F2FA81ECE66B}"/>
              </a:ext>
            </a:extLst>
          </p:cNvPr>
          <p:cNvSpPr txBox="1"/>
          <p:nvPr/>
        </p:nvSpPr>
        <p:spPr>
          <a:xfrm>
            <a:off x="6158529" y="1762459"/>
            <a:ext cx="332142" cy="40011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s-US" sz="2000" b="1" u="sng" noProof="0" dirty="0">
                <a:solidFill>
                  <a:schemeClr val="bg1"/>
                </a:solidFill>
                <a:latin typeface="Stencil" panose="040409050D0802020404" pitchFamily="82" charset="0"/>
                <a:cs typeface="Aldhabi" panose="020B0604020202020204" pitchFamily="2" charset="-78"/>
              </a:rPr>
              <a:t>2</a:t>
            </a:r>
          </a:p>
        </p:txBody>
      </p:sp>
      <p:sp>
        <p:nvSpPr>
          <p:cNvPr id="15" name="TextBox 7">
            <a:extLst>
              <a:ext uri="{FF2B5EF4-FFF2-40B4-BE49-F238E27FC236}">
                <a16:creationId xmlns:a16="http://schemas.microsoft.com/office/drawing/2014/main" id="{572C093A-9DC4-A98D-A1DE-057ECE912111}"/>
              </a:ext>
            </a:extLst>
          </p:cNvPr>
          <p:cNvSpPr txBox="1"/>
          <p:nvPr/>
        </p:nvSpPr>
        <p:spPr>
          <a:xfrm>
            <a:off x="6709849" y="2615304"/>
            <a:ext cx="429583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US" sz="2800" b="1" noProof="0" dirty="0">
                <a:latin typeface="Amasis MT Pro Black" panose="02040A04050005020304" pitchFamily="18" charset="0"/>
                <a:cs typeface="Aharoni" panose="02010803020104030203" pitchFamily="2" charset="-79"/>
              </a:rPr>
              <a:t>Alcance</a:t>
            </a:r>
          </a:p>
        </p:txBody>
      </p:sp>
      <p:sp>
        <p:nvSpPr>
          <p:cNvPr id="16" name="TextBox 9">
            <a:hlinkClick r:id="rId6" action="ppaction://hlinksldjump"/>
            <a:extLst>
              <a:ext uri="{FF2B5EF4-FFF2-40B4-BE49-F238E27FC236}">
                <a16:creationId xmlns:a16="http://schemas.microsoft.com/office/drawing/2014/main" id="{DE319A22-8579-E892-9147-B5F946B1FEA3}"/>
              </a:ext>
            </a:extLst>
          </p:cNvPr>
          <p:cNvSpPr txBox="1"/>
          <p:nvPr/>
        </p:nvSpPr>
        <p:spPr>
          <a:xfrm>
            <a:off x="6158529" y="2676859"/>
            <a:ext cx="332142" cy="40011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s-US" sz="2000" b="1" u="sng" noProof="0" dirty="0">
                <a:solidFill>
                  <a:schemeClr val="bg1"/>
                </a:solidFill>
                <a:latin typeface="Stencil" panose="040409050D0802020404" pitchFamily="82" charset="0"/>
                <a:cs typeface="Aldhabi" panose="020B0604020202020204" pitchFamily="2" charset="-78"/>
              </a:rPr>
              <a:t>3</a:t>
            </a:r>
          </a:p>
        </p:txBody>
      </p:sp>
      <p:sp>
        <p:nvSpPr>
          <p:cNvPr id="22" name="TextBox 19">
            <a:extLst>
              <a:ext uri="{FF2B5EF4-FFF2-40B4-BE49-F238E27FC236}">
                <a16:creationId xmlns:a16="http://schemas.microsoft.com/office/drawing/2014/main" id="{BD6ADBEE-3CBE-EF90-BF4C-A39B4B131048}"/>
              </a:ext>
            </a:extLst>
          </p:cNvPr>
          <p:cNvSpPr txBox="1"/>
          <p:nvPr/>
        </p:nvSpPr>
        <p:spPr>
          <a:xfrm>
            <a:off x="457200" y="2828835"/>
            <a:ext cx="4608954" cy="1200329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r>
              <a:rPr lang="es-US" sz="7200" b="1" noProof="0" dirty="0">
                <a:ln/>
                <a:solidFill>
                  <a:srgbClr val="C00000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Contenido</a:t>
            </a:r>
          </a:p>
        </p:txBody>
      </p:sp>
      <p:sp>
        <p:nvSpPr>
          <p:cNvPr id="6" name="TextBox 9">
            <a:extLst>
              <a:ext uri="{FF2B5EF4-FFF2-40B4-BE49-F238E27FC236}">
                <a16:creationId xmlns:a16="http://schemas.microsoft.com/office/drawing/2014/main" id="{79806DDF-639E-ABC3-14F0-14C6998490E8}"/>
              </a:ext>
            </a:extLst>
          </p:cNvPr>
          <p:cNvSpPr txBox="1"/>
          <p:nvPr/>
        </p:nvSpPr>
        <p:spPr>
          <a:xfrm>
            <a:off x="6158528" y="3591259"/>
            <a:ext cx="332143" cy="40011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s-US" sz="2000" b="1" noProof="0" dirty="0">
                <a:solidFill>
                  <a:schemeClr val="bg1"/>
                </a:solidFill>
                <a:latin typeface="Stencil" panose="040409050D0802020404" pitchFamily="82" charset="0"/>
                <a:cs typeface="Aldhabi" panose="020B0604020202020204" pitchFamily="2" charset="-78"/>
                <a:hlinkClick r:id="rId7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4</a:t>
            </a:r>
            <a:endParaRPr lang="es-US" sz="2000" b="1" noProof="0" dirty="0">
              <a:solidFill>
                <a:schemeClr val="bg1"/>
              </a:solidFill>
              <a:latin typeface="Stencil" panose="040409050D0802020404" pitchFamily="82" charset="0"/>
              <a:cs typeface="Aldhabi" panose="020B0604020202020204" pitchFamily="2" charset="-78"/>
            </a:endParaRPr>
          </a:p>
        </p:txBody>
      </p:sp>
      <p:sp>
        <p:nvSpPr>
          <p:cNvPr id="18" name="TextBox 9">
            <a:hlinkClick r:id="rId8" action="ppaction://hlinksldjump"/>
            <a:extLst>
              <a:ext uri="{FF2B5EF4-FFF2-40B4-BE49-F238E27FC236}">
                <a16:creationId xmlns:a16="http://schemas.microsoft.com/office/drawing/2014/main" id="{AE981268-089D-9C16-BEAF-D499999F02D8}"/>
              </a:ext>
            </a:extLst>
          </p:cNvPr>
          <p:cNvSpPr txBox="1"/>
          <p:nvPr/>
        </p:nvSpPr>
        <p:spPr>
          <a:xfrm>
            <a:off x="6158528" y="4505659"/>
            <a:ext cx="332143" cy="40011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s-US" sz="2000" b="1" noProof="0" dirty="0">
                <a:solidFill>
                  <a:schemeClr val="bg1"/>
                </a:solidFill>
                <a:latin typeface="Stencil" panose="040409050D0802020404" pitchFamily="82" charset="0"/>
                <a:cs typeface="Aldhabi" panose="020B0604020202020204" pitchFamily="2" charset="-78"/>
              </a:rPr>
              <a:t>5</a:t>
            </a:r>
          </a:p>
        </p:txBody>
      </p:sp>
      <p:sp>
        <p:nvSpPr>
          <p:cNvPr id="17" name="TextBox 7">
            <a:extLst>
              <a:ext uri="{FF2B5EF4-FFF2-40B4-BE49-F238E27FC236}">
                <a16:creationId xmlns:a16="http://schemas.microsoft.com/office/drawing/2014/main" id="{B98D71D3-7FA0-C400-CF1D-06F0D07427A6}"/>
              </a:ext>
            </a:extLst>
          </p:cNvPr>
          <p:cNvSpPr txBox="1"/>
          <p:nvPr/>
        </p:nvSpPr>
        <p:spPr>
          <a:xfrm>
            <a:off x="6728313" y="3529704"/>
            <a:ext cx="429583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US" sz="2800" b="1" dirty="0">
                <a:latin typeface="Amasis MT Pro Black" panose="02040A04050005020304" pitchFamily="18" charset="0"/>
                <a:cs typeface="Aharoni" panose="02010803020104030203" pitchFamily="2" charset="-79"/>
              </a:rPr>
              <a:t>D</a:t>
            </a:r>
            <a:r>
              <a:rPr lang="es-US" sz="2800" b="1" noProof="0" dirty="0" err="1">
                <a:latin typeface="Amasis MT Pro Black" panose="02040A04050005020304" pitchFamily="18" charset="0"/>
                <a:cs typeface="Aharoni" panose="02010803020104030203" pitchFamily="2" charset="-79"/>
              </a:rPr>
              <a:t>esarrollo</a:t>
            </a:r>
            <a:endParaRPr lang="es-US" sz="2800" b="1" noProof="0" dirty="0">
              <a:latin typeface="Amasis MT Pro Black" panose="02040A04050005020304" pitchFamily="18" charset="0"/>
              <a:cs typeface="Aharoni" panose="02010803020104030203" pitchFamily="2" charset="-79"/>
            </a:endParaRPr>
          </a:p>
        </p:txBody>
      </p:sp>
      <p:sp>
        <p:nvSpPr>
          <p:cNvPr id="20" name="TextBox 7">
            <a:extLst>
              <a:ext uri="{FF2B5EF4-FFF2-40B4-BE49-F238E27FC236}">
                <a16:creationId xmlns:a16="http://schemas.microsoft.com/office/drawing/2014/main" id="{5A340221-1AC4-F20F-E397-08B2E60CC47A}"/>
              </a:ext>
            </a:extLst>
          </p:cNvPr>
          <p:cNvSpPr txBox="1"/>
          <p:nvPr/>
        </p:nvSpPr>
        <p:spPr>
          <a:xfrm>
            <a:off x="6728313" y="4444104"/>
            <a:ext cx="427737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US" sz="2800" b="1" noProof="0" dirty="0">
                <a:latin typeface="Amasis MT Pro Black" panose="02040A04050005020304" pitchFamily="18" charset="0"/>
                <a:cs typeface="Aharoni" panose="02010803020104030203" pitchFamily="2" charset="-79"/>
              </a:rPr>
              <a:t>Evidencias</a:t>
            </a:r>
          </a:p>
        </p:txBody>
      </p:sp>
    </p:spTree>
    <p:extLst>
      <p:ext uri="{BB962C8B-B14F-4D97-AF65-F5344CB8AC3E}">
        <p14:creationId xmlns:p14="http://schemas.microsoft.com/office/powerpoint/2010/main" val="26020934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lecha: pentágono 11">
            <a:extLst>
              <a:ext uri="{FF2B5EF4-FFF2-40B4-BE49-F238E27FC236}">
                <a16:creationId xmlns:a16="http://schemas.microsoft.com/office/drawing/2014/main" id="{6BBDBC9C-2B1E-3DC1-F6B1-198B502951BE}"/>
              </a:ext>
            </a:extLst>
          </p:cNvPr>
          <p:cNvSpPr/>
          <p:nvPr/>
        </p:nvSpPr>
        <p:spPr>
          <a:xfrm>
            <a:off x="283348" y="104071"/>
            <a:ext cx="3374252" cy="1053548"/>
          </a:xfrm>
          <a:prstGeom prst="homePlate">
            <a:avLst/>
          </a:prstGeom>
          <a:solidFill>
            <a:srgbClr val="C00000"/>
          </a:solidFill>
          <a:ln/>
          <a:scene3d>
            <a:camera prst="orthographicFront"/>
            <a:lightRig rig="threePt" dir="t"/>
          </a:scene3d>
          <a:sp3d>
            <a:bevelT w="165100" prst="coolSlant"/>
          </a:sp3d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US" sz="3600" b="1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PROBLEMA</a:t>
            </a:r>
            <a:endParaRPr lang="es-US" sz="3600" noProof="0" dirty="0"/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9E6EFFA5-44F9-7A93-E8A3-D32783A11264}"/>
              </a:ext>
            </a:extLst>
          </p:cNvPr>
          <p:cNvSpPr/>
          <p:nvPr/>
        </p:nvSpPr>
        <p:spPr>
          <a:xfrm>
            <a:off x="5526157" y="6092687"/>
            <a:ext cx="6665843" cy="765313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US" noProof="0" dirty="0"/>
          </a:p>
        </p:txBody>
      </p:sp>
      <p:sp>
        <p:nvSpPr>
          <p:cNvPr id="11" name="Recortar rectángulo de una esquina 9">
            <a:extLst>
              <a:ext uri="{FF2B5EF4-FFF2-40B4-BE49-F238E27FC236}">
                <a16:creationId xmlns:a16="http://schemas.microsoft.com/office/drawing/2014/main" id="{A6DD7F8F-B89B-96DB-330B-6CF66640B0A7}"/>
              </a:ext>
            </a:extLst>
          </p:cNvPr>
          <p:cNvSpPr/>
          <p:nvPr/>
        </p:nvSpPr>
        <p:spPr>
          <a:xfrm>
            <a:off x="-9939" y="5814391"/>
            <a:ext cx="5903843" cy="1053548"/>
          </a:xfrm>
          <a:prstGeom prst="snip1Rect">
            <a:avLst>
              <a:gd name="adj" fmla="val 50000"/>
            </a:avLst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US" noProof="0" dirty="0"/>
          </a:p>
        </p:txBody>
      </p:sp>
      <p:pic>
        <p:nvPicPr>
          <p:cNvPr id="14" name="Imagen 13">
            <a:extLst>
              <a:ext uri="{FF2B5EF4-FFF2-40B4-BE49-F238E27FC236}">
                <a16:creationId xmlns:a16="http://schemas.microsoft.com/office/drawing/2014/main" id="{DD1253FE-EAC8-D599-9852-25FF03C073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0767" y="5928401"/>
            <a:ext cx="2827669" cy="825528"/>
          </a:xfrm>
          <a:prstGeom prst="rect">
            <a:avLst/>
          </a:prstGeom>
        </p:spPr>
      </p:pic>
      <p:pic>
        <p:nvPicPr>
          <p:cNvPr id="15" name="Imagen 14">
            <a:extLst>
              <a:ext uri="{FF2B5EF4-FFF2-40B4-BE49-F238E27FC236}">
                <a16:creationId xmlns:a16="http://schemas.microsoft.com/office/drawing/2014/main" id="{8B8AC2B7-EE79-04A1-B024-92A59AA59A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61751" y="5963285"/>
            <a:ext cx="3962401" cy="1024115"/>
          </a:xfrm>
          <a:prstGeom prst="rect">
            <a:avLst/>
          </a:prstGeom>
        </p:spPr>
      </p:pic>
      <p:pic>
        <p:nvPicPr>
          <p:cNvPr id="10" name="Picture 634">
            <a:extLst>
              <a:ext uri="{FF2B5EF4-FFF2-40B4-BE49-F238E27FC236}">
                <a16:creationId xmlns:a16="http://schemas.microsoft.com/office/drawing/2014/main" id="{5EDD3779-71EC-4243-AE12-E3B8E784565B}"/>
              </a:ext>
            </a:extLst>
          </p:cNvPr>
          <p:cNvPicPr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0800" y="1528244"/>
            <a:ext cx="4655400" cy="4207099"/>
          </a:xfrm>
          <a:prstGeom prst="rect">
            <a:avLst/>
          </a:prstGeom>
        </p:spPr>
      </p:pic>
      <p:sp>
        <p:nvSpPr>
          <p:cNvPr id="13" name="CuadroTexto 12">
            <a:extLst>
              <a:ext uri="{FF2B5EF4-FFF2-40B4-BE49-F238E27FC236}">
                <a16:creationId xmlns:a16="http://schemas.microsoft.com/office/drawing/2014/main" id="{9E446258-995A-4C44-963C-22B536B5BF1D}"/>
              </a:ext>
            </a:extLst>
          </p:cNvPr>
          <p:cNvSpPr txBox="1"/>
          <p:nvPr/>
        </p:nvSpPr>
        <p:spPr>
          <a:xfrm>
            <a:off x="209550" y="1158912"/>
            <a:ext cx="610479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s-EC" sz="1800" b="1" dirty="0">
                <a:solidFill>
                  <a:srgbClr val="0E2E2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El problema: vigilancia rural sin respuesta inmediata</a:t>
            </a:r>
            <a:endParaRPr lang="es-EC" sz="1800" dirty="0"/>
          </a:p>
        </p:txBody>
      </p:sp>
      <p:sp>
        <p:nvSpPr>
          <p:cNvPr id="16" name="Shape 5">
            <a:extLst>
              <a:ext uri="{FF2B5EF4-FFF2-40B4-BE49-F238E27FC236}">
                <a16:creationId xmlns:a16="http://schemas.microsoft.com/office/drawing/2014/main" id="{5F460C69-475B-46FB-80C9-0E10126D0B13}"/>
              </a:ext>
            </a:extLst>
          </p:cNvPr>
          <p:cNvSpPr/>
          <p:nvPr/>
        </p:nvSpPr>
        <p:spPr>
          <a:xfrm>
            <a:off x="283348" y="1528244"/>
            <a:ext cx="2788920" cy="1325880"/>
          </a:xfrm>
          <a:prstGeom prst="roundRect">
            <a:avLst>
              <a:gd name="adj" fmla="val 5517"/>
            </a:avLst>
          </a:prstGeom>
          <a:solidFill>
            <a:srgbClr val="FBF8EE"/>
          </a:solidFill>
          <a:ln w="12700">
            <a:solidFill>
              <a:srgbClr val="E3EAE5"/>
            </a:solidFill>
            <a:prstDash val="solid"/>
          </a:ln>
        </p:spPr>
      </p:sp>
      <p:sp>
        <p:nvSpPr>
          <p:cNvPr id="17" name="Text 6">
            <a:extLst>
              <a:ext uri="{FF2B5EF4-FFF2-40B4-BE49-F238E27FC236}">
                <a16:creationId xmlns:a16="http://schemas.microsoft.com/office/drawing/2014/main" id="{8D43633A-EEA2-4FEE-AABF-06C23E1428FD}"/>
              </a:ext>
            </a:extLst>
          </p:cNvPr>
          <p:cNvSpPr/>
          <p:nvPr/>
        </p:nvSpPr>
        <p:spPr>
          <a:xfrm>
            <a:off x="530236" y="1765988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C84A4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24/7</a:t>
            </a:r>
            <a:endParaRPr lang="en-US" sz="2700" dirty="0"/>
          </a:p>
        </p:txBody>
      </p:sp>
      <p:sp>
        <p:nvSpPr>
          <p:cNvPr id="18" name="Text 7">
            <a:extLst>
              <a:ext uri="{FF2B5EF4-FFF2-40B4-BE49-F238E27FC236}">
                <a16:creationId xmlns:a16="http://schemas.microsoft.com/office/drawing/2014/main" id="{11CE6568-24E6-41A0-B763-86AA6EA6E618}"/>
              </a:ext>
            </a:extLst>
          </p:cNvPr>
          <p:cNvSpPr/>
          <p:nvPr/>
        </p:nvSpPr>
        <p:spPr>
          <a:xfrm>
            <a:off x="530236" y="222318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6170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necesidad de vigilancia continua</a:t>
            </a:r>
            <a:endParaRPr lang="en-US" sz="1000" dirty="0"/>
          </a:p>
        </p:txBody>
      </p:sp>
      <p:sp>
        <p:nvSpPr>
          <p:cNvPr id="19" name="Shape 8">
            <a:extLst>
              <a:ext uri="{FF2B5EF4-FFF2-40B4-BE49-F238E27FC236}">
                <a16:creationId xmlns:a16="http://schemas.microsoft.com/office/drawing/2014/main" id="{77DDDF68-51AA-4595-B479-628FFFD8C878}"/>
              </a:ext>
            </a:extLst>
          </p:cNvPr>
          <p:cNvSpPr/>
          <p:nvPr/>
        </p:nvSpPr>
        <p:spPr>
          <a:xfrm>
            <a:off x="3282580" y="1528244"/>
            <a:ext cx="324612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E3EAE5"/>
            </a:solidFill>
            <a:prstDash val="solid"/>
          </a:ln>
        </p:spPr>
      </p:sp>
      <p:sp>
        <p:nvSpPr>
          <p:cNvPr id="20" name="Text 9">
            <a:extLst>
              <a:ext uri="{FF2B5EF4-FFF2-40B4-BE49-F238E27FC236}">
                <a16:creationId xmlns:a16="http://schemas.microsoft.com/office/drawing/2014/main" id="{9B3672F6-5112-4D4B-A372-F9C258F60088}"/>
              </a:ext>
            </a:extLst>
          </p:cNvPr>
          <p:cNvSpPr/>
          <p:nvPr/>
        </p:nvSpPr>
        <p:spPr>
          <a:xfrm>
            <a:off x="3529468" y="1765988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C84A4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horas/días</a:t>
            </a:r>
            <a:endParaRPr lang="en-US" sz="2700" dirty="0"/>
          </a:p>
        </p:txBody>
      </p:sp>
      <p:sp>
        <p:nvSpPr>
          <p:cNvPr id="21" name="Text 10">
            <a:extLst>
              <a:ext uri="{FF2B5EF4-FFF2-40B4-BE49-F238E27FC236}">
                <a16:creationId xmlns:a16="http://schemas.microsoft.com/office/drawing/2014/main" id="{7515ED78-CC5C-4D92-ABE2-94145666F2C4}"/>
              </a:ext>
            </a:extLst>
          </p:cNvPr>
          <p:cNvSpPr/>
          <p:nvPr/>
        </p:nvSpPr>
        <p:spPr>
          <a:xfrm>
            <a:off x="3529468" y="2223188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6170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respuesta tradicional</a:t>
            </a:r>
            <a:endParaRPr lang="en-US" sz="1000" dirty="0"/>
          </a:p>
        </p:txBody>
      </p:sp>
      <p:sp>
        <p:nvSpPr>
          <p:cNvPr id="22" name="Text 11">
            <a:extLst>
              <a:ext uri="{FF2B5EF4-FFF2-40B4-BE49-F238E27FC236}">
                <a16:creationId xmlns:a16="http://schemas.microsoft.com/office/drawing/2014/main" id="{5D72D9F6-0512-454F-BFD9-D05AF6964961}"/>
              </a:ext>
            </a:extLst>
          </p:cNvPr>
          <p:cNvSpPr/>
          <p:nvPr/>
        </p:nvSpPr>
        <p:spPr>
          <a:xfrm>
            <a:off x="310780" y="3174164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C84A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PROBLEMA CENTRAL</a:t>
            </a:r>
            <a:endParaRPr lang="en-US" sz="1000" dirty="0"/>
          </a:p>
        </p:txBody>
      </p:sp>
      <p:sp>
        <p:nvSpPr>
          <p:cNvPr id="23" name="Text 12">
            <a:extLst>
              <a:ext uri="{FF2B5EF4-FFF2-40B4-BE49-F238E27FC236}">
                <a16:creationId xmlns:a16="http://schemas.microsoft.com/office/drawing/2014/main" id="{726703A6-8747-4B13-B9F1-3907AAF18206}"/>
              </a:ext>
            </a:extLst>
          </p:cNvPr>
          <p:cNvSpPr/>
          <p:nvPr/>
        </p:nvSpPr>
        <p:spPr>
          <a:xfrm>
            <a:off x="310780" y="3466772"/>
            <a:ext cx="6126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0E2E2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Intrusiones no detectadas</a:t>
            </a:r>
            <a:endParaRPr lang="en-US" sz="2700" dirty="0"/>
          </a:p>
          <a:p>
            <a:pPr marL="0" indent="0">
              <a:buNone/>
            </a:pPr>
            <a:r>
              <a:rPr lang="en-US" sz="2700" b="1" dirty="0">
                <a:solidFill>
                  <a:srgbClr val="0E2E2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en vías agrícolas</a:t>
            </a:r>
            <a:endParaRPr lang="en-US" sz="2700" dirty="0"/>
          </a:p>
        </p:txBody>
      </p:sp>
      <p:sp>
        <p:nvSpPr>
          <p:cNvPr id="24" name="Shape 13">
            <a:extLst>
              <a:ext uri="{FF2B5EF4-FFF2-40B4-BE49-F238E27FC236}">
                <a16:creationId xmlns:a16="http://schemas.microsoft.com/office/drawing/2014/main" id="{02D1E782-EA04-4BCC-AC71-31A30F6B014B}"/>
              </a:ext>
            </a:extLst>
          </p:cNvPr>
          <p:cNvSpPr/>
          <p:nvPr/>
        </p:nvSpPr>
        <p:spPr>
          <a:xfrm>
            <a:off x="310780" y="4426892"/>
            <a:ext cx="2834640" cy="1170432"/>
          </a:xfrm>
          <a:prstGeom prst="roundRect">
            <a:avLst>
              <a:gd name="adj" fmla="val 6250"/>
            </a:avLst>
          </a:prstGeom>
          <a:solidFill>
            <a:srgbClr val="EEF4EE"/>
          </a:solidFill>
          <a:ln w="12700">
            <a:solidFill>
              <a:srgbClr val="E3EAE5"/>
            </a:solidFill>
            <a:prstDash val="solid"/>
          </a:ln>
        </p:spPr>
      </p:sp>
      <p:sp>
        <p:nvSpPr>
          <p:cNvPr id="25" name="Text 14">
            <a:extLst>
              <a:ext uri="{FF2B5EF4-FFF2-40B4-BE49-F238E27FC236}">
                <a16:creationId xmlns:a16="http://schemas.microsoft.com/office/drawing/2014/main" id="{79130D58-7323-4217-ACEA-CA3090075B6E}"/>
              </a:ext>
            </a:extLst>
          </p:cNvPr>
          <p:cNvSpPr/>
          <p:nvPr/>
        </p:nvSpPr>
        <p:spPr>
          <a:xfrm>
            <a:off x="475372" y="4591484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5F8F3D"/>
                </a:solidFill>
              </a:rPr>
              <a:t>CAUSAS</a:t>
            </a:r>
            <a:endParaRPr lang="en-US" sz="900" dirty="0"/>
          </a:p>
        </p:txBody>
      </p:sp>
      <p:sp>
        <p:nvSpPr>
          <p:cNvPr id="26" name="Text 15">
            <a:extLst>
              <a:ext uri="{FF2B5EF4-FFF2-40B4-BE49-F238E27FC236}">
                <a16:creationId xmlns:a16="http://schemas.microsoft.com/office/drawing/2014/main" id="{0065162F-B8AC-4CCA-8D72-8A740BC640E1}"/>
              </a:ext>
            </a:extLst>
          </p:cNvPr>
          <p:cNvSpPr/>
          <p:nvPr/>
        </p:nvSpPr>
        <p:spPr>
          <a:xfrm>
            <a:off x="475372" y="4865804"/>
            <a:ext cx="2423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14221B"/>
                </a:solidFill>
              </a:rPr>
              <a:t>• vigilancia esporádica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4221B"/>
                </a:solidFill>
              </a:rPr>
              <a:t>• sin bitácora confiable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4221B"/>
                </a:solidFill>
              </a:rPr>
              <a:t>• infraestructura limitada</a:t>
            </a:r>
            <a:endParaRPr lang="en-US" sz="1000" dirty="0"/>
          </a:p>
        </p:txBody>
      </p:sp>
      <p:sp>
        <p:nvSpPr>
          <p:cNvPr id="27" name="Shape 16">
            <a:extLst>
              <a:ext uri="{FF2B5EF4-FFF2-40B4-BE49-F238E27FC236}">
                <a16:creationId xmlns:a16="http://schemas.microsoft.com/office/drawing/2014/main" id="{4E30F709-980E-4483-ACF0-D18A8162EE66}"/>
              </a:ext>
            </a:extLst>
          </p:cNvPr>
          <p:cNvSpPr/>
          <p:nvPr/>
        </p:nvSpPr>
        <p:spPr>
          <a:xfrm>
            <a:off x="3465460" y="4426892"/>
            <a:ext cx="2834640" cy="1170432"/>
          </a:xfrm>
          <a:prstGeom prst="roundRect">
            <a:avLst>
              <a:gd name="adj" fmla="val 6250"/>
            </a:avLst>
          </a:prstGeom>
          <a:solidFill>
            <a:srgbClr val="FFF4F1"/>
          </a:solidFill>
          <a:ln w="12700">
            <a:solidFill>
              <a:srgbClr val="E3EAE5"/>
            </a:solidFill>
            <a:prstDash val="solid"/>
          </a:ln>
        </p:spPr>
      </p:sp>
      <p:sp>
        <p:nvSpPr>
          <p:cNvPr id="28" name="Text 17">
            <a:extLst>
              <a:ext uri="{FF2B5EF4-FFF2-40B4-BE49-F238E27FC236}">
                <a16:creationId xmlns:a16="http://schemas.microsoft.com/office/drawing/2014/main" id="{3A68FAE8-E11C-4715-B2EF-02CC7B38B90F}"/>
              </a:ext>
            </a:extLst>
          </p:cNvPr>
          <p:cNvSpPr/>
          <p:nvPr/>
        </p:nvSpPr>
        <p:spPr>
          <a:xfrm>
            <a:off x="3630052" y="4591484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C84A45"/>
                </a:solidFill>
              </a:rPr>
              <a:t>EFECTOS</a:t>
            </a:r>
            <a:endParaRPr lang="en-US" sz="900" dirty="0"/>
          </a:p>
        </p:txBody>
      </p:sp>
      <p:sp>
        <p:nvSpPr>
          <p:cNvPr id="29" name="Text 18">
            <a:extLst>
              <a:ext uri="{FF2B5EF4-FFF2-40B4-BE49-F238E27FC236}">
                <a16:creationId xmlns:a16="http://schemas.microsoft.com/office/drawing/2014/main" id="{F5C3FC71-2C7D-47AA-8797-8F19F4D48EBD}"/>
              </a:ext>
            </a:extLst>
          </p:cNvPr>
          <p:cNvSpPr/>
          <p:nvPr/>
        </p:nvSpPr>
        <p:spPr>
          <a:xfrm>
            <a:off x="3630052" y="4865804"/>
            <a:ext cx="2423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14221B"/>
                </a:solidFill>
              </a:rPr>
              <a:t>• robos / pérdidas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4221B"/>
                </a:solidFill>
              </a:rPr>
              <a:t>• baja capacidad de reacción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4221B"/>
                </a:solidFill>
              </a:rPr>
              <a:t>• vulnerabilidad nocturna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35620998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B6FA6E-68AE-200E-8028-AE6DF13645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lecha: pentágono 11">
            <a:extLst>
              <a:ext uri="{FF2B5EF4-FFF2-40B4-BE49-F238E27FC236}">
                <a16:creationId xmlns:a16="http://schemas.microsoft.com/office/drawing/2014/main" id="{D263B21D-0C20-CE55-228C-3071A875806E}"/>
              </a:ext>
            </a:extLst>
          </p:cNvPr>
          <p:cNvSpPr/>
          <p:nvPr/>
        </p:nvSpPr>
        <p:spPr>
          <a:xfrm>
            <a:off x="283348" y="104071"/>
            <a:ext cx="3374252" cy="1053548"/>
          </a:xfrm>
          <a:prstGeom prst="homePlate">
            <a:avLst/>
          </a:prstGeom>
          <a:solidFill>
            <a:srgbClr val="C00000"/>
          </a:solidFill>
          <a:ln/>
          <a:scene3d>
            <a:camera prst="orthographicFront"/>
            <a:lightRig rig="threePt" dir="t"/>
          </a:scene3d>
          <a:sp3d>
            <a:bevelT w="165100" prst="coolSlant"/>
          </a:sp3d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US" sz="3600" b="1" noProof="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OBJETIVOS</a:t>
            </a:r>
            <a:endParaRPr lang="es-US" sz="3600" b="1" noProof="0" dirty="0">
              <a:solidFill>
                <a:schemeClr val="bg1"/>
              </a:solidFill>
            </a:endParaRP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8AF607FD-7CF1-12CC-C5BC-A3BDAA5376AB}"/>
              </a:ext>
            </a:extLst>
          </p:cNvPr>
          <p:cNvSpPr/>
          <p:nvPr/>
        </p:nvSpPr>
        <p:spPr>
          <a:xfrm>
            <a:off x="5526157" y="6092687"/>
            <a:ext cx="6665843" cy="765313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US" noProof="0" dirty="0"/>
          </a:p>
        </p:txBody>
      </p:sp>
      <p:sp>
        <p:nvSpPr>
          <p:cNvPr id="11" name="Recortar rectángulo de una esquina 9">
            <a:extLst>
              <a:ext uri="{FF2B5EF4-FFF2-40B4-BE49-F238E27FC236}">
                <a16:creationId xmlns:a16="http://schemas.microsoft.com/office/drawing/2014/main" id="{64C55B74-D395-7B82-35AE-362BC8F2D591}"/>
              </a:ext>
            </a:extLst>
          </p:cNvPr>
          <p:cNvSpPr/>
          <p:nvPr/>
        </p:nvSpPr>
        <p:spPr>
          <a:xfrm>
            <a:off x="-9939" y="5814391"/>
            <a:ext cx="5903843" cy="1053548"/>
          </a:xfrm>
          <a:prstGeom prst="snip1Rect">
            <a:avLst>
              <a:gd name="adj" fmla="val 50000"/>
            </a:avLst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US" noProof="0" dirty="0"/>
          </a:p>
        </p:txBody>
      </p:sp>
      <p:pic>
        <p:nvPicPr>
          <p:cNvPr id="14" name="Imagen 13">
            <a:extLst>
              <a:ext uri="{FF2B5EF4-FFF2-40B4-BE49-F238E27FC236}">
                <a16:creationId xmlns:a16="http://schemas.microsoft.com/office/drawing/2014/main" id="{E61D3463-1624-4DCA-DCA9-6E8C68F8F1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0767" y="5928401"/>
            <a:ext cx="2827669" cy="825528"/>
          </a:xfrm>
          <a:prstGeom prst="rect">
            <a:avLst/>
          </a:prstGeom>
        </p:spPr>
      </p:pic>
      <p:pic>
        <p:nvPicPr>
          <p:cNvPr id="15" name="Imagen 14">
            <a:extLst>
              <a:ext uri="{FF2B5EF4-FFF2-40B4-BE49-F238E27FC236}">
                <a16:creationId xmlns:a16="http://schemas.microsoft.com/office/drawing/2014/main" id="{6039E9CF-2623-B21C-0A1C-3707FC1618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61751" y="5963285"/>
            <a:ext cx="3962401" cy="1024115"/>
          </a:xfrm>
          <a:prstGeom prst="rect">
            <a:avLst/>
          </a:prstGeom>
        </p:spPr>
      </p:pic>
      <p:sp>
        <p:nvSpPr>
          <p:cNvPr id="8" name="Text 3">
            <a:extLst>
              <a:ext uri="{FF2B5EF4-FFF2-40B4-BE49-F238E27FC236}">
                <a16:creationId xmlns:a16="http://schemas.microsoft.com/office/drawing/2014/main" id="{479647BA-0ECE-4CF9-A64D-0F8007AA09D6}"/>
              </a:ext>
            </a:extLst>
          </p:cNvPr>
          <p:cNvSpPr/>
          <p:nvPr/>
        </p:nvSpPr>
        <p:spPr>
          <a:xfrm>
            <a:off x="548639" y="1353312"/>
            <a:ext cx="194997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100" dirty="0"/>
              <a:t>OBJETIVO GENERAL</a:t>
            </a:r>
            <a:endParaRPr lang="en-US" sz="1600" dirty="0"/>
          </a:p>
        </p:txBody>
      </p:sp>
      <p:sp>
        <p:nvSpPr>
          <p:cNvPr id="10" name="Text 4">
            <a:extLst>
              <a:ext uri="{FF2B5EF4-FFF2-40B4-BE49-F238E27FC236}">
                <a16:creationId xmlns:a16="http://schemas.microsoft.com/office/drawing/2014/main" id="{80531CE1-547C-49C7-9BFA-CEF590B1C0DF}"/>
              </a:ext>
            </a:extLst>
          </p:cNvPr>
          <p:cNvSpPr/>
          <p:nvPr/>
        </p:nvSpPr>
        <p:spPr>
          <a:xfrm>
            <a:off x="521207" y="1618722"/>
            <a:ext cx="11263407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s-MX" sz="1600" dirty="0">
                <a:solidFill>
                  <a:srgbClr val="0E2E2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Implementar un sistema de monitoreo basado en una arquitectura </a:t>
            </a:r>
            <a:r>
              <a:rPr lang="es-MX" sz="1600" dirty="0" err="1">
                <a:solidFill>
                  <a:srgbClr val="0E2E2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IoT</a:t>
            </a:r>
            <a:r>
              <a:rPr lang="es-MX" sz="1600" dirty="0">
                <a:solidFill>
                  <a:srgbClr val="0E2E2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 y procesamiento de video para la detección de intrusiones y generación de alertas en plantaciones de aguacate del sector San José, Mira</a:t>
            </a:r>
            <a:endParaRPr lang="en-US" sz="1600" dirty="0"/>
          </a:p>
        </p:txBody>
      </p:sp>
      <p:sp>
        <p:nvSpPr>
          <p:cNvPr id="13" name="Text 35">
            <a:extLst>
              <a:ext uri="{FF2B5EF4-FFF2-40B4-BE49-F238E27FC236}">
                <a16:creationId xmlns:a16="http://schemas.microsoft.com/office/drawing/2014/main" id="{E1C364FA-47AA-46B2-965C-1CA43E140B9E}"/>
              </a:ext>
            </a:extLst>
          </p:cNvPr>
          <p:cNvSpPr/>
          <p:nvPr/>
        </p:nvSpPr>
        <p:spPr>
          <a:xfrm>
            <a:off x="868679" y="5321808"/>
            <a:ext cx="10631987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Idea clave de la defensa: la red NO recibe video continuo; recibe evidencia procesada.</a:t>
            </a:r>
            <a:endParaRPr lang="en-US" sz="1600" dirty="0"/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91A904BB-BA91-45CA-A3BD-55B7292CC53D}"/>
              </a:ext>
            </a:extLst>
          </p:cNvPr>
          <p:cNvSpPr txBox="1"/>
          <p:nvPr/>
        </p:nvSpPr>
        <p:spPr>
          <a:xfrm>
            <a:off x="410308" y="2767231"/>
            <a:ext cx="11148646" cy="2485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157480" lvl="0" indent="-342900" algn="just">
              <a:lnSpc>
                <a:spcPct val="200000"/>
              </a:lnSpc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EC" sz="1600" b="1" dirty="0">
                <a:effectLst/>
                <a:latin typeface="+mj-lt"/>
                <a:ea typeface="Arial" panose="020B0604020202020204" pitchFamily="34" charset="0"/>
              </a:rPr>
              <a:t>Investigar los requerimientos adecuados para la solución del problema y recabar datos necesarios de la zona.</a:t>
            </a:r>
          </a:p>
          <a:p>
            <a:pPr marL="342900" marR="157480" lvl="0" indent="-342900" algn="just">
              <a:lnSpc>
                <a:spcPct val="200000"/>
              </a:lnSpc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EC" sz="1600" b="1" dirty="0">
                <a:effectLst/>
                <a:latin typeface="+mj-lt"/>
                <a:ea typeface="Arial" panose="020B0604020202020204" pitchFamily="34" charset="0"/>
              </a:rPr>
              <a:t>Diseñar un prototipo funcional de seguridad que pueda ser desplegado y adaptado a las condiciones del sector San José, Mira.</a:t>
            </a:r>
          </a:p>
          <a:p>
            <a:pPr marL="342900" marR="157480" lvl="0" indent="-342900" algn="just">
              <a:lnSpc>
                <a:spcPct val="200000"/>
              </a:lnSpc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EC" sz="1600" b="1" dirty="0">
                <a:effectLst/>
                <a:latin typeface="+mj-lt"/>
                <a:ea typeface="Arial" panose="020B0604020202020204" pitchFamily="34" charset="0"/>
              </a:rPr>
              <a:t>Implementar el sistema de procesamiento y análisis de datos que genere alertas en tiempo real.</a:t>
            </a:r>
          </a:p>
          <a:p>
            <a:pPr marL="342900" marR="157480" lvl="0" indent="-342900" algn="just">
              <a:lnSpc>
                <a:spcPct val="200000"/>
              </a:lnSpc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EC" sz="1600" b="1" dirty="0">
                <a:effectLst/>
                <a:latin typeface="+mj-lt"/>
                <a:ea typeface="Arial" panose="020B0604020202020204" pitchFamily="34" charset="0"/>
              </a:rPr>
              <a:t>Realizar pruebas de campo para evaluar la efectividad del sistema de seguridad y su capacidad de reacción ante eventos de intrusión.</a:t>
            </a:r>
          </a:p>
        </p:txBody>
      </p:sp>
      <p:sp>
        <p:nvSpPr>
          <p:cNvPr id="17" name="Text 3">
            <a:extLst>
              <a:ext uri="{FF2B5EF4-FFF2-40B4-BE49-F238E27FC236}">
                <a16:creationId xmlns:a16="http://schemas.microsoft.com/office/drawing/2014/main" id="{3409D4B2-ABC7-41C9-BA5E-04F4EA4C2479}"/>
              </a:ext>
            </a:extLst>
          </p:cNvPr>
          <p:cNvSpPr/>
          <p:nvPr/>
        </p:nvSpPr>
        <p:spPr>
          <a:xfrm>
            <a:off x="566927" y="2567256"/>
            <a:ext cx="2961719" cy="3142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C" sz="1600" b="1" kern="0" spc="100" dirty="0"/>
              <a:t>OBJETIVOS</a:t>
            </a:r>
            <a:r>
              <a:rPr lang="en-US" sz="1600" b="1" kern="0" spc="100" dirty="0"/>
              <a:t> </a:t>
            </a:r>
            <a:r>
              <a:rPr lang="es-EC" sz="1600" b="1" kern="0" spc="100" dirty="0"/>
              <a:t>ESPECÍFICOS</a:t>
            </a:r>
          </a:p>
        </p:txBody>
      </p:sp>
    </p:spTree>
    <p:extLst>
      <p:ext uri="{BB962C8B-B14F-4D97-AF65-F5344CB8AC3E}">
        <p14:creationId xmlns:p14="http://schemas.microsoft.com/office/powerpoint/2010/main" val="33922823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5DBE4F-D3A0-5BE6-1E2F-F45668ACB9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lecha: pentágono 11">
            <a:extLst>
              <a:ext uri="{FF2B5EF4-FFF2-40B4-BE49-F238E27FC236}">
                <a16:creationId xmlns:a16="http://schemas.microsoft.com/office/drawing/2014/main" id="{CD1EB7C8-F865-D1FF-CA1A-A01DA178F14D}"/>
              </a:ext>
            </a:extLst>
          </p:cNvPr>
          <p:cNvSpPr/>
          <p:nvPr/>
        </p:nvSpPr>
        <p:spPr>
          <a:xfrm>
            <a:off x="283348" y="104071"/>
            <a:ext cx="3374252" cy="1053548"/>
          </a:xfrm>
          <a:prstGeom prst="homePlate">
            <a:avLst/>
          </a:prstGeom>
          <a:solidFill>
            <a:srgbClr val="C00000"/>
          </a:solidFill>
          <a:ln/>
          <a:scene3d>
            <a:camera prst="orthographicFront"/>
            <a:lightRig rig="threePt" dir="t"/>
          </a:scene3d>
          <a:sp3d>
            <a:bevelT w="165100" prst="coolSlant"/>
          </a:sp3d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US" sz="3600" b="1" noProof="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ALCANCE</a:t>
            </a:r>
            <a:endParaRPr lang="es-US" sz="3600" b="1" noProof="0" dirty="0">
              <a:solidFill>
                <a:schemeClr val="bg1"/>
              </a:solidFill>
            </a:endParaRP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5BB0EE3B-746C-EEF5-C708-33A20215D237}"/>
              </a:ext>
            </a:extLst>
          </p:cNvPr>
          <p:cNvSpPr/>
          <p:nvPr/>
        </p:nvSpPr>
        <p:spPr>
          <a:xfrm>
            <a:off x="5526157" y="6092687"/>
            <a:ext cx="6665843" cy="765313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US" noProof="0" dirty="0"/>
          </a:p>
        </p:txBody>
      </p:sp>
      <p:sp>
        <p:nvSpPr>
          <p:cNvPr id="11" name="Recortar rectángulo de una esquina 9">
            <a:extLst>
              <a:ext uri="{FF2B5EF4-FFF2-40B4-BE49-F238E27FC236}">
                <a16:creationId xmlns:a16="http://schemas.microsoft.com/office/drawing/2014/main" id="{60079740-4D05-FB0F-8476-992BD8D6784C}"/>
              </a:ext>
            </a:extLst>
          </p:cNvPr>
          <p:cNvSpPr/>
          <p:nvPr/>
        </p:nvSpPr>
        <p:spPr>
          <a:xfrm>
            <a:off x="-9939" y="5814391"/>
            <a:ext cx="5903843" cy="1053548"/>
          </a:xfrm>
          <a:prstGeom prst="snip1Rect">
            <a:avLst>
              <a:gd name="adj" fmla="val 50000"/>
            </a:avLst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US" noProof="0" dirty="0"/>
          </a:p>
        </p:txBody>
      </p:sp>
      <p:pic>
        <p:nvPicPr>
          <p:cNvPr id="14" name="Imagen 13">
            <a:extLst>
              <a:ext uri="{FF2B5EF4-FFF2-40B4-BE49-F238E27FC236}">
                <a16:creationId xmlns:a16="http://schemas.microsoft.com/office/drawing/2014/main" id="{36446A22-3CB1-4556-087B-F6E6EA0FC1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0767" y="5928401"/>
            <a:ext cx="2827669" cy="825528"/>
          </a:xfrm>
          <a:prstGeom prst="rect">
            <a:avLst/>
          </a:prstGeom>
        </p:spPr>
      </p:pic>
      <p:pic>
        <p:nvPicPr>
          <p:cNvPr id="15" name="Imagen 14">
            <a:extLst>
              <a:ext uri="{FF2B5EF4-FFF2-40B4-BE49-F238E27FC236}">
                <a16:creationId xmlns:a16="http://schemas.microsoft.com/office/drawing/2014/main" id="{4C2771CB-7ED6-3A32-A5ED-2AC4B2C2CE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61751" y="5963285"/>
            <a:ext cx="3962401" cy="1024115"/>
          </a:xfrm>
          <a:prstGeom prst="rect">
            <a:avLst/>
          </a:prstGeom>
        </p:spPr>
      </p:pic>
      <p:sp>
        <p:nvSpPr>
          <p:cNvPr id="10" name="TextBox 4">
            <a:extLst>
              <a:ext uri="{FF2B5EF4-FFF2-40B4-BE49-F238E27FC236}">
                <a16:creationId xmlns:a16="http://schemas.microsoft.com/office/drawing/2014/main" id="{527AC238-1065-485F-94F9-CE25E12C5E75}"/>
              </a:ext>
            </a:extLst>
          </p:cNvPr>
          <p:cNvSpPr txBox="1"/>
          <p:nvPr/>
        </p:nvSpPr>
        <p:spPr>
          <a:xfrm>
            <a:off x="594360" y="1122560"/>
            <a:ext cx="4565962" cy="409343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2300" b="1" dirty="0">
                <a:solidFill>
                  <a:srgbClr val="14141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Desarrollo </a:t>
            </a:r>
            <a:r>
              <a:rPr sz="2300" b="1" dirty="0" err="1">
                <a:solidFill>
                  <a:srgbClr val="14141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</a:t>
            </a:r>
            <a:r>
              <a:rPr sz="2300" b="1" dirty="0">
                <a:solidFill>
                  <a:srgbClr val="14141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300" b="1" dirty="0" err="1">
                <a:solidFill>
                  <a:srgbClr val="14141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cascada</a:t>
            </a:r>
            <a:endParaRPr sz="2300" b="1" dirty="0">
              <a:solidFill>
                <a:srgbClr val="141414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3" name="Picture 5" descr="slide4_img3.png">
            <a:extLst>
              <a:ext uri="{FF2B5EF4-FFF2-40B4-BE49-F238E27FC236}">
                <a16:creationId xmlns:a16="http://schemas.microsoft.com/office/drawing/2014/main" id="{CDEFC552-95D5-49E2-825C-C511700E094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1578302"/>
            <a:ext cx="9671538" cy="1586736"/>
          </a:xfrm>
          <a:prstGeom prst="rect">
            <a:avLst/>
          </a:prstGeom>
        </p:spPr>
      </p:pic>
      <p:sp>
        <p:nvSpPr>
          <p:cNvPr id="16" name="Rounded Rectangle 6">
            <a:extLst>
              <a:ext uri="{FF2B5EF4-FFF2-40B4-BE49-F238E27FC236}">
                <a16:creationId xmlns:a16="http://schemas.microsoft.com/office/drawing/2014/main" id="{703AFF71-3C55-48CC-999B-80EFF045B26B}"/>
              </a:ext>
            </a:extLst>
          </p:cNvPr>
          <p:cNvSpPr/>
          <p:nvPr/>
        </p:nvSpPr>
        <p:spPr>
          <a:xfrm>
            <a:off x="594360" y="3493922"/>
            <a:ext cx="2116946" cy="372706"/>
          </a:xfrm>
          <a:prstGeom prst="roundRect">
            <a:avLst/>
          </a:prstGeom>
          <a:solidFill>
            <a:srgbClr val="C00000"/>
          </a:solidFill>
          <a:ln>
            <a:solidFill>
              <a:srgbClr val="E8E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7">
            <a:extLst>
              <a:ext uri="{FF2B5EF4-FFF2-40B4-BE49-F238E27FC236}">
                <a16:creationId xmlns:a16="http://schemas.microsoft.com/office/drawing/2014/main" id="{78694420-3431-4CBD-9801-5465C1EE1EDD}"/>
              </a:ext>
            </a:extLst>
          </p:cNvPr>
          <p:cNvSpPr txBox="1"/>
          <p:nvPr/>
        </p:nvSpPr>
        <p:spPr>
          <a:xfrm>
            <a:off x="731520" y="3541300"/>
            <a:ext cx="1867894" cy="240066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ANALIZAR</a:t>
            </a:r>
          </a:p>
        </p:txBody>
      </p:sp>
      <p:sp>
        <p:nvSpPr>
          <p:cNvPr id="18" name="TextBox 8">
            <a:extLst>
              <a:ext uri="{FF2B5EF4-FFF2-40B4-BE49-F238E27FC236}">
                <a16:creationId xmlns:a16="http://schemas.microsoft.com/office/drawing/2014/main" id="{409F9F30-84E1-42E7-8FDF-9E203865B2DF}"/>
              </a:ext>
            </a:extLst>
          </p:cNvPr>
          <p:cNvSpPr txBox="1"/>
          <p:nvPr/>
        </p:nvSpPr>
        <p:spPr>
          <a:xfrm>
            <a:off x="594360" y="4030072"/>
            <a:ext cx="2116946" cy="21698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/>
            <a:r>
              <a:rPr sz="1050" b="0">
                <a:solidFill>
                  <a:srgbClr val="707070"/>
                </a:solidFill>
                <a:latin typeface="Arial"/>
              </a:rPr>
              <a:t>situación + requerimientos</a:t>
            </a:r>
          </a:p>
        </p:txBody>
      </p:sp>
      <p:sp>
        <p:nvSpPr>
          <p:cNvPr id="19" name="Rounded Rectangle 9">
            <a:extLst>
              <a:ext uri="{FF2B5EF4-FFF2-40B4-BE49-F238E27FC236}">
                <a16:creationId xmlns:a16="http://schemas.microsoft.com/office/drawing/2014/main" id="{A3BD0602-4269-4A55-A1E7-26E99DD6CF22}"/>
              </a:ext>
            </a:extLst>
          </p:cNvPr>
          <p:cNvSpPr/>
          <p:nvPr/>
        </p:nvSpPr>
        <p:spPr>
          <a:xfrm>
            <a:off x="3264408" y="3493922"/>
            <a:ext cx="2116946" cy="372706"/>
          </a:xfrm>
          <a:prstGeom prst="roundRect">
            <a:avLst/>
          </a:prstGeom>
          <a:solidFill>
            <a:srgbClr val="C00000"/>
          </a:solidFill>
          <a:ln>
            <a:solidFill>
              <a:srgbClr val="E8E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0">
            <a:extLst>
              <a:ext uri="{FF2B5EF4-FFF2-40B4-BE49-F238E27FC236}">
                <a16:creationId xmlns:a16="http://schemas.microsoft.com/office/drawing/2014/main" id="{E1A904AA-32DF-48DE-A83B-4B79D817C958}"/>
              </a:ext>
            </a:extLst>
          </p:cNvPr>
          <p:cNvSpPr txBox="1"/>
          <p:nvPr/>
        </p:nvSpPr>
        <p:spPr>
          <a:xfrm>
            <a:off x="3401568" y="3541300"/>
            <a:ext cx="1867894" cy="240066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DISEÑAR</a:t>
            </a:r>
          </a:p>
        </p:txBody>
      </p:sp>
      <p:sp>
        <p:nvSpPr>
          <p:cNvPr id="21" name="TextBox 11">
            <a:extLst>
              <a:ext uri="{FF2B5EF4-FFF2-40B4-BE49-F238E27FC236}">
                <a16:creationId xmlns:a16="http://schemas.microsoft.com/office/drawing/2014/main" id="{EB087F6E-D2FF-474D-9DDA-293BD729827A}"/>
              </a:ext>
            </a:extLst>
          </p:cNvPr>
          <p:cNvSpPr txBox="1"/>
          <p:nvPr/>
        </p:nvSpPr>
        <p:spPr>
          <a:xfrm>
            <a:off x="3264408" y="4030072"/>
            <a:ext cx="2116946" cy="21698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/>
            <a:r>
              <a:rPr sz="1050" b="0" dirty="0" err="1">
                <a:solidFill>
                  <a:srgbClr val="707070"/>
                </a:solidFill>
                <a:latin typeface="Arial"/>
              </a:rPr>
              <a:t>arquitectura</a:t>
            </a:r>
            <a:r>
              <a:rPr sz="1050" b="0" dirty="0">
                <a:solidFill>
                  <a:srgbClr val="707070"/>
                </a:solidFill>
                <a:latin typeface="Arial"/>
              </a:rPr>
              <a:t> + hardware</a:t>
            </a:r>
          </a:p>
        </p:txBody>
      </p:sp>
      <p:sp>
        <p:nvSpPr>
          <p:cNvPr id="22" name="Rounded Rectangle 12">
            <a:extLst>
              <a:ext uri="{FF2B5EF4-FFF2-40B4-BE49-F238E27FC236}">
                <a16:creationId xmlns:a16="http://schemas.microsoft.com/office/drawing/2014/main" id="{54369D3D-E143-4033-AF28-62F5D1FDB49A}"/>
              </a:ext>
            </a:extLst>
          </p:cNvPr>
          <p:cNvSpPr/>
          <p:nvPr/>
        </p:nvSpPr>
        <p:spPr>
          <a:xfrm>
            <a:off x="5934456" y="3493922"/>
            <a:ext cx="2116946" cy="372706"/>
          </a:xfrm>
          <a:prstGeom prst="roundRect">
            <a:avLst/>
          </a:prstGeom>
          <a:solidFill>
            <a:srgbClr val="C00000"/>
          </a:solidFill>
          <a:ln>
            <a:solidFill>
              <a:srgbClr val="E8E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13">
            <a:extLst>
              <a:ext uri="{FF2B5EF4-FFF2-40B4-BE49-F238E27FC236}">
                <a16:creationId xmlns:a16="http://schemas.microsoft.com/office/drawing/2014/main" id="{5D8316E1-3916-4035-9F7C-C09234A4D200}"/>
              </a:ext>
            </a:extLst>
          </p:cNvPr>
          <p:cNvSpPr txBox="1"/>
          <p:nvPr/>
        </p:nvSpPr>
        <p:spPr>
          <a:xfrm>
            <a:off x="6071616" y="3541300"/>
            <a:ext cx="1867894" cy="240066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IMPLEMENTAR</a:t>
            </a:r>
          </a:p>
        </p:txBody>
      </p:sp>
      <p:sp>
        <p:nvSpPr>
          <p:cNvPr id="24" name="TextBox 14">
            <a:extLst>
              <a:ext uri="{FF2B5EF4-FFF2-40B4-BE49-F238E27FC236}">
                <a16:creationId xmlns:a16="http://schemas.microsoft.com/office/drawing/2014/main" id="{93DF55A6-05B9-42F1-8E08-8E93AE3C6943}"/>
              </a:ext>
            </a:extLst>
          </p:cNvPr>
          <p:cNvSpPr txBox="1"/>
          <p:nvPr/>
        </p:nvSpPr>
        <p:spPr>
          <a:xfrm>
            <a:off x="5934456" y="4030072"/>
            <a:ext cx="2116946" cy="21698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/>
            <a:r>
              <a:rPr sz="1050" b="0" dirty="0" err="1">
                <a:solidFill>
                  <a:srgbClr val="707070"/>
                </a:solidFill>
                <a:latin typeface="Arial"/>
              </a:rPr>
              <a:t>integración</a:t>
            </a:r>
            <a:r>
              <a:rPr sz="1050" b="0" dirty="0">
                <a:solidFill>
                  <a:srgbClr val="707070"/>
                </a:solidFill>
                <a:latin typeface="Arial"/>
              </a:rPr>
              <a:t> + software</a:t>
            </a:r>
          </a:p>
        </p:txBody>
      </p:sp>
      <p:sp>
        <p:nvSpPr>
          <p:cNvPr id="25" name="Rounded Rectangle 15">
            <a:extLst>
              <a:ext uri="{FF2B5EF4-FFF2-40B4-BE49-F238E27FC236}">
                <a16:creationId xmlns:a16="http://schemas.microsoft.com/office/drawing/2014/main" id="{8F388453-5235-4C5A-8303-BB098165FC9C}"/>
              </a:ext>
            </a:extLst>
          </p:cNvPr>
          <p:cNvSpPr/>
          <p:nvPr/>
        </p:nvSpPr>
        <p:spPr>
          <a:xfrm>
            <a:off x="8604504" y="3493922"/>
            <a:ext cx="2116946" cy="372706"/>
          </a:xfrm>
          <a:prstGeom prst="roundRect">
            <a:avLst/>
          </a:prstGeom>
          <a:solidFill>
            <a:srgbClr val="C00000"/>
          </a:solidFill>
          <a:ln>
            <a:solidFill>
              <a:srgbClr val="E8E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16">
            <a:extLst>
              <a:ext uri="{FF2B5EF4-FFF2-40B4-BE49-F238E27FC236}">
                <a16:creationId xmlns:a16="http://schemas.microsoft.com/office/drawing/2014/main" id="{1226CF53-BA04-4C0C-A299-CBB7B08C215E}"/>
              </a:ext>
            </a:extLst>
          </p:cNvPr>
          <p:cNvSpPr txBox="1"/>
          <p:nvPr/>
        </p:nvSpPr>
        <p:spPr>
          <a:xfrm>
            <a:off x="8741664" y="3541300"/>
            <a:ext cx="1867894" cy="240066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PROBAR</a:t>
            </a:r>
          </a:p>
        </p:txBody>
      </p:sp>
      <p:sp>
        <p:nvSpPr>
          <p:cNvPr id="27" name="TextBox 17">
            <a:extLst>
              <a:ext uri="{FF2B5EF4-FFF2-40B4-BE49-F238E27FC236}">
                <a16:creationId xmlns:a16="http://schemas.microsoft.com/office/drawing/2014/main" id="{03BB597F-72F4-4949-A6D5-DB8EABB8917D}"/>
              </a:ext>
            </a:extLst>
          </p:cNvPr>
          <p:cNvSpPr txBox="1"/>
          <p:nvPr/>
        </p:nvSpPr>
        <p:spPr>
          <a:xfrm>
            <a:off x="8604504" y="4030072"/>
            <a:ext cx="2116946" cy="21698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/>
            <a:r>
              <a:rPr sz="1050" b="0" dirty="0">
                <a:solidFill>
                  <a:srgbClr val="707070"/>
                </a:solidFill>
                <a:latin typeface="Arial"/>
              </a:rPr>
              <a:t>campo + </a:t>
            </a:r>
            <a:r>
              <a:rPr sz="1050" b="0" dirty="0" err="1">
                <a:solidFill>
                  <a:srgbClr val="707070"/>
                </a:solidFill>
                <a:latin typeface="Arial"/>
              </a:rPr>
              <a:t>validación</a:t>
            </a:r>
            <a:endParaRPr sz="1050" b="0" dirty="0">
              <a:solidFill>
                <a:srgbClr val="707070"/>
              </a:solidFill>
              <a:latin typeface="Arial"/>
            </a:endParaRPr>
          </a:p>
        </p:txBody>
      </p:sp>
      <p:sp>
        <p:nvSpPr>
          <p:cNvPr id="28" name="Rounded Rectangle 18">
            <a:extLst>
              <a:ext uri="{FF2B5EF4-FFF2-40B4-BE49-F238E27FC236}">
                <a16:creationId xmlns:a16="http://schemas.microsoft.com/office/drawing/2014/main" id="{7FDFA370-4D52-4650-8547-760C484DC838}"/>
              </a:ext>
            </a:extLst>
          </p:cNvPr>
          <p:cNvSpPr/>
          <p:nvPr/>
        </p:nvSpPr>
        <p:spPr>
          <a:xfrm>
            <a:off x="685800" y="4658966"/>
            <a:ext cx="9297959" cy="304942"/>
          </a:xfrm>
          <a:prstGeom prst="roundRect">
            <a:avLst/>
          </a:prstGeom>
          <a:solidFill>
            <a:srgbClr val="F5F5F2"/>
          </a:solidFill>
          <a:ln>
            <a:solidFill>
              <a:srgbClr val="E8E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19">
            <a:extLst>
              <a:ext uri="{FF2B5EF4-FFF2-40B4-BE49-F238E27FC236}">
                <a16:creationId xmlns:a16="http://schemas.microsoft.com/office/drawing/2014/main" id="{2C76999A-8C63-469E-B587-FFF4DC0D5048}"/>
              </a:ext>
            </a:extLst>
          </p:cNvPr>
          <p:cNvSpPr txBox="1"/>
          <p:nvPr/>
        </p:nvSpPr>
        <p:spPr>
          <a:xfrm>
            <a:off x="822960" y="4672464"/>
            <a:ext cx="9048906" cy="240066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/>
            <a:r>
              <a:rPr sz="1200" b="1" dirty="0" err="1">
                <a:solidFill>
                  <a:srgbClr val="3F3F3F"/>
                </a:solidFill>
                <a:latin typeface="Arial"/>
              </a:rPr>
              <a:t>Cada</a:t>
            </a:r>
            <a:r>
              <a:rPr sz="1200" b="1" dirty="0">
                <a:solidFill>
                  <a:srgbClr val="3F3F3F"/>
                </a:solidFill>
                <a:latin typeface="Arial"/>
              </a:rPr>
              <a:t> </a:t>
            </a:r>
            <a:r>
              <a:rPr lang="es-EC" sz="1200" b="1" dirty="0">
                <a:solidFill>
                  <a:srgbClr val="3F3F3F"/>
                </a:solidFill>
                <a:latin typeface="Arial"/>
              </a:rPr>
              <a:t>fase</a:t>
            </a:r>
            <a:r>
              <a:rPr sz="1200" b="1" dirty="0">
                <a:solidFill>
                  <a:srgbClr val="3F3F3F"/>
                </a:solidFill>
                <a:latin typeface="Arial"/>
              </a:rPr>
              <a:t> </a:t>
            </a:r>
            <a:r>
              <a:rPr lang="es-EC" sz="1200" b="1" dirty="0">
                <a:solidFill>
                  <a:srgbClr val="3F3F3F"/>
                </a:solidFill>
                <a:latin typeface="Arial"/>
              </a:rPr>
              <a:t>se va completando </a:t>
            </a:r>
            <a:r>
              <a:rPr sz="1200" b="1" dirty="0">
                <a:solidFill>
                  <a:srgbClr val="3F3F3F"/>
                </a:solidFill>
                <a:latin typeface="Arial"/>
              </a:rPr>
              <a:t>antes de pasar a la </a:t>
            </a:r>
            <a:r>
              <a:rPr lang="es-EC" sz="1200" b="1" dirty="0">
                <a:solidFill>
                  <a:srgbClr val="3F3F3F"/>
                </a:solidFill>
                <a:latin typeface="Arial"/>
              </a:rPr>
              <a:t>siguiente</a:t>
            </a:r>
            <a:r>
              <a:rPr sz="1200" b="1" dirty="0">
                <a:solidFill>
                  <a:srgbClr val="3F3F3F"/>
                </a:solidFill>
                <a:latin typeface="Arial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484526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ED6046-7FBA-AD88-F0E2-C9EC2BB0E5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lecha: pentágono 11">
            <a:extLst>
              <a:ext uri="{FF2B5EF4-FFF2-40B4-BE49-F238E27FC236}">
                <a16:creationId xmlns:a16="http://schemas.microsoft.com/office/drawing/2014/main" id="{383B9953-D494-4B31-AA51-7C14DD478B7E}"/>
              </a:ext>
            </a:extLst>
          </p:cNvPr>
          <p:cNvSpPr/>
          <p:nvPr/>
        </p:nvSpPr>
        <p:spPr>
          <a:xfrm>
            <a:off x="283348" y="104071"/>
            <a:ext cx="7729375" cy="702986"/>
          </a:xfrm>
          <a:prstGeom prst="homePlate">
            <a:avLst/>
          </a:prstGeom>
          <a:solidFill>
            <a:srgbClr val="C00000"/>
          </a:solidFill>
          <a:ln/>
          <a:scene3d>
            <a:camera prst="orthographicFront"/>
            <a:lightRig rig="threePt" dir="t"/>
          </a:scene3d>
          <a:sp3d>
            <a:bevelT w="165100" prst="coolSlant"/>
          </a:sp3d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s-US" sz="2400" b="1" noProof="0" dirty="0">
              <a:solidFill>
                <a:srgbClr val="FFFF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s-US" sz="2400" b="1" noProof="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Desarrollo: </a:t>
            </a:r>
            <a:r>
              <a:rPr lang="es-MX" sz="2400" b="1" noProof="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Arquitectura cuatro capas y un nodo Edge</a:t>
            </a:r>
          </a:p>
          <a:p>
            <a:r>
              <a:rPr lang="es-US" sz="2400" b="1" noProof="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s-US" sz="2400" b="1" noProof="0" dirty="0">
              <a:solidFill>
                <a:schemeClr val="bg1"/>
              </a:solidFill>
            </a:endParaRP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3BE2F439-3399-07B2-5CC8-F0B84770BD80}"/>
              </a:ext>
            </a:extLst>
          </p:cNvPr>
          <p:cNvSpPr/>
          <p:nvPr/>
        </p:nvSpPr>
        <p:spPr>
          <a:xfrm>
            <a:off x="5526157" y="6092687"/>
            <a:ext cx="6665843" cy="765313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US" noProof="0" dirty="0"/>
          </a:p>
        </p:txBody>
      </p:sp>
      <p:sp>
        <p:nvSpPr>
          <p:cNvPr id="11" name="Recortar rectángulo de una esquina 9">
            <a:extLst>
              <a:ext uri="{FF2B5EF4-FFF2-40B4-BE49-F238E27FC236}">
                <a16:creationId xmlns:a16="http://schemas.microsoft.com/office/drawing/2014/main" id="{AA24DCA0-A0BC-1896-AEE7-74E5FE4B836F}"/>
              </a:ext>
            </a:extLst>
          </p:cNvPr>
          <p:cNvSpPr/>
          <p:nvPr/>
        </p:nvSpPr>
        <p:spPr>
          <a:xfrm>
            <a:off x="-9939" y="5814391"/>
            <a:ext cx="5903843" cy="1053548"/>
          </a:xfrm>
          <a:prstGeom prst="snip1Rect">
            <a:avLst>
              <a:gd name="adj" fmla="val 50000"/>
            </a:avLst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US" noProof="0" dirty="0"/>
          </a:p>
        </p:txBody>
      </p:sp>
      <p:pic>
        <p:nvPicPr>
          <p:cNvPr id="14" name="Imagen 13">
            <a:extLst>
              <a:ext uri="{FF2B5EF4-FFF2-40B4-BE49-F238E27FC236}">
                <a16:creationId xmlns:a16="http://schemas.microsoft.com/office/drawing/2014/main" id="{42C7265F-CDE4-D574-1F36-9A14E4075F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0767" y="5928401"/>
            <a:ext cx="2827669" cy="825528"/>
          </a:xfrm>
          <a:prstGeom prst="rect">
            <a:avLst/>
          </a:prstGeom>
        </p:spPr>
      </p:pic>
      <p:pic>
        <p:nvPicPr>
          <p:cNvPr id="15" name="Imagen 14">
            <a:extLst>
              <a:ext uri="{FF2B5EF4-FFF2-40B4-BE49-F238E27FC236}">
                <a16:creationId xmlns:a16="http://schemas.microsoft.com/office/drawing/2014/main" id="{D1BFFD12-CED7-2EEB-7309-89524E5239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61751" y="5963285"/>
            <a:ext cx="3962401" cy="1024115"/>
          </a:xfrm>
          <a:prstGeom prst="rect">
            <a:avLst/>
          </a:prstGeom>
        </p:spPr>
      </p:pic>
      <p:sp>
        <p:nvSpPr>
          <p:cNvPr id="13" name="Shape 2">
            <a:extLst>
              <a:ext uri="{FF2B5EF4-FFF2-40B4-BE49-F238E27FC236}">
                <a16:creationId xmlns:a16="http://schemas.microsoft.com/office/drawing/2014/main" id="{ADC93287-E43A-40F1-A611-0F32E23E235E}"/>
              </a:ext>
            </a:extLst>
          </p:cNvPr>
          <p:cNvSpPr/>
          <p:nvPr/>
        </p:nvSpPr>
        <p:spPr>
          <a:xfrm>
            <a:off x="-1" y="1004249"/>
            <a:ext cx="12150969" cy="81104"/>
          </a:xfrm>
          <a:prstGeom prst="line">
            <a:avLst/>
          </a:prstGeom>
          <a:noFill/>
          <a:ln w="13970">
            <a:solidFill>
              <a:srgbClr val="C9D4CC"/>
            </a:solidFill>
            <a:prstDash val="solid"/>
          </a:ln>
        </p:spPr>
      </p:sp>
      <p:pic>
        <p:nvPicPr>
          <p:cNvPr id="16" name="Image 0" descr="/mnt/data/thesis_media/image19.png">
            <a:extLst>
              <a:ext uri="{FF2B5EF4-FFF2-40B4-BE49-F238E27FC236}">
                <a16:creationId xmlns:a16="http://schemas.microsoft.com/office/drawing/2014/main" id="{B9546CE2-EA9F-4612-AA5F-DE712F713E5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0352" y="1363648"/>
            <a:ext cx="11109960" cy="3591208"/>
          </a:xfrm>
          <a:prstGeom prst="rect">
            <a:avLst/>
          </a:prstGeom>
        </p:spPr>
      </p:pic>
      <p:sp>
        <p:nvSpPr>
          <p:cNvPr id="17" name="Text 3">
            <a:extLst>
              <a:ext uri="{FF2B5EF4-FFF2-40B4-BE49-F238E27FC236}">
                <a16:creationId xmlns:a16="http://schemas.microsoft.com/office/drawing/2014/main" id="{D1703783-7019-4E1C-ADE7-24F3FB6F5151}"/>
              </a:ext>
            </a:extLst>
          </p:cNvPr>
          <p:cNvSpPr/>
          <p:nvPr/>
        </p:nvSpPr>
        <p:spPr>
          <a:xfrm>
            <a:off x="530352" y="5029200"/>
            <a:ext cx="11109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6170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Arquitectura IoT propuesta en el documento</a:t>
            </a:r>
            <a:endParaRPr lang="en-US" sz="800" dirty="0"/>
          </a:p>
        </p:txBody>
      </p:sp>
      <p:sp>
        <p:nvSpPr>
          <p:cNvPr id="18" name="Shape 4">
            <a:extLst>
              <a:ext uri="{FF2B5EF4-FFF2-40B4-BE49-F238E27FC236}">
                <a16:creationId xmlns:a16="http://schemas.microsoft.com/office/drawing/2014/main" id="{0DDA780F-62E1-4008-99D1-CB58B2A4BED7}"/>
              </a:ext>
            </a:extLst>
          </p:cNvPr>
          <p:cNvSpPr/>
          <p:nvPr/>
        </p:nvSpPr>
        <p:spPr>
          <a:xfrm>
            <a:off x="713232" y="5422392"/>
            <a:ext cx="2514600" cy="310896"/>
          </a:xfrm>
          <a:prstGeom prst="roundRect">
            <a:avLst>
              <a:gd name="adj" fmla="val 17647"/>
            </a:avLst>
          </a:prstGeom>
          <a:solidFill>
            <a:srgbClr val="E8F0EA"/>
          </a:solidFill>
          <a:ln w="12700">
            <a:solidFill>
              <a:srgbClr val="E8F0EA">
                <a:alpha val="0"/>
              </a:srgbClr>
            </a:solidFill>
            <a:prstDash val="solid"/>
          </a:ln>
        </p:spPr>
      </p:sp>
      <p:sp>
        <p:nvSpPr>
          <p:cNvPr id="19" name="Text 5">
            <a:extLst>
              <a:ext uri="{FF2B5EF4-FFF2-40B4-BE49-F238E27FC236}">
                <a16:creationId xmlns:a16="http://schemas.microsoft.com/office/drawing/2014/main" id="{BB482070-0ADA-4DDA-B5FD-99FCC049BF01}"/>
              </a:ext>
            </a:extLst>
          </p:cNvPr>
          <p:cNvSpPr/>
          <p:nvPr/>
        </p:nvSpPr>
        <p:spPr>
          <a:xfrm>
            <a:off x="804672" y="5490972"/>
            <a:ext cx="2331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5F8F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PERCEPCIÓN  |  Cámara + PIR</a:t>
            </a:r>
            <a:endParaRPr lang="en-US" sz="1000" dirty="0"/>
          </a:p>
        </p:txBody>
      </p:sp>
      <p:sp>
        <p:nvSpPr>
          <p:cNvPr id="20" name="Shape 6">
            <a:extLst>
              <a:ext uri="{FF2B5EF4-FFF2-40B4-BE49-F238E27FC236}">
                <a16:creationId xmlns:a16="http://schemas.microsoft.com/office/drawing/2014/main" id="{D92C9C9D-95AC-4541-BD7A-8E87EA866969}"/>
              </a:ext>
            </a:extLst>
          </p:cNvPr>
          <p:cNvSpPr/>
          <p:nvPr/>
        </p:nvSpPr>
        <p:spPr>
          <a:xfrm>
            <a:off x="3502152" y="5422392"/>
            <a:ext cx="2514600" cy="310896"/>
          </a:xfrm>
          <a:prstGeom prst="roundRect">
            <a:avLst>
              <a:gd name="adj" fmla="val 17647"/>
            </a:avLst>
          </a:prstGeom>
          <a:solidFill>
            <a:srgbClr val="E8F0EA"/>
          </a:solidFill>
          <a:ln w="12700">
            <a:solidFill>
              <a:srgbClr val="E8F0EA">
                <a:alpha val="0"/>
              </a:srgbClr>
            </a:solidFill>
            <a:prstDash val="solid"/>
          </a:ln>
        </p:spPr>
      </p:sp>
      <p:sp>
        <p:nvSpPr>
          <p:cNvPr id="21" name="Text 7">
            <a:extLst>
              <a:ext uri="{FF2B5EF4-FFF2-40B4-BE49-F238E27FC236}">
                <a16:creationId xmlns:a16="http://schemas.microsoft.com/office/drawing/2014/main" id="{7684059D-FC6E-4AFA-8F4D-22B6E35E6DF4}"/>
              </a:ext>
            </a:extLst>
          </p:cNvPr>
          <p:cNvSpPr/>
          <p:nvPr/>
        </p:nvSpPr>
        <p:spPr>
          <a:xfrm>
            <a:off x="3593592" y="5490972"/>
            <a:ext cx="2331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C70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RED  |  Wi‑Fi / LTE</a:t>
            </a:r>
            <a:endParaRPr lang="en-US" sz="1000" dirty="0"/>
          </a:p>
        </p:txBody>
      </p:sp>
      <p:sp>
        <p:nvSpPr>
          <p:cNvPr id="22" name="Shape 8">
            <a:extLst>
              <a:ext uri="{FF2B5EF4-FFF2-40B4-BE49-F238E27FC236}">
                <a16:creationId xmlns:a16="http://schemas.microsoft.com/office/drawing/2014/main" id="{06CFF33F-445F-4414-8BF1-E600FC86B308}"/>
              </a:ext>
            </a:extLst>
          </p:cNvPr>
          <p:cNvSpPr/>
          <p:nvPr/>
        </p:nvSpPr>
        <p:spPr>
          <a:xfrm>
            <a:off x="6291072" y="5422392"/>
            <a:ext cx="2514600" cy="310896"/>
          </a:xfrm>
          <a:prstGeom prst="roundRect">
            <a:avLst>
              <a:gd name="adj" fmla="val 17647"/>
            </a:avLst>
          </a:prstGeom>
          <a:solidFill>
            <a:srgbClr val="E8F0EA"/>
          </a:solidFill>
          <a:ln w="12700">
            <a:solidFill>
              <a:srgbClr val="E8F0EA">
                <a:alpha val="0"/>
              </a:srgbClr>
            </a:solidFill>
            <a:prstDash val="solid"/>
          </a:ln>
        </p:spPr>
      </p:sp>
      <p:sp>
        <p:nvSpPr>
          <p:cNvPr id="23" name="Text 9">
            <a:extLst>
              <a:ext uri="{FF2B5EF4-FFF2-40B4-BE49-F238E27FC236}">
                <a16:creationId xmlns:a16="http://schemas.microsoft.com/office/drawing/2014/main" id="{619356BC-55B8-4AAD-84F8-D35ECB64F35C}"/>
              </a:ext>
            </a:extLst>
          </p:cNvPr>
          <p:cNvSpPr/>
          <p:nvPr/>
        </p:nvSpPr>
        <p:spPr>
          <a:xfrm>
            <a:off x="6382512" y="5490972"/>
            <a:ext cx="2331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84D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EDGE  |  Raspberry Pi 5 + IA</a:t>
            </a:r>
            <a:endParaRPr lang="en-US" sz="1000" dirty="0"/>
          </a:p>
        </p:txBody>
      </p:sp>
      <p:sp>
        <p:nvSpPr>
          <p:cNvPr id="24" name="Shape 10">
            <a:extLst>
              <a:ext uri="{FF2B5EF4-FFF2-40B4-BE49-F238E27FC236}">
                <a16:creationId xmlns:a16="http://schemas.microsoft.com/office/drawing/2014/main" id="{33690EE2-27EF-4514-A0A5-5D271CD21E20}"/>
              </a:ext>
            </a:extLst>
          </p:cNvPr>
          <p:cNvSpPr/>
          <p:nvPr/>
        </p:nvSpPr>
        <p:spPr>
          <a:xfrm>
            <a:off x="9079992" y="5422392"/>
            <a:ext cx="2514600" cy="310896"/>
          </a:xfrm>
          <a:prstGeom prst="roundRect">
            <a:avLst>
              <a:gd name="adj" fmla="val 17647"/>
            </a:avLst>
          </a:prstGeom>
          <a:solidFill>
            <a:srgbClr val="E8F0EA"/>
          </a:solidFill>
          <a:ln w="12700">
            <a:solidFill>
              <a:srgbClr val="E8F0EA">
                <a:alpha val="0"/>
              </a:srgbClr>
            </a:solidFill>
            <a:prstDash val="solid"/>
          </a:ln>
        </p:spPr>
      </p:sp>
      <p:sp>
        <p:nvSpPr>
          <p:cNvPr id="25" name="Text 11">
            <a:extLst>
              <a:ext uri="{FF2B5EF4-FFF2-40B4-BE49-F238E27FC236}">
                <a16:creationId xmlns:a16="http://schemas.microsoft.com/office/drawing/2014/main" id="{31CBA216-AC57-4428-8720-E490DA19518D}"/>
              </a:ext>
            </a:extLst>
          </p:cNvPr>
          <p:cNvSpPr/>
          <p:nvPr/>
        </p:nvSpPr>
        <p:spPr>
          <a:xfrm>
            <a:off x="9171432" y="5490972"/>
            <a:ext cx="2331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275B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APLICACIÓN  |  Telegram + Web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34225048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ED6046-7FBA-AD88-F0E2-C9EC2BB0E5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lecha: pentágono 11">
            <a:extLst>
              <a:ext uri="{FF2B5EF4-FFF2-40B4-BE49-F238E27FC236}">
                <a16:creationId xmlns:a16="http://schemas.microsoft.com/office/drawing/2014/main" id="{383B9953-D494-4B31-AA51-7C14DD478B7E}"/>
              </a:ext>
            </a:extLst>
          </p:cNvPr>
          <p:cNvSpPr/>
          <p:nvPr/>
        </p:nvSpPr>
        <p:spPr>
          <a:xfrm>
            <a:off x="283348" y="104071"/>
            <a:ext cx="8081067" cy="702986"/>
          </a:xfrm>
          <a:prstGeom prst="homePlate">
            <a:avLst/>
          </a:prstGeom>
          <a:solidFill>
            <a:srgbClr val="C00000"/>
          </a:solidFill>
          <a:ln/>
          <a:scene3d>
            <a:camera prst="orthographicFront"/>
            <a:lightRig rig="threePt" dir="t"/>
          </a:scene3d>
          <a:sp3d>
            <a:bevelT w="165100" prst="coolSlant"/>
          </a:sp3d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s-US" sz="2400" b="1" noProof="0" dirty="0">
              <a:solidFill>
                <a:srgbClr val="FFFF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s-US" sz="2400" b="1" dirty="0">
              <a:solidFill>
                <a:srgbClr val="FFFF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s-US" sz="2400" b="1" noProof="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Desarrollo :</a:t>
            </a:r>
            <a:r>
              <a:rPr lang="es-MX" sz="2400" b="1" noProof="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Topología física y lógica del sistema</a:t>
            </a:r>
          </a:p>
          <a:p>
            <a:endParaRPr lang="es-MX" sz="2400" b="1" noProof="0" dirty="0">
              <a:solidFill>
                <a:srgbClr val="FFFF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s-US" sz="2400" b="1" noProof="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s-US" sz="2400" b="1" noProof="0" dirty="0">
              <a:solidFill>
                <a:schemeClr val="bg1"/>
              </a:solidFill>
            </a:endParaRP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3BE2F439-3399-07B2-5CC8-F0B84770BD80}"/>
              </a:ext>
            </a:extLst>
          </p:cNvPr>
          <p:cNvSpPr/>
          <p:nvPr/>
        </p:nvSpPr>
        <p:spPr>
          <a:xfrm>
            <a:off x="5526157" y="6092687"/>
            <a:ext cx="6665843" cy="765313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US" noProof="0" dirty="0"/>
          </a:p>
        </p:txBody>
      </p:sp>
      <p:sp>
        <p:nvSpPr>
          <p:cNvPr id="11" name="Recortar rectángulo de una esquina 9">
            <a:extLst>
              <a:ext uri="{FF2B5EF4-FFF2-40B4-BE49-F238E27FC236}">
                <a16:creationId xmlns:a16="http://schemas.microsoft.com/office/drawing/2014/main" id="{AA24DCA0-A0BC-1896-AEE7-74E5FE4B836F}"/>
              </a:ext>
            </a:extLst>
          </p:cNvPr>
          <p:cNvSpPr/>
          <p:nvPr/>
        </p:nvSpPr>
        <p:spPr>
          <a:xfrm>
            <a:off x="-9939" y="5814391"/>
            <a:ext cx="5903843" cy="1053548"/>
          </a:xfrm>
          <a:prstGeom prst="snip1Rect">
            <a:avLst>
              <a:gd name="adj" fmla="val 50000"/>
            </a:avLst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US" noProof="0" dirty="0"/>
          </a:p>
        </p:txBody>
      </p:sp>
      <p:pic>
        <p:nvPicPr>
          <p:cNvPr id="14" name="Imagen 13">
            <a:extLst>
              <a:ext uri="{FF2B5EF4-FFF2-40B4-BE49-F238E27FC236}">
                <a16:creationId xmlns:a16="http://schemas.microsoft.com/office/drawing/2014/main" id="{42C7265F-CDE4-D574-1F36-9A14E4075F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0767" y="5928401"/>
            <a:ext cx="2827669" cy="825528"/>
          </a:xfrm>
          <a:prstGeom prst="rect">
            <a:avLst/>
          </a:prstGeom>
        </p:spPr>
      </p:pic>
      <p:pic>
        <p:nvPicPr>
          <p:cNvPr id="15" name="Imagen 14">
            <a:extLst>
              <a:ext uri="{FF2B5EF4-FFF2-40B4-BE49-F238E27FC236}">
                <a16:creationId xmlns:a16="http://schemas.microsoft.com/office/drawing/2014/main" id="{D1BFFD12-CED7-2EEB-7309-89524E5239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61751" y="5963285"/>
            <a:ext cx="3962401" cy="1024115"/>
          </a:xfrm>
          <a:prstGeom prst="rect">
            <a:avLst/>
          </a:prstGeom>
        </p:spPr>
      </p:pic>
      <p:sp>
        <p:nvSpPr>
          <p:cNvPr id="13" name="Shape 2">
            <a:extLst>
              <a:ext uri="{FF2B5EF4-FFF2-40B4-BE49-F238E27FC236}">
                <a16:creationId xmlns:a16="http://schemas.microsoft.com/office/drawing/2014/main" id="{ADC93287-E43A-40F1-A611-0F32E23E235E}"/>
              </a:ext>
            </a:extLst>
          </p:cNvPr>
          <p:cNvSpPr/>
          <p:nvPr/>
        </p:nvSpPr>
        <p:spPr>
          <a:xfrm>
            <a:off x="-1" y="1004249"/>
            <a:ext cx="12150969" cy="81104"/>
          </a:xfrm>
          <a:prstGeom prst="line">
            <a:avLst/>
          </a:prstGeom>
          <a:noFill/>
          <a:ln w="13970">
            <a:solidFill>
              <a:srgbClr val="C9D4CC"/>
            </a:solidFill>
            <a:prstDash val="solid"/>
          </a:ln>
        </p:spPr>
      </p:sp>
      <p:sp>
        <p:nvSpPr>
          <p:cNvPr id="38" name="Shape 2">
            <a:extLst>
              <a:ext uri="{FF2B5EF4-FFF2-40B4-BE49-F238E27FC236}">
                <a16:creationId xmlns:a16="http://schemas.microsoft.com/office/drawing/2014/main" id="{881DB899-FA6D-4660-8498-6DCA60C43311}"/>
              </a:ext>
            </a:extLst>
          </p:cNvPr>
          <p:cNvSpPr/>
          <p:nvPr/>
        </p:nvSpPr>
        <p:spPr>
          <a:xfrm>
            <a:off x="297776" y="583843"/>
            <a:ext cx="11155680" cy="0"/>
          </a:xfrm>
          <a:prstGeom prst="line">
            <a:avLst/>
          </a:prstGeom>
          <a:noFill/>
          <a:ln w="13970">
            <a:solidFill>
              <a:srgbClr val="C9D4CC"/>
            </a:solidFill>
            <a:prstDash val="solid"/>
          </a:ln>
        </p:spPr>
      </p:sp>
      <p:pic>
        <p:nvPicPr>
          <p:cNvPr id="39" name="Image 0" descr="/mnt/data/thesis_media/image20.png">
            <a:extLst>
              <a:ext uri="{FF2B5EF4-FFF2-40B4-BE49-F238E27FC236}">
                <a16:creationId xmlns:a16="http://schemas.microsoft.com/office/drawing/2014/main" id="{302B3EB2-ED69-49CE-B97D-81F066CB5CE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7776" y="1112437"/>
            <a:ext cx="11228832" cy="4441091"/>
          </a:xfrm>
          <a:prstGeom prst="rect">
            <a:avLst/>
          </a:prstGeom>
        </p:spPr>
      </p:pic>
      <p:sp>
        <p:nvSpPr>
          <p:cNvPr id="41" name="Text 4">
            <a:extLst>
              <a:ext uri="{FF2B5EF4-FFF2-40B4-BE49-F238E27FC236}">
                <a16:creationId xmlns:a16="http://schemas.microsoft.com/office/drawing/2014/main" id="{36C57250-DA2E-4B2A-855F-EBBC62B82F91}"/>
              </a:ext>
            </a:extLst>
          </p:cNvPr>
          <p:cNvSpPr/>
          <p:nvPr/>
        </p:nvSpPr>
        <p:spPr>
          <a:xfrm>
            <a:off x="1168800" y="5516963"/>
            <a:ext cx="9601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617067"/>
                </a:solidFill>
              </a:rPr>
              <a:t>campo / energía   |   conectividad LTE   |   Edge AI   |   evidencia / </a:t>
            </a:r>
            <a:r>
              <a:rPr lang="en-US" sz="1100" b="1" dirty="0" err="1">
                <a:solidFill>
                  <a:srgbClr val="617067"/>
                </a:solidFill>
              </a:rPr>
              <a:t>alerta</a:t>
            </a:r>
            <a:r>
              <a:rPr lang="en-US" sz="1100" b="1" dirty="0">
                <a:solidFill>
                  <a:srgbClr val="617067"/>
                </a:solidFill>
              </a:rPr>
              <a:t> y </a:t>
            </a:r>
            <a:r>
              <a:rPr lang="en-US" sz="1100" b="1" dirty="0" err="1">
                <a:solidFill>
                  <a:srgbClr val="617067"/>
                </a:solidFill>
              </a:rPr>
              <a:t>visualizacion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39696607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ED6046-7FBA-AD88-F0E2-C9EC2BB0E5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lecha: pentágono 11">
            <a:extLst>
              <a:ext uri="{FF2B5EF4-FFF2-40B4-BE49-F238E27FC236}">
                <a16:creationId xmlns:a16="http://schemas.microsoft.com/office/drawing/2014/main" id="{383B9953-D494-4B31-AA51-7C14DD478B7E}"/>
              </a:ext>
            </a:extLst>
          </p:cNvPr>
          <p:cNvSpPr/>
          <p:nvPr/>
        </p:nvSpPr>
        <p:spPr>
          <a:xfrm>
            <a:off x="283348" y="104071"/>
            <a:ext cx="8133821" cy="702986"/>
          </a:xfrm>
          <a:prstGeom prst="homePlate">
            <a:avLst/>
          </a:prstGeom>
          <a:solidFill>
            <a:srgbClr val="C00000"/>
          </a:solidFill>
          <a:ln/>
          <a:scene3d>
            <a:camera prst="orthographicFront"/>
            <a:lightRig rig="threePt" dir="t"/>
          </a:scene3d>
          <a:sp3d>
            <a:bevelT w="165100" prst="coolSlant"/>
          </a:sp3d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MX" sz="2400" b="1" noProof="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Desarrollo :Diagrama de conexiones eléctricas y Gateway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3BE2F439-3399-07B2-5CC8-F0B84770BD80}"/>
              </a:ext>
            </a:extLst>
          </p:cNvPr>
          <p:cNvSpPr/>
          <p:nvPr/>
        </p:nvSpPr>
        <p:spPr>
          <a:xfrm>
            <a:off x="5526157" y="6092687"/>
            <a:ext cx="6665843" cy="765313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US" noProof="0" dirty="0"/>
          </a:p>
        </p:txBody>
      </p:sp>
      <p:sp>
        <p:nvSpPr>
          <p:cNvPr id="11" name="Recortar rectángulo de una esquina 9">
            <a:extLst>
              <a:ext uri="{FF2B5EF4-FFF2-40B4-BE49-F238E27FC236}">
                <a16:creationId xmlns:a16="http://schemas.microsoft.com/office/drawing/2014/main" id="{AA24DCA0-A0BC-1896-AEE7-74E5FE4B836F}"/>
              </a:ext>
            </a:extLst>
          </p:cNvPr>
          <p:cNvSpPr/>
          <p:nvPr/>
        </p:nvSpPr>
        <p:spPr>
          <a:xfrm>
            <a:off x="-9939" y="5814391"/>
            <a:ext cx="5903843" cy="1053548"/>
          </a:xfrm>
          <a:prstGeom prst="snip1Rect">
            <a:avLst>
              <a:gd name="adj" fmla="val 50000"/>
            </a:avLst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US" noProof="0" dirty="0"/>
          </a:p>
        </p:txBody>
      </p:sp>
      <p:pic>
        <p:nvPicPr>
          <p:cNvPr id="14" name="Imagen 13">
            <a:extLst>
              <a:ext uri="{FF2B5EF4-FFF2-40B4-BE49-F238E27FC236}">
                <a16:creationId xmlns:a16="http://schemas.microsoft.com/office/drawing/2014/main" id="{42C7265F-CDE4-D574-1F36-9A14E4075F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0767" y="5928401"/>
            <a:ext cx="2827669" cy="825528"/>
          </a:xfrm>
          <a:prstGeom prst="rect">
            <a:avLst/>
          </a:prstGeom>
        </p:spPr>
      </p:pic>
      <p:pic>
        <p:nvPicPr>
          <p:cNvPr id="15" name="Imagen 14">
            <a:extLst>
              <a:ext uri="{FF2B5EF4-FFF2-40B4-BE49-F238E27FC236}">
                <a16:creationId xmlns:a16="http://schemas.microsoft.com/office/drawing/2014/main" id="{D1BFFD12-CED7-2EEB-7309-89524E5239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61751" y="5963285"/>
            <a:ext cx="3962401" cy="1024115"/>
          </a:xfrm>
          <a:prstGeom prst="rect">
            <a:avLst/>
          </a:prstGeom>
        </p:spPr>
      </p:pic>
      <p:sp>
        <p:nvSpPr>
          <p:cNvPr id="13" name="Shape 2">
            <a:extLst>
              <a:ext uri="{FF2B5EF4-FFF2-40B4-BE49-F238E27FC236}">
                <a16:creationId xmlns:a16="http://schemas.microsoft.com/office/drawing/2014/main" id="{ADC93287-E43A-40F1-A611-0F32E23E235E}"/>
              </a:ext>
            </a:extLst>
          </p:cNvPr>
          <p:cNvSpPr/>
          <p:nvPr/>
        </p:nvSpPr>
        <p:spPr>
          <a:xfrm>
            <a:off x="-1" y="1004249"/>
            <a:ext cx="12150969" cy="81104"/>
          </a:xfrm>
          <a:prstGeom prst="line">
            <a:avLst/>
          </a:prstGeom>
          <a:noFill/>
          <a:ln w="13970">
            <a:solidFill>
              <a:srgbClr val="C9D4CC"/>
            </a:solidFill>
            <a:prstDash val="solid"/>
          </a:ln>
        </p:spPr>
      </p:sp>
      <p:sp>
        <p:nvSpPr>
          <p:cNvPr id="26" name="Shape 4">
            <a:extLst>
              <a:ext uri="{FF2B5EF4-FFF2-40B4-BE49-F238E27FC236}">
                <a16:creationId xmlns:a16="http://schemas.microsoft.com/office/drawing/2014/main" id="{96B9A735-2BE6-41EF-8C72-AF56CA1BCA6F}"/>
              </a:ext>
            </a:extLst>
          </p:cNvPr>
          <p:cNvSpPr/>
          <p:nvPr/>
        </p:nvSpPr>
        <p:spPr>
          <a:xfrm>
            <a:off x="9802368" y="1417320"/>
            <a:ext cx="1783080" cy="1024128"/>
          </a:xfrm>
          <a:prstGeom prst="roundRect">
            <a:avLst>
              <a:gd name="adj" fmla="val 7143"/>
            </a:avLst>
          </a:prstGeom>
          <a:solidFill>
            <a:srgbClr val="EAF3E8"/>
          </a:solidFill>
          <a:ln w="12700">
            <a:solidFill>
              <a:srgbClr val="CFE0CE"/>
            </a:solidFill>
            <a:prstDash val="solid"/>
          </a:ln>
        </p:spPr>
      </p:sp>
      <p:sp>
        <p:nvSpPr>
          <p:cNvPr id="27" name="Text 5">
            <a:extLst>
              <a:ext uri="{FF2B5EF4-FFF2-40B4-BE49-F238E27FC236}">
                <a16:creationId xmlns:a16="http://schemas.microsoft.com/office/drawing/2014/main" id="{06F608D5-B905-458C-B633-134641F0E28C}"/>
              </a:ext>
            </a:extLst>
          </p:cNvPr>
          <p:cNvSpPr/>
          <p:nvPr/>
        </p:nvSpPr>
        <p:spPr>
          <a:xfrm>
            <a:off x="10040112" y="1627632"/>
            <a:ext cx="12984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E2E22"/>
                </a:solidFill>
              </a:rPr>
              <a:t>12 V</a:t>
            </a:r>
            <a:endParaRPr lang="en-US" sz="2400" dirty="0"/>
          </a:p>
        </p:txBody>
      </p:sp>
      <p:sp>
        <p:nvSpPr>
          <p:cNvPr id="28" name="Text 6">
            <a:extLst>
              <a:ext uri="{FF2B5EF4-FFF2-40B4-BE49-F238E27FC236}">
                <a16:creationId xmlns:a16="http://schemas.microsoft.com/office/drawing/2014/main" id="{2A87B668-2F96-4F83-9969-011AA68006FD}"/>
              </a:ext>
            </a:extLst>
          </p:cNvPr>
          <p:cNvSpPr/>
          <p:nvPr/>
        </p:nvSpPr>
        <p:spPr>
          <a:xfrm>
            <a:off x="9893808" y="1975104"/>
            <a:ext cx="1508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17067"/>
                </a:solidFill>
              </a:rPr>
              <a:t>batería → reflector</a:t>
            </a:r>
            <a:endParaRPr lang="en-US" sz="900" dirty="0"/>
          </a:p>
        </p:txBody>
      </p:sp>
      <p:sp>
        <p:nvSpPr>
          <p:cNvPr id="29" name="Shape 7">
            <a:extLst>
              <a:ext uri="{FF2B5EF4-FFF2-40B4-BE49-F238E27FC236}">
                <a16:creationId xmlns:a16="http://schemas.microsoft.com/office/drawing/2014/main" id="{797F9972-2356-4FBD-A3C0-D0E515E6F599}"/>
              </a:ext>
            </a:extLst>
          </p:cNvPr>
          <p:cNvSpPr/>
          <p:nvPr/>
        </p:nvSpPr>
        <p:spPr>
          <a:xfrm>
            <a:off x="9802368" y="2670048"/>
            <a:ext cx="1783080" cy="102412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E3EAE5"/>
            </a:solidFill>
            <a:prstDash val="solid"/>
          </a:ln>
        </p:spPr>
      </p:sp>
      <p:sp>
        <p:nvSpPr>
          <p:cNvPr id="30" name="Text 8">
            <a:extLst>
              <a:ext uri="{FF2B5EF4-FFF2-40B4-BE49-F238E27FC236}">
                <a16:creationId xmlns:a16="http://schemas.microsoft.com/office/drawing/2014/main" id="{32C2F60C-0A01-4CD2-891C-816C2DF25921}"/>
              </a:ext>
            </a:extLst>
          </p:cNvPr>
          <p:cNvSpPr/>
          <p:nvPr/>
        </p:nvSpPr>
        <p:spPr>
          <a:xfrm>
            <a:off x="10040112" y="2880360"/>
            <a:ext cx="12984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C7070"/>
                </a:solidFill>
              </a:rPr>
              <a:t>5 V</a:t>
            </a:r>
            <a:endParaRPr lang="en-US" sz="2400" dirty="0"/>
          </a:p>
        </p:txBody>
      </p:sp>
      <p:sp>
        <p:nvSpPr>
          <p:cNvPr id="31" name="Text 9">
            <a:extLst>
              <a:ext uri="{FF2B5EF4-FFF2-40B4-BE49-F238E27FC236}">
                <a16:creationId xmlns:a16="http://schemas.microsoft.com/office/drawing/2014/main" id="{E4905795-B171-4F5B-8A51-2B542E20B470}"/>
              </a:ext>
            </a:extLst>
          </p:cNvPr>
          <p:cNvSpPr/>
          <p:nvPr/>
        </p:nvSpPr>
        <p:spPr>
          <a:xfrm>
            <a:off x="9893808" y="3227832"/>
            <a:ext cx="1508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17067"/>
                </a:solidFill>
              </a:rPr>
              <a:t>buck → Raspberry Pi</a:t>
            </a:r>
            <a:endParaRPr lang="en-US" sz="900" dirty="0"/>
          </a:p>
        </p:txBody>
      </p:sp>
      <p:sp>
        <p:nvSpPr>
          <p:cNvPr id="32" name="Shape 10">
            <a:extLst>
              <a:ext uri="{FF2B5EF4-FFF2-40B4-BE49-F238E27FC236}">
                <a16:creationId xmlns:a16="http://schemas.microsoft.com/office/drawing/2014/main" id="{1D1CE8CE-5EEC-40B0-BA8B-4E2006448770}"/>
              </a:ext>
            </a:extLst>
          </p:cNvPr>
          <p:cNvSpPr/>
          <p:nvPr/>
        </p:nvSpPr>
        <p:spPr>
          <a:xfrm>
            <a:off x="9802368" y="3922776"/>
            <a:ext cx="1783080" cy="1234440"/>
          </a:xfrm>
          <a:prstGeom prst="roundRect">
            <a:avLst>
              <a:gd name="adj" fmla="val 5926"/>
            </a:avLst>
          </a:prstGeom>
          <a:solidFill>
            <a:srgbClr val="FFF8E7"/>
          </a:solidFill>
          <a:ln w="12700">
            <a:solidFill>
              <a:srgbClr val="F1E1B6"/>
            </a:solidFill>
            <a:prstDash val="solid"/>
          </a:ln>
        </p:spPr>
      </p:sp>
      <p:sp>
        <p:nvSpPr>
          <p:cNvPr id="33" name="Text 11">
            <a:extLst>
              <a:ext uri="{FF2B5EF4-FFF2-40B4-BE49-F238E27FC236}">
                <a16:creationId xmlns:a16="http://schemas.microsoft.com/office/drawing/2014/main" id="{2751A97A-C0CD-4EA3-998D-18578D1F924A}"/>
              </a:ext>
            </a:extLst>
          </p:cNvPr>
          <p:cNvSpPr/>
          <p:nvPr/>
        </p:nvSpPr>
        <p:spPr>
          <a:xfrm>
            <a:off x="10040112" y="4133088"/>
            <a:ext cx="12984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9B6C14"/>
                </a:solidFill>
              </a:rPr>
              <a:t>PIR</a:t>
            </a:r>
            <a:endParaRPr lang="en-US" sz="2300" dirty="0"/>
          </a:p>
        </p:txBody>
      </p:sp>
      <p:sp>
        <p:nvSpPr>
          <p:cNvPr id="34" name="Text 12">
            <a:extLst>
              <a:ext uri="{FF2B5EF4-FFF2-40B4-BE49-F238E27FC236}">
                <a16:creationId xmlns:a16="http://schemas.microsoft.com/office/drawing/2014/main" id="{7DB98A0B-0C74-4D1C-B432-6887CE44EA08}"/>
              </a:ext>
            </a:extLst>
          </p:cNvPr>
          <p:cNvSpPr/>
          <p:nvPr/>
        </p:nvSpPr>
        <p:spPr>
          <a:xfrm>
            <a:off x="9893808" y="4498848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17067"/>
                </a:solidFill>
              </a:rPr>
              <a:t>dispara GPIO →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617067"/>
                </a:solidFill>
              </a:rPr>
              <a:t>captura inteligente</a:t>
            </a:r>
            <a:endParaRPr lang="en-US" sz="900" dirty="0"/>
          </a:p>
        </p:txBody>
      </p:sp>
      <p:sp>
        <p:nvSpPr>
          <p:cNvPr id="35" name="Shape 13">
            <a:extLst>
              <a:ext uri="{FF2B5EF4-FFF2-40B4-BE49-F238E27FC236}">
                <a16:creationId xmlns:a16="http://schemas.microsoft.com/office/drawing/2014/main" id="{CDA85AA3-34F9-418A-BCA4-BBA0BFE799FF}"/>
              </a:ext>
            </a:extLst>
          </p:cNvPr>
          <p:cNvSpPr/>
          <p:nvPr/>
        </p:nvSpPr>
        <p:spPr>
          <a:xfrm>
            <a:off x="9802368" y="5358384"/>
            <a:ext cx="1783080" cy="475488"/>
          </a:xfrm>
          <a:prstGeom prst="roundRect">
            <a:avLst>
              <a:gd name="adj" fmla="val 15385"/>
            </a:avLst>
          </a:prstGeom>
          <a:solidFill>
            <a:srgbClr val="0E2E22"/>
          </a:solidFill>
          <a:ln w="12700">
            <a:solidFill>
              <a:srgbClr val="0E2E22"/>
            </a:solidFill>
            <a:prstDash val="solid"/>
          </a:ln>
        </p:spPr>
      </p:sp>
      <p:sp>
        <p:nvSpPr>
          <p:cNvPr id="36" name="Text 14">
            <a:extLst>
              <a:ext uri="{FF2B5EF4-FFF2-40B4-BE49-F238E27FC236}">
                <a16:creationId xmlns:a16="http://schemas.microsoft.com/office/drawing/2014/main" id="{2A43501A-C411-4E98-9CCA-792DDB215876}"/>
              </a:ext>
            </a:extLst>
          </p:cNvPr>
          <p:cNvSpPr/>
          <p:nvPr/>
        </p:nvSpPr>
        <p:spPr>
          <a:xfrm>
            <a:off x="9957816" y="5513832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Edge AI</a:t>
            </a:r>
            <a:endParaRPr lang="en-US" sz="1200" dirty="0"/>
          </a:p>
        </p:txBody>
      </p:sp>
      <p:pic>
        <p:nvPicPr>
          <p:cNvPr id="37" name="Imagen 36">
            <a:extLst>
              <a:ext uri="{FF2B5EF4-FFF2-40B4-BE49-F238E27FC236}">
                <a16:creationId xmlns:a16="http://schemas.microsoft.com/office/drawing/2014/main" id="{796FECA1-DC00-46BB-A692-39B10590C65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921" y="1439051"/>
            <a:ext cx="8988559" cy="38096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94954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ED6046-7FBA-AD88-F0E2-C9EC2BB0E5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lecha: pentágono 11">
            <a:extLst>
              <a:ext uri="{FF2B5EF4-FFF2-40B4-BE49-F238E27FC236}">
                <a16:creationId xmlns:a16="http://schemas.microsoft.com/office/drawing/2014/main" id="{383B9953-D494-4B31-AA51-7C14DD478B7E}"/>
              </a:ext>
            </a:extLst>
          </p:cNvPr>
          <p:cNvSpPr/>
          <p:nvPr/>
        </p:nvSpPr>
        <p:spPr>
          <a:xfrm>
            <a:off x="283348" y="104071"/>
            <a:ext cx="7913360" cy="702986"/>
          </a:xfrm>
          <a:prstGeom prst="homePlate">
            <a:avLst/>
          </a:prstGeom>
          <a:solidFill>
            <a:srgbClr val="C00000"/>
          </a:solidFill>
          <a:ln/>
          <a:scene3d>
            <a:camera prst="orthographicFront"/>
            <a:lightRig rig="threePt" dir="t"/>
          </a:scene3d>
          <a:sp3d>
            <a:bevelT w="165100" prst="coolSlant"/>
          </a:sp3d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s-US" sz="2400" b="1" noProof="0" dirty="0">
              <a:solidFill>
                <a:srgbClr val="FFFF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s-US" sz="2400" b="1" noProof="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Desarrollo :Diagrama de </a:t>
            </a:r>
            <a:r>
              <a:rPr lang="es-MX" sz="2400" b="1" noProof="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Flujo , decisión local y alerta</a:t>
            </a:r>
          </a:p>
          <a:p>
            <a:r>
              <a:rPr lang="es-US" sz="2400" b="1" noProof="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s-US" sz="2400" b="1" noProof="0" dirty="0">
              <a:solidFill>
                <a:schemeClr val="bg1"/>
              </a:solidFill>
            </a:endParaRP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3BE2F439-3399-07B2-5CC8-F0B84770BD80}"/>
              </a:ext>
            </a:extLst>
          </p:cNvPr>
          <p:cNvSpPr/>
          <p:nvPr/>
        </p:nvSpPr>
        <p:spPr>
          <a:xfrm>
            <a:off x="5526157" y="6092687"/>
            <a:ext cx="6665843" cy="765313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US" noProof="0" dirty="0"/>
          </a:p>
        </p:txBody>
      </p:sp>
      <p:sp>
        <p:nvSpPr>
          <p:cNvPr id="11" name="Recortar rectángulo de una esquina 9">
            <a:extLst>
              <a:ext uri="{FF2B5EF4-FFF2-40B4-BE49-F238E27FC236}">
                <a16:creationId xmlns:a16="http://schemas.microsoft.com/office/drawing/2014/main" id="{AA24DCA0-A0BC-1896-AEE7-74E5FE4B836F}"/>
              </a:ext>
            </a:extLst>
          </p:cNvPr>
          <p:cNvSpPr/>
          <p:nvPr/>
        </p:nvSpPr>
        <p:spPr>
          <a:xfrm>
            <a:off x="-9939" y="5814391"/>
            <a:ext cx="5903843" cy="1053548"/>
          </a:xfrm>
          <a:prstGeom prst="snip1Rect">
            <a:avLst>
              <a:gd name="adj" fmla="val 50000"/>
            </a:avLst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US" noProof="0" dirty="0"/>
          </a:p>
        </p:txBody>
      </p:sp>
      <p:pic>
        <p:nvPicPr>
          <p:cNvPr id="14" name="Imagen 13">
            <a:extLst>
              <a:ext uri="{FF2B5EF4-FFF2-40B4-BE49-F238E27FC236}">
                <a16:creationId xmlns:a16="http://schemas.microsoft.com/office/drawing/2014/main" id="{42C7265F-CDE4-D574-1F36-9A14E4075F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0767" y="5928401"/>
            <a:ext cx="2827669" cy="825528"/>
          </a:xfrm>
          <a:prstGeom prst="rect">
            <a:avLst/>
          </a:prstGeom>
        </p:spPr>
      </p:pic>
      <p:pic>
        <p:nvPicPr>
          <p:cNvPr id="15" name="Imagen 14">
            <a:extLst>
              <a:ext uri="{FF2B5EF4-FFF2-40B4-BE49-F238E27FC236}">
                <a16:creationId xmlns:a16="http://schemas.microsoft.com/office/drawing/2014/main" id="{D1BFFD12-CED7-2EEB-7309-89524E5239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61751" y="5963285"/>
            <a:ext cx="3962401" cy="1024115"/>
          </a:xfrm>
          <a:prstGeom prst="rect">
            <a:avLst/>
          </a:prstGeom>
        </p:spPr>
      </p:pic>
      <p:sp>
        <p:nvSpPr>
          <p:cNvPr id="13" name="Shape 2">
            <a:extLst>
              <a:ext uri="{FF2B5EF4-FFF2-40B4-BE49-F238E27FC236}">
                <a16:creationId xmlns:a16="http://schemas.microsoft.com/office/drawing/2014/main" id="{ADC93287-E43A-40F1-A611-0F32E23E235E}"/>
              </a:ext>
            </a:extLst>
          </p:cNvPr>
          <p:cNvSpPr/>
          <p:nvPr/>
        </p:nvSpPr>
        <p:spPr>
          <a:xfrm>
            <a:off x="-1" y="1004249"/>
            <a:ext cx="8098033" cy="81104"/>
          </a:xfrm>
          <a:prstGeom prst="line">
            <a:avLst/>
          </a:prstGeom>
          <a:noFill/>
          <a:ln w="13970">
            <a:solidFill>
              <a:srgbClr val="C9D4CC"/>
            </a:solidFill>
            <a:prstDash val="solid"/>
          </a:ln>
        </p:spPr>
      </p:sp>
      <p:pic>
        <p:nvPicPr>
          <p:cNvPr id="26" name="Image 0" descr="/mnt/data/thesis_media/image22.png">
            <a:extLst>
              <a:ext uri="{FF2B5EF4-FFF2-40B4-BE49-F238E27FC236}">
                <a16:creationId xmlns:a16="http://schemas.microsoft.com/office/drawing/2014/main" id="{DEFFE001-B4C1-48D9-959D-7BDE21F0853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00650" y="26801"/>
            <a:ext cx="3413035" cy="6025772"/>
          </a:xfrm>
          <a:prstGeom prst="rect">
            <a:avLst/>
          </a:prstGeom>
        </p:spPr>
      </p:pic>
      <p:sp>
        <p:nvSpPr>
          <p:cNvPr id="28" name="Shape 6">
            <a:extLst>
              <a:ext uri="{FF2B5EF4-FFF2-40B4-BE49-F238E27FC236}">
                <a16:creationId xmlns:a16="http://schemas.microsoft.com/office/drawing/2014/main" id="{A2AF7396-DC6B-4E16-A55B-405886161025}"/>
              </a:ext>
            </a:extLst>
          </p:cNvPr>
          <p:cNvSpPr/>
          <p:nvPr/>
        </p:nvSpPr>
        <p:spPr>
          <a:xfrm>
            <a:off x="331203" y="1448631"/>
            <a:ext cx="6355080" cy="621792"/>
          </a:xfrm>
          <a:prstGeom prst="roundRect">
            <a:avLst>
              <a:gd name="adj" fmla="val 11765"/>
            </a:avLst>
          </a:prstGeom>
          <a:solidFill>
            <a:srgbClr val="DCEBDF"/>
          </a:solidFill>
          <a:ln w="12700">
            <a:solidFill>
              <a:srgbClr val="DCEBDF"/>
            </a:solidFill>
            <a:prstDash val="solid"/>
          </a:ln>
        </p:spPr>
      </p:sp>
      <p:sp>
        <p:nvSpPr>
          <p:cNvPr id="29" name="Text 7">
            <a:extLst>
              <a:ext uri="{FF2B5EF4-FFF2-40B4-BE49-F238E27FC236}">
                <a16:creationId xmlns:a16="http://schemas.microsoft.com/office/drawing/2014/main" id="{2CF3C29E-7F39-465B-B22A-79693BF6ED3C}"/>
              </a:ext>
            </a:extLst>
          </p:cNvPr>
          <p:cNvSpPr/>
          <p:nvPr/>
        </p:nvSpPr>
        <p:spPr>
          <a:xfrm>
            <a:off x="514083" y="1613223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E2E22"/>
                </a:solidFill>
              </a:rPr>
              <a:t>01</a:t>
            </a:r>
            <a:endParaRPr lang="en-US" sz="900" dirty="0"/>
          </a:p>
        </p:txBody>
      </p:sp>
      <p:sp>
        <p:nvSpPr>
          <p:cNvPr id="30" name="Text 8">
            <a:extLst>
              <a:ext uri="{FF2B5EF4-FFF2-40B4-BE49-F238E27FC236}">
                <a16:creationId xmlns:a16="http://schemas.microsoft.com/office/drawing/2014/main" id="{26E41308-042D-4C6D-B995-4A7E37DDCFA4}"/>
              </a:ext>
            </a:extLst>
          </p:cNvPr>
          <p:cNvSpPr/>
          <p:nvPr/>
        </p:nvSpPr>
        <p:spPr>
          <a:xfrm>
            <a:off x="989571" y="1567503"/>
            <a:ext cx="14173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E2E22"/>
                </a:solidFill>
              </a:rPr>
              <a:t>Inicializa</a:t>
            </a:r>
            <a:endParaRPr lang="en-US" sz="1200" dirty="0"/>
          </a:p>
        </p:txBody>
      </p:sp>
      <p:sp>
        <p:nvSpPr>
          <p:cNvPr id="31" name="Text 9">
            <a:extLst>
              <a:ext uri="{FF2B5EF4-FFF2-40B4-BE49-F238E27FC236}">
                <a16:creationId xmlns:a16="http://schemas.microsoft.com/office/drawing/2014/main" id="{9D4FE304-048D-487B-A9F8-B65E7F711A0F}"/>
              </a:ext>
            </a:extLst>
          </p:cNvPr>
          <p:cNvSpPr/>
          <p:nvPr/>
        </p:nvSpPr>
        <p:spPr>
          <a:xfrm>
            <a:off x="2434323" y="1567503"/>
            <a:ext cx="39776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17067"/>
                </a:solidFill>
              </a:rPr>
              <a:t>librerías + GPIO + red</a:t>
            </a:r>
            <a:endParaRPr lang="en-US" sz="1000" dirty="0"/>
          </a:p>
        </p:txBody>
      </p:sp>
      <p:sp>
        <p:nvSpPr>
          <p:cNvPr id="32" name="Shape 10">
            <a:extLst>
              <a:ext uri="{FF2B5EF4-FFF2-40B4-BE49-F238E27FC236}">
                <a16:creationId xmlns:a16="http://schemas.microsoft.com/office/drawing/2014/main" id="{04CE6F9A-38B2-4949-AE1C-8E1AFC3B2492}"/>
              </a:ext>
            </a:extLst>
          </p:cNvPr>
          <p:cNvSpPr/>
          <p:nvPr/>
        </p:nvSpPr>
        <p:spPr>
          <a:xfrm>
            <a:off x="331203" y="2244159"/>
            <a:ext cx="6355080" cy="621792"/>
          </a:xfrm>
          <a:prstGeom prst="roundRect">
            <a:avLst>
              <a:gd name="adj" fmla="val 11765"/>
            </a:avLst>
          </a:prstGeom>
          <a:solidFill>
            <a:srgbClr val="EAF3E8"/>
          </a:solidFill>
          <a:ln w="12700">
            <a:solidFill>
              <a:srgbClr val="EAF3E8"/>
            </a:solidFill>
            <a:prstDash val="solid"/>
          </a:ln>
        </p:spPr>
      </p:sp>
      <p:sp>
        <p:nvSpPr>
          <p:cNvPr id="33" name="Text 11">
            <a:extLst>
              <a:ext uri="{FF2B5EF4-FFF2-40B4-BE49-F238E27FC236}">
                <a16:creationId xmlns:a16="http://schemas.microsoft.com/office/drawing/2014/main" id="{7DA02115-69AB-4342-8F4F-0E2DD576BC05}"/>
              </a:ext>
            </a:extLst>
          </p:cNvPr>
          <p:cNvSpPr/>
          <p:nvPr/>
        </p:nvSpPr>
        <p:spPr>
          <a:xfrm>
            <a:off x="514083" y="2408751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5F8F3D"/>
                </a:solidFill>
              </a:rPr>
              <a:t>02</a:t>
            </a:r>
            <a:endParaRPr lang="en-US" sz="900" dirty="0"/>
          </a:p>
        </p:txBody>
      </p:sp>
      <p:sp>
        <p:nvSpPr>
          <p:cNvPr id="34" name="Text 12">
            <a:extLst>
              <a:ext uri="{FF2B5EF4-FFF2-40B4-BE49-F238E27FC236}">
                <a16:creationId xmlns:a16="http://schemas.microsoft.com/office/drawing/2014/main" id="{D68EB5C0-138E-4BDD-A336-8357C56BD8FD}"/>
              </a:ext>
            </a:extLst>
          </p:cNvPr>
          <p:cNvSpPr/>
          <p:nvPr/>
        </p:nvSpPr>
        <p:spPr>
          <a:xfrm>
            <a:off x="989571" y="2363031"/>
            <a:ext cx="14173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E2E22"/>
                </a:solidFill>
              </a:rPr>
              <a:t>Despierta</a:t>
            </a:r>
            <a:endParaRPr lang="en-US" sz="1200" dirty="0"/>
          </a:p>
        </p:txBody>
      </p:sp>
      <p:sp>
        <p:nvSpPr>
          <p:cNvPr id="35" name="Text 13">
            <a:extLst>
              <a:ext uri="{FF2B5EF4-FFF2-40B4-BE49-F238E27FC236}">
                <a16:creationId xmlns:a16="http://schemas.microsoft.com/office/drawing/2014/main" id="{CCF8E888-C596-487C-8E1E-7AB6718B5333}"/>
              </a:ext>
            </a:extLst>
          </p:cNvPr>
          <p:cNvSpPr/>
          <p:nvPr/>
        </p:nvSpPr>
        <p:spPr>
          <a:xfrm>
            <a:off x="2434323" y="2363031"/>
            <a:ext cx="39776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17067"/>
                </a:solidFill>
              </a:rPr>
              <a:t>PIR activa captura</a:t>
            </a:r>
            <a:endParaRPr lang="en-US" sz="1000" dirty="0"/>
          </a:p>
        </p:txBody>
      </p:sp>
      <p:sp>
        <p:nvSpPr>
          <p:cNvPr id="36" name="Shape 14">
            <a:extLst>
              <a:ext uri="{FF2B5EF4-FFF2-40B4-BE49-F238E27FC236}">
                <a16:creationId xmlns:a16="http://schemas.microsoft.com/office/drawing/2014/main" id="{DDA16C6B-51E5-4963-81F2-526D57EB7BA2}"/>
              </a:ext>
            </a:extLst>
          </p:cNvPr>
          <p:cNvSpPr/>
          <p:nvPr/>
        </p:nvSpPr>
        <p:spPr>
          <a:xfrm>
            <a:off x="331203" y="3039687"/>
            <a:ext cx="6355080" cy="621792"/>
          </a:xfrm>
          <a:prstGeom prst="roundRect">
            <a:avLst>
              <a:gd name="adj" fmla="val 11765"/>
            </a:avLst>
          </a:prstGeom>
          <a:solidFill>
            <a:srgbClr val="E6F2F2"/>
          </a:solidFill>
          <a:ln w="12700">
            <a:solidFill>
              <a:srgbClr val="E6F2F2"/>
            </a:solidFill>
            <a:prstDash val="solid"/>
          </a:ln>
        </p:spPr>
      </p:sp>
      <p:sp>
        <p:nvSpPr>
          <p:cNvPr id="37" name="Text 15">
            <a:extLst>
              <a:ext uri="{FF2B5EF4-FFF2-40B4-BE49-F238E27FC236}">
                <a16:creationId xmlns:a16="http://schemas.microsoft.com/office/drawing/2014/main" id="{86EA3C8A-B872-4234-893D-0DE40F9BFBC5}"/>
              </a:ext>
            </a:extLst>
          </p:cNvPr>
          <p:cNvSpPr/>
          <p:nvPr/>
        </p:nvSpPr>
        <p:spPr>
          <a:xfrm>
            <a:off x="514083" y="3204279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C7070"/>
                </a:solidFill>
              </a:rPr>
              <a:t>03</a:t>
            </a:r>
            <a:endParaRPr lang="en-US" sz="900" dirty="0"/>
          </a:p>
        </p:txBody>
      </p:sp>
      <p:sp>
        <p:nvSpPr>
          <p:cNvPr id="38" name="Text 16">
            <a:extLst>
              <a:ext uri="{FF2B5EF4-FFF2-40B4-BE49-F238E27FC236}">
                <a16:creationId xmlns:a16="http://schemas.microsoft.com/office/drawing/2014/main" id="{968F401A-7C10-40A9-8959-54EAC687735E}"/>
              </a:ext>
            </a:extLst>
          </p:cNvPr>
          <p:cNvSpPr/>
          <p:nvPr/>
        </p:nvSpPr>
        <p:spPr>
          <a:xfrm>
            <a:off x="989571" y="3158559"/>
            <a:ext cx="14173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E2E22"/>
                </a:solidFill>
              </a:rPr>
              <a:t>Procesa</a:t>
            </a:r>
            <a:endParaRPr lang="en-US" sz="1200" dirty="0"/>
          </a:p>
        </p:txBody>
      </p:sp>
      <p:sp>
        <p:nvSpPr>
          <p:cNvPr id="39" name="Text 17">
            <a:extLst>
              <a:ext uri="{FF2B5EF4-FFF2-40B4-BE49-F238E27FC236}">
                <a16:creationId xmlns:a16="http://schemas.microsoft.com/office/drawing/2014/main" id="{E38EF0F2-9001-44EB-81B5-8F555FF2D12C}"/>
              </a:ext>
            </a:extLst>
          </p:cNvPr>
          <p:cNvSpPr/>
          <p:nvPr/>
        </p:nvSpPr>
        <p:spPr>
          <a:xfrm>
            <a:off x="2434323" y="3158559"/>
            <a:ext cx="39776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17067"/>
                </a:solidFill>
              </a:rPr>
              <a:t>YOLOv8n + EasyOCR</a:t>
            </a:r>
            <a:endParaRPr lang="en-US" sz="1000" dirty="0"/>
          </a:p>
        </p:txBody>
      </p:sp>
      <p:sp>
        <p:nvSpPr>
          <p:cNvPr id="40" name="Shape 18">
            <a:extLst>
              <a:ext uri="{FF2B5EF4-FFF2-40B4-BE49-F238E27FC236}">
                <a16:creationId xmlns:a16="http://schemas.microsoft.com/office/drawing/2014/main" id="{0916F854-07F7-4872-A017-D65262DB51EA}"/>
              </a:ext>
            </a:extLst>
          </p:cNvPr>
          <p:cNvSpPr/>
          <p:nvPr/>
        </p:nvSpPr>
        <p:spPr>
          <a:xfrm>
            <a:off x="331203" y="3835215"/>
            <a:ext cx="6355080" cy="621792"/>
          </a:xfrm>
          <a:prstGeom prst="roundRect">
            <a:avLst>
              <a:gd name="adj" fmla="val 11765"/>
            </a:avLst>
          </a:prstGeom>
          <a:solidFill>
            <a:srgbClr val="FFF4E0"/>
          </a:solidFill>
          <a:ln w="12700">
            <a:solidFill>
              <a:srgbClr val="FFF4E0"/>
            </a:solidFill>
            <a:prstDash val="solid"/>
          </a:ln>
        </p:spPr>
      </p:sp>
      <p:sp>
        <p:nvSpPr>
          <p:cNvPr id="41" name="Text 19">
            <a:extLst>
              <a:ext uri="{FF2B5EF4-FFF2-40B4-BE49-F238E27FC236}">
                <a16:creationId xmlns:a16="http://schemas.microsoft.com/office/drawing/2014/main" id="{13BEF5E5-EE52-474F-905F-5A59AAFDB59A}"/>
              </a:ext>
            </a:extLst>
          </p:cNvPr>
          <p:cNvSpPr/>
          <p:nvPr/>
        </p:nvSpPr>
        <p:spPr>
          <a:xfrm>
            <a:off x="514083" y="3999807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A36E10"/>
                </a:solidFill>
              </a:rPr>
              <a:t>04</a:t>
            </a:r>
            <a:endParaRPr lang="en-US" sz="900" dirty="0"/>
          </a:p>
        </p:txBody>
      </p:sp>
      <p:sp>
        <p:nvSpPr>
          <p:cNvPr id="42" name="Text 20">
            <a:extLst>
              <a:ext uri="{FF2B5EF4-FFF2-40B4-BE49-F238E27FC236}">
                <a16:creationId xmlns:a16="http://schemas.microsoft.com/office/drawing/2014/main" id="{C18E2F9C-29C5-4212-A6A8-B7473B6EDE65}"/>
              </a:ext>
            </a:extLst>
          </p:cNvPr>
          <p:cNvSpPr/>
          <p:nvPr/>
        </p:nvSpPr>
        <p:spPr>
          <a:xfrm>
            <a:off x="989571" y="3954087"/>
            <a:ext cx="14173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E2E22"/>
                </a:solidFill>
              </a:rPr>
              <a:t>Responde</a:t>
            </a:r>
            <a:endParaRPr lang="en-US" sz="1200" dirty="0"/>
          </a:p>
        </p:txBody>
      </p:sp>
      <p:sp>
        <p:nvSpPr>
          <p:cNvPr id="43" name="Text 21">
            <a:extLst>
              <a:ext uri="{FF2B5EF4-FFF2-40B4-BE49-F238E27FC236}">
                <a16:creationId xmlns:a16="http://schemas.microsoft.com/office/drawing/2014/main" id="{B7D0062C-87FC-45F9-A19E-C9971CCF1A84}"/>
              </a:ext>
            </a:extLst>
          </p:cNvPr>
          <p:cNvSpPr/>
          <p:nvPr/>
        </p:nvSpPr>
        <p:spPr>
          <a:xfrm>
            <a:off x="2434323" y="3954087"/>
            <a:ext cx="39776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17067"/>
                </a:solidFill>
              </a:rPr>
              <a:t>Telegram + </a:t>
            </a:r>
            <a:r>
              <a:rPr lang="en-US" sz="1000" dirty="0" err="1">
                <a:solidFill>
                  <a:srgbClr val="617067"/>
                </a:solidFill>
              </a:rPr>
              <a:t>guardado</a:t>
            </a:r>
            <a:r>
              <a:rPr lang="en-US" sz="1000" dirty="0">
                <a:solidFill>
                  <a:srgbClr val="617067"/>
                </a:solidFill>
              </a:rPr>
              <a:t> local + </a:t>
            </a:r>
            <a:r>
              <a:rPr lang="es-EC" sz="1000" dirty="0">
                <a:solidFill>
                  <a:srgbClr val="617067"/>
                </a:solidFill>
              </a:rPr>
              <a:t>guardado</a:t>
            </a:r>
            <a:r>
              <a:rPr lang="en-US" sz="1000" dirty="0">
                <a:solidFill>
                  <a:srgbClr val="617067"/>
                </a:solidFill>
              </a:rPr>
              <a:t> web</a:t>
            </a:r>
            <a:endParaRPr lang="en-US" sz="1000" dirty="0"/>
          </a:p>
        </p:txBody>
      </p:sp>
      <p:sp>
        <p:nvSpPr>
          <p:cNvPr id="44" name="Text 22">
            <a:extLst>
              <a:ext uri="{FF2B5EF4-FFF2-40B4-BE49-F238E27FC236}">
                <a16:creationId xmlns:a16="http://schemas.microsoft.com/office/drawing/2014/main" id="{50F00135-762C-4614-8682-9F3C101C30C9}"/>
              </a:ext>
            </a:extLst>
          </p:cNvPr>
          <p:cNvSpPr/>
          <p:nvPr/>
        </p:nvSpPr>
        <p:spPr>
          <a:xfrm>
            <a:off x="331203" y="4649031"/>
            <a:ext cx="6355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4221B"/>
                </a:solidFill>
              </a:rPr>
              <a:t>Sin detección  → vuelve a espera.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4221B"/>
                </a:solidFill>
              </a:rPr>
              <a:t>Vehículo → evidencia + placa (cuando OCR es legible).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4221B"/>
                </a:solidFill>
              </a:rPr>
              <a:t>Persona → evidencia + alerta.</a:t>
            </a:r>
            <a:endParaRPr lang="en-US" sz="1050" dirty="0"/>
          </a:p>
        </p:txBody>
      </p:sp>
    </p:spTree>
    <p:extLst>
      <p:ext uri="{BB962C8B-B14F-4D97-AF65-F5344CB8AC3E}">
        <p14:creationId xmlns:p14="http://schemas.microsoft.com/office/powerpoint/2010/main" val="119029642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ED6046-7FBA-AD88-F0E2-C9EC2BB0E5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lecha: pentágono 11">
            <a:extLst>
              <a:ext uri="{FF2B5EF4-FFF2-40B4-BE49-F238E27FC236}">
                <a16:creationId xmlns:a16="http://schemas.microsoft.com/office/drawing/2014/main" id="{383B9953-D494-4B31-AA51-7C14DD478B7E}"/>
              </a:ext>
            </a:extLst>
          </p:cNvPr>
          <p:cNvSpPr/>
          <p:nvPr/>
        </p:nvSpPr>
        <p:spPr>
          <a:xfrm>
            <a:off x="283348" y="104071"/>
            <a:ext cx="7729375" cy="702986"/>
          </a:xfrm>
          <a:prstGeom prst="homePlate">
            <a:avLst/>
          </a:prstGeom>
          <a:solidFill>
            <a:srgbClr val="C00000"/>
          </a:solidFill>
          <a:ln/>
          <a:scene3d>
            <a:camera prst="orthographicFront"/>
            <a:lightRig rig="threePt" dir="t"/>
          </a:scene3d>
          <a:sp3d>
            <a:bevelT w="165100" prst="coolSlant"/>
          </a:sp3d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US" sz="2400" b="1" noProof="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Desarrollo :</a:t>
            </a:r>
            <a:r>
              <a:rPr lang="es-MX" sz="2400" b="1" noProof="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Implementación física del prototipo</a:t>
            </a:r>
          </a:p>
          <a:p>
            <a:r>
              <a:rPr lang="es-US" sz="2400" b="1" noProof="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s-US" sz="2400" b="1" noProof="0" dirty="0">
              <a:solidFill>
                <a:schemeClr val="bg1"/>
              </a:solidFill>
            </a:endParaRP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3BE2F439-3399-07B2-5CC8-F0B84770BD80}"/>
              </a:ext>
            </a:extLst>
          </p:cNvPr>
          <p:cNvSpPr/>
          <p:nvPr/>
        </p:nvSpPr>
        <p:spPr>
          <a:xfrm>
            <a:off x="5526157" y="6092687"/>
            <a:ext cx="6665843" cy="765313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US" noProof="0" dirty="0"/>
          </a:p>
        </p:txBody>
      </p:sp>
      <p:sp>
        <p:nvSpPr>
          <p:cNvPr id="11" name="Recortar rectángulo de una esquina 9">
            <a:extLst>
              <a:ext uri="{FF2B5EF4-FFF2-40B4-BE49-F238E27FC236}">
                <a16:creationId xmlns:a16="http://schemas.microsoft.com/office/drawing/2014/main" id="{AA24DCA0-A0BC-1896-AEE7-74E5FE4B836F}"/>
              </a:ext>
            </a:extLst>
          </p:cNvPr>
          <p:cNvSpPr/>
          <p:nvPr/>
        </p:nvSpPr>
        <p:spPr>
          <a:xfrm>
            <a:off x="-9939" y="5814391"/>
            <a:ext cx="5903843" cy="1053548"/>
          </a:xfrm>
          <a:prstGeom prst="snip1Rect">
            <a:avLst>
              <a:gd name="adj" fmla="val 50000"/>
            </a:avLst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US" noProof="0" dirty="0"/>
          </a:p>
        </p:txBody>
      </p:sp>
      <p:pic>
        <p:nvPicPr>
          <p:cNvPr id="14" name="Imagen 13">
            <a:extLst>
              <a:ext uri="{FF2B5EF4-FFF2-40B4-BE49-F238E27FC236}">
                <a16:creationId xmlns:a16="http://schemas.microsoft.com/office/drawing/2014/main" id="{42C7265F-CDE4-D574-1F36-9A14E4075F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0767" y="5928401"/>
            <a:ext cx="2827669" cy="825528"/>
          </a:xfrm>
          <a:prstGeom prst="rect">
            <a:avLst/>
          </a:prstGeom>
        </p:spPr>
      </p:pic>
      <p:pic>
        <p:nvPicPr>
          <p:cNvPr id="15" name="Imagen 14">
            <a:extLst>
              <a:ext uri="{FF2B5EF4-FFF2-40B4-BE49-F238E27FC236}">
                <a16:creationId xmlns:a16="http://schemas.microsoft.com/office/drawing/2014/main" id="{D1BFFD12-CED7-2EEB-7309-89524E5239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61751" y="5963285"/>
            <a:ext cx="3962401" cy="1024115"/>
          </a:xfrm>
          <a:prstGeom prst="rect">
            <a:avLst/>
          </a:prstGeom>
        </p:spPr>
      </p:pic>
      <p:sp>
        <p:nvSpPr>
          <p:cNvPr id="13" name="Shape 2">
            <a:extLst>
              <a:ext uri="{FF2B5EF4-FFF2-40B4-BE49-F238E27FC236}">
                <a16:creationId xmlns:a16="http://schemas.microsoft.com/office/drawing/2014/main" id="{ADC93287-E43A-40F1-A611-0F32E23E235E}"/>
              </a:ext>
            </a:extLst>
          </p:cNvPr>
          <p:cNvSpPr/>
          <p:nvPr/>
        </p:nvSpPr>
        <p:spPr>
          <a:xfrm>
            <a:off x="-1" y="1004249"/>
            <a:ext cx="12150969" cy="81104"/>
          </a:xfrm>
          <a:prstGeom prst="line">
            <a:avLst/>
          </a:prstGeom>
          <a:noFill/>
          <a:ln w="13970">
            <a:solidFill>
              <a:srgbClr val="C9D4CC"/>
            </a:solidFill>
            <a:prstDash val="solid"/>
          </a:ln>
        </p:spPr>
      </p:sp>
      <p:pic>
        <p:nvPicPr>
          <p:cNvPr id="34" name="Image 1" descr="/mnt/data/thesis_media/image35.jpeg">
            <a:extLst>
              <a:ext uri="{FF2B5EF4-FFF2-40B4-BE49-F238E27FC236}">
                <a16:creationId xmlns:a16="http://schemas.microsoft.com/office/drawing/2014/main" id="{F86172F4-4464-49E7-93CC-C16CDF3A58B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47514" y="1211688"/>
            <a:ext cx="3840480" cy="2878339"/>
          </a:xfrm>
          <a:prstGeom prst="rect">
            <a:avLst/>
          </a:prstGeom>
        </p:spPr>
      </p:pic>
      <p:pic>
        <p:nvPicPr>
          <p:cNvPr id="35" name="Image 2" descr="/mnt/data/thesis_media/image36.jpeg">
            <a:extLst>
              <a:ext uri="{FF2B5EF4-FFF2-40B4-BE49-F238E27FC236}">
                <a16:creationId xmlns:a16="http://schemas.microsoft.com/office/drawing/2014/main" id="{EB819D8E-ADE2-4C5A-892D-950814C41D5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16594" y="1228865"/>
            <a:ext cx="3794760" cy="2843985"/>
          </a:xfrm>
          <a:prstGeom prst="rect">
            <a:avLst/>
          </a:prstGeom>
        </p:spPr>
      </p:pic>
      <p:sp>
        <p:nvSpPr>
          <p:cNvPr id="36" name="Text 3">
            <a:extLst>
              <a:ext uri="{FF2B5EF4-FFF2-40B4-BE49-F238E27FC236}">
                <a16:creationId xmlns:a16="http://schemas.microsoft.com/office/drawing/2014/main" id="{7102423E-DA9C-49E0-9EDC-61D0F8BCF59B}"/>
              </a:ext>
            </a:extLst>
          </p:cNvPr>
          <p:cNvSpPr/>
          <p:nvPr/>
        </p:nvSpPr>
        <p:spPr>
          <a:xfrm>
            <a:off x="555674" y="5471781"/>
            <a:ext cx="3063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6170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Nodo elevado en campo</a:t>
            </a:r>
            <a:endParaRPr lang="en-US" sz="800" dirty="0"/>
          </a:p>
        </p:txBody>
      </p:sp>
      <p:sp>
        <p:nvSpPr>
          <p:cNvPr id="37" name="Text 4">
            <a:extLst>
              <a:ext uri="{FF2B5EF4-FFF2-40B4-BE49-F238E27FC236}">
                <a16:creationId xmlns:a16="http://schemas.microsoft.com/office/drawing/2014/main" id="{CAB4C5A5-2D09-4522-9925-5795CCC75233}"/>
              </a:ext>
            </a:extLst>
          </p:cNvPr>
          <p:cNvSpPr/>
          <p:nvPr/>
        </p:nvSpPr>
        <p:spPr>
          <a:xfrm>
            <a:off x="3847514" y="4173333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6170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Panel solar monocristalino</a:t>
            </a:r>
            <a:endParaRPr lang="en-US" sz="800" dirty="0"/>
          </a:p>
        </p:txBody>
      </p:sp>
      <p:sp>
        <p:nvSpPr>
          <p:cNvPr id="38" name="Text 5">
            <a:extLst>
              <a:ext uri="{FF2B5EF4-FFF2-40B4-BE49-F238E27FC236}">
                <a16:creationId xmlns:a16="http://schemas.microsoft.com/office/drawing/2014/main" id="{A6B1065E-690A-4A5E-A307-D6DF905EFF58}"/>
              </a:ext>
            </a:extLst>
          </p:cNvPr>
          <p:cNvSpPr/>
          <p:nvPr/>
        </p:nvSpPr>
        <p:spPr>
          <a:xfrm>
            <a:off x="7916594" y="4173333"/>
            <a:ext cx="3794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6170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Electrónica protegida en gabinete</a:t>
            </a:r>
            <a:endParaRPr lang="en-US" sz="800" dirty="0"/>
          </a:p>
        </p:txBody>
      </p:sp>
      <p:sp>
        <p:nvSpPr>
          <p:cNvPr id="39" name="Shape 6">
            <a:extLst>
              <a:ext uri="{FF2B5EF4-FFF2-40B4-BE49-F238E27FC236}">
                <a16:creationId xmlns:a16="http://schemas.microsoft.com/office/drawing/2014/main" id="{74E7513B-BF23-41DF-B28E-F4BAA6D587E3}"/>
              </a:ext>
            </a:extLst>
          </p:cNvPr>
          <p:cNvSpPr/>
          <p:nvPr/>
        </p:nvSpPr>
        <p:spPr>
          <a:xfrm>
            <a:off x="3847514" y="4685397"/>
            <a:ext cx="7863840" cy="804672"/>
          </a:xfrm>
          <a:prstGeom prst="roundRect">
            <a:avLst>
              <a:gd name="adj" fmla="val 9091"/>
            </a:avLst>
          </a:prstGeom>
          <a:solidFill>
            <a:srgbClr val="0E2E22"/>
          </a:solidFill>
          <a:ln w="12700">
            <a:solidFill>
              <a:srgbClr val="0E2E22"/>
            </a:solidFill>
            <a:prstDash val="solid"/>
          </a:ln>
        </p:spPr>
      </p:sp>
      <p:sp>
        <p:nvSpPr>
          <p:cNvPr id="40" name="Text 7">
            <a:extLst>
              <a:ext uri="{FF2B5EF4-FFF2-40B4-BE49-F238E27FC236}">
                <a16:creationId xmlns:a16="http://schemas.microsoft.com/office/drawing/2014/main" id="{8B3E6724-C5D4-499E-BEA4-67D5B4E67198}"/>
              </a:ext>
            </a:extLst>
          </p:cNvPr>
          <p:cNvSpPr/>
          <p:nvPr/>
        </p:nvSpPr>
        <p:spPr>
          <a:xfrm>
            <a:off x="4121834" y="4950573"/>
            <a:ext cx="73334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AUTÓNOMO + PROTEGIDO + OPERABLE EN ENTORNO RURAL</a:t>
            </a:r>
            <a:endParaRPr lang="en-US" sz="1500" dirty="0"/>
          </a:p>
        </p:txBody>
      </p:sp>
      <p:sp>
        <p:nvSpPr>
          <p:cNvPr id="41" name="Text 8">
            <a:extLst>
              <a:ext uri="{FF2B5EF4-FFF2-40B4-BE49-F238E27FC236}">
                <a16:creationId xmlns:a16="http://schemas.microsoft.com/office/drawing/2014/main" id="{AB6B1A9D-58B7-4DE5-BCD3-A4B6CD8BDBDC}"/>
              </a:ext>
            </a:extLst>
          </p:cNvPr>
          <p:cNvSpPr/>
          <p:nvPr/>
        </p:nvSpPr>
        <p:spPr>
          <a:xfrm>
            <a:off x="4121834" y="5343765"/>
            <a:ext cx="733348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DCEBE1"/>
                </a:solidFill>
              </a:rPr>
              <a:t>Estructura elevada • energía solar • gabinete IP65 • acceso remoto</a:t>
            </a:r>
            <a:endParaRPr lang="en-US" sz="900" dirty="0"/>
          </a:p>
        </p:txBody>
      </p:sp>
      <p:pic>
        <p:nvPicPr>
          <p:cNvPr id="42" name="Imagen 41">
            <a:extLst>
              <a:ext uri="{FF2B5EF4-FFF2-40B4-BE49-F238E27FC236}">
                <a16:creationId xmlns:a16="http://schemas.microsoft.com/office/drawing/2014/main" id="{969EC4BB-8599-4832-A157-DED1165AB8D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2263" y="1373393"/>
            <a:ext cx="3073791" cy="40983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836363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ED6046-7FBA-AD88-F0E2-C9EC2BB0E5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lecha: pentágono 11">
            <a:extLst>
              <a:ext uri="{FF2B5EF4-FFF2-40B4-BE49-F238E27FC236}">
                <a16:creationId xmlns:a16="http://schemas.microsoft.com/office/drawing/2014/main" id="{383B9953-D494-4B31-AA51-7C14DD478B7E}"/>
              </a:ext>
            </a:extLst>
          </p:cNvPr>
          <p:cNvSpPr/>
          <p:nvPr/>
        </p:nvSpPr>
        <p:spPr>
          <a:xfrm>
            <a:off x="283348" y="104071"/>
            <a:ext cx="7729375" cy="702986"/>
          </a:xfrm>
          <a:prstGeom prst="homePlate">
            <a:avLst/>
          </a:prstGeom>
          <a:solidFill>
            <a:srgbClr val="C00000"/>
          </a:solidFill>
          <a:ln/>
          <a:scene3d>
            <a:camera prst="orthographicFront"/>
            <a:lightRig rig="threePt" dir="t"/>
          </a:scene3d>
          <a:sp3d>
            <a:bevelT w="165100" prst="coolSlant"/>
          </a:sp3d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s-US" sz="2400" b="1" noProof="0" dirty="0">
              <a:solidFill>
                <a:srgbClr val="FFFF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s-US" sz="2400" b="1" noProof="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Desarrollo :</a:t>
            </a:r>
            <a:r>
              <a:rPr lang="es-MX" sz="2400" b="1" noProof="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Programación</a:t>
            </a:r>
          </a:p>
          <a:p>
            <a:r>
              <a:rPr lang="es-US" sz="2400" b="1" noProof="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s-US" sz="2400" b="1" noProof="0" dirty="0">
              <a:solidFill>
                <a:schemeClr val="bg1"/>
              </a:solidFill>
            </a:endParaRP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3BE2F439-3399-07B2-5CC8-F0B84770BD80}"/>
              </a:ext>
            </a:extLst>
          </p:cNvPr>
          <p:cNvSpPr/>
          <p:nvPr/>
        </p:nvSpPr>
        <p:spPr>
          <a:xfrm>
            <a:off x="5526157" y="6092687"/>
            <a:ext cx="6665843" cy="765313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US" noProof="0" dirty="0"/>
          </a:p>
        </p:txBody>
      </p:sp>
      <p:sp>
        <p:nvSpPr>
          <p:cNvPr id="11" name="Recortar rectángulo de una esquina 9">
            <a:extLst>
              <a:ext uri="{FF2B5EF4-FFF2-40B4-BE49-F238E27FC236}">
                <a16:creationId xmlns:a16="http://schemas.microsoft.com/office/drawing/2014/main" id="{AA24DCA0-A0BC-1896-AEE7-74E5FE4B836F}"/>
              </a:ext>
            </a:extLst>
          </p:cNvPr>
          <p:cNvSpPr/>
          <p:nvPr/>
        </p:nvSpPr>
        <p:spPr>
          <a:xfrm>
            <a:off x="-9939" y="5814391"/>
            <a:ext cx="5903843" cy="1053548"/>
          </a:xfrm>
          <a:prstGeom prst="snip1Rect">
            <a:avLst>
              <a:gd name="adj" fmla="val 50000"/>
            </a:avLst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US" noProof="0" dirty="0"/>
          </a:p>
        </p:txBody>
      </p:sp>
      <p:pic>
        <p:nvPicPr>
          <p:cNvPr id="14" name="Imagen 13">
            <a:extLst>
              <a:ext uri="{FF2B5EF4-FFF2-40B4-BE49-F238E27FC236}">
                <a16:creationId xmlns:a16="http://schemas.microsoft.com/office/drawing/2014/main" id="{42C7265F-CDE4-D574-1F36-9A14E4075F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0767" y="5928401"/>
            <a:ext cx="2827669" cy="825528"/>
          </a:xfrm>
          <a:prstGeom prst="rect">
            <a:avLst/>
          </a:prstGeom>
        </p:spPr>
      </p:pic>
      <p:pic>
        <p:nvPicPr>
          <p:cNvPr id="15" name="Imagen 14">
            <a:extLst>
              <a:ext uri="{FF2B5EF4-FFF2-40B4-BE49-F238E27FC236}">
                <a16:creationId xmlns:a16="http://schemas.microsoft.com/office/drawing/2014/main" id="{D1BFFD12-CED7-2EEB-7309-89524E5239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61751" y="5963285"/>
            <a:ext cx="3962401" cy="1024115"/>
          </a:xfrm>
          <a:prstGeom prst="rect">
            <a:avLst/>
          </a:prstGeom>
        </p:spPr>
      </p:pic>
      <p:sp>
        <p:nvSpPr>
          <p:cNvPr id="13" name="Shape 2">
            <a:extLst>
              <a:ext uri="{FF2B5EF4-FFF2-40B4-BE49-F238E27FC236}">
                <a16:creationId xmlns:a16="http://schemas.microsoft.com/office/drawing/2014/main" id="{ADC93287-E43A-40F1-A611-0F32E23E235E}"/>
              </a:ext>
            </a:extLst>
          </p:cNvPr>
          <p:cNvSpPr/>
          <p:nvPr/>
        </p:nvSpPr>
        <p:spPr>
          <a:xfrm>
            <a:off x="-1" y="1004249"/>
            <a:ext cx="12150969" cy="81104"/>
          </a:xfrm>
          <a:prstGeom prst="line">
            <a:avLst/>
          </a:prstGeom>
          <a:noFill/>
          <a:ln w="13970">
            <a:solidFill>
              <a:srgbClr val="C9D4CC"/>
            </a:solidFill>
            <a:prstDash val="solid"/>
          </a:ln>
        </p:spPr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FED39B37-C6DB-40B6-A60E-1E6FC193357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6138" y="2907869"/>
            <a:ext cx="4336818" cy="2332244"/>
          </a:xfrm>
          <a:prstGeom prst="rect">
            <a:avLst/>
          </a:prstGeom>
        </p:spPr>
      </p:pic>
      <p:sp>
        <p:nvSpPr>
          <p:cNvPr id="20" name="CuadroTexto 19">
            <a:extLst>
              <a:ext uri="{FF2B5EF4-FFF2-40B4-BE49-F238E27FC236}">
                <a16:creationId xmlns:a16="http://schemas.microsoft.com/office/drawing/2014/main" id="{A7BE3A25-0776-432E-AF7F-B4EE8796BE4B}"/>
              </a:ext>
            </a:extLst>
          </p:cNvPr>
          <p:cNvSpPr txBox="1"/>
          <p:nvPr/>
        </p:nvSpPr>
        <p:spPr>
          <a:xfrm>
            <a:off x="1211491" y="5203388"/>
            <a:ext cx="383930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s-EC" sz="1800" b="1" dirty="0">
                <a:solidFill>
                  <a:srgbClr val="0E2E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Bibliotecas necesarias</a:t>
            </a:r>
            <a:endParaRPr lang="es-EC" sz="1800" dirty="0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B236F95E-A930-4DF9-B7DF-C89B764F8A1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82677" y="1085353"/>
            <a:ext cx="3509478" cy="4073656"/>
          </a:xfrm>
          <a:prstGeom prst="rect">
            <a:avLst/>
          </a:prstGeom>
        </p:spPr>
      </p:pic>
      <p:sp>
        <p:nvSpPr>
          <p:cNvPr id="23" name="CuadroTexto 22">
            <a:extLst>
              <a:ext uri="{FF2B5EF4-FFF2-40B4-BE49-F238E27FC236}">
                <a16:creationId xmlns:a16="http://schemas.microsoft.com/office/drawing/2014/main" id="{80C97435-E496-457E-88B9-AB849EB688F1}"/>
              </a:ext>
            </a:extLst>
          </p:cNvPr>
          <p:cNvSpPr txBox="1"/>
          <p:nvPr/>
        </p:nvSpPr>
        <p:spPr>
          <a:xfrm>
            <a:off x="6729045" y="5240113"/>
            <a:ext cx="383930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s-EC" sz="1800" b="1" dirty="0">
                <a:solidFill>
                  <a:srgbClr val="0E2E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Código Rasberry</a:t>
            </a:r>
            <a:endParaRPr lang="es-EC" sz="1800" dirty="0"/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CB02EE7C-B589-4803-99B1-230C08F63FA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88401" y="1617887"/>
            <a:ext cx="4845293" cy="573151"/>
          </a:xfrm>
          <a:prstGeom prst="rect">
            <a:avLst/>
          </a:prstGeom>
        </p:spPr>
      </p:pic>
      <p:sp>
        <p:nvSpPr>
          <p:cNvPr id="27" name="CuadroTexto 26">
            <a:extLst>
              <a:ext uri="{FF2B5EF4-FFF2-40B4-BE49-F238E27FC236}">
                <a16:creationId xmlns:a16="http://schemas.microsoft.com/office/drawing/2014/main" id="{82B42204-ACDF-4B19-A99A-635D5EB78B25}"/>
              </a:ext>
            </a:extLst>
          </p:cNvPr>
          <p:cNvSpPr txBox="1"/>
          <p:nvPr/>
        </p:nvSpPr>
        <p:spPr>
          <a:xfrm>
            <a:off x="78749" y="2191038"/>
            <a:ext cx="610479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s-EC" sz="1800" b="1" dirty="0">
                <a:solidFill>
                  <a:srgbClr val="0E2E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Inicio de entorno</a:t>
            </a:r>
            <a:endParaRPr lang="es-EC" sz="1800" dirty="0"/>
          </a:p>
        </p:txBody>
      </p:sp>
    </p:spTree>
    <p:extLst>
      <p:ext uri="{BB962C8B-B14F-4D97-AF65-F5344CB8AC3E}">
        <p14:creationId xmlns:p14="http://schemas.microsoft.com/office/powerpoint/2010/main" val="301533017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ED6046-7FBA-AD88-F0E2-C9EC2BB0E5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lecha: pentágono 11">
            <a:extLst>
              <a:ext uri="{FF2B5EF4-FFF2-40B4-BE49-F238E27FC236}">
                <a16:creationId xmlns:a16="http://schemas.microsoft.com/office/drawing/2014/main" id="{383B9953-D494-4B31-AA51-7C14DD478B7E}"/>
              </a:ext>
            </a:extLst>
          </p:cNvPr>
          <p:cNvSpPr/>
          <p:nvPr/>
        </p:nvSpPr>
        <p:spPr>
          <a:xfrm>
            <a:off x="283348" y="104071"/>
            <a:ext cx="7729375" cy="702986"/>
          </a:xfrm>
          <a:prstGeom prst="homePlate">
            <a:avLst/>
          </a:prstGeom>
          <a:solidFill>
            <a:srgbClr val="C00000"/>
          </a:solidFill>
          <a:ln/>
          <a:scene3d>
            <a:camera prst="orthographicFront"/>
            <a:lightRig rig="threePt" dir="t"/>
          </a:scene3d>
          <a:sp3d>
            <a:bevelT w="165100" prst="coolSlant"/>
          </a:sp3d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s-US" sz="2400" b="1" noProof="0" dirty="0">
              <a:solidFill>
                <a:srgbClr val="FFFF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s-US" sz="2400" b="1" noProof="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Desarrollo: </a:t>
            </a:r>
            <a:r>
              <a:rPr lang="es-MX" sz="2400" b="1" noProof="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Programación pagina Web</a:t>
            </a:r>
          </a:p>
          <a:p>
            <a:r>
              <a:rPr lang="es-US" sz="2400" b="1" noProof="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s-US" sz="2400" b="1" noProof="0" dirty="0">
              <a:solidFill>
                <a:schemeClr val="bg1"/>
              </a:solidFill>
            </a:endParaRP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3BE2F439-3399-07B2-5CC8-F0B84770BD80}"/>
              </a:ext>
            </a:extLst>
          </p:cNvPr>
          <p:cNvSpPr/>
          <p:nvPr/>
        </p:nvSpPr>
        <p:spPr>
          <a:xfrm>
            <a:off x="5526157" y="6092687"/>
            <a:ext cx="6665843" cy="765313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US" noProof="0" dirty="0"/>
          </a:p>
        </p:txBody>
      </p:sp>
      <p:sp>
        <p:nvSpPr>
          <p:cNvPr id="11" name="Recortar rectángulo de una esquina 9">
            <a:extLst>
              <a:ext uri="{FF2B5EF4-FFF2-40B4-BE49-F238E27FC236}">
                <a16:creationId xmlns:a16="http://schemas.microsoft.com/office/drawing/2014/main" id="{AA24DCA0-A0BC-1896-AEE7-74E5FE4B836F}"/>
              </a:ext>
            </a:extLst>
          </p:cNvPr>
          <p:cNvSpPr/>
          <p:nvPr/>
        </p:nvSpPr>
        <p:spPr>
          <a:xfrm>
            <a:off x="-9939" y="5814391"/>
            <a:ext cx="5903843" cy="1053548"/>
          </a:xfrm>
          <a:prstGeom prst="snip1Rect">
            <a:avLst>
              <a:gd name="adj" fmla="val 50000"/>
            </a:avLst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US" noProof="0" dirty="0"/>
          </a:p>
        </p:txBody>
      </p:sp>
      <p:pic>
        <p:nvPicPr>
          <p:cNvPr id="14" name="Imagen 13">
            <a:extLst>
              <a:ext uri="{FF2B5EF4-FFF2-40B4-BE49-F238E27FC236}">
                <a16:creationId xmlns:a16="http://schemas.microsoft.com/office/drawing/2014/main" id="{42C7265F-CDE4-D574-1F36-9A14E4075F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0767" y="5928401"/>
            <a:ext cx="2827669" cy="825528"/>
          </a:xfrm>
          <a:prstGeom prst="rect">
            <a:avLst/>
          </a:prstGeom>
        </p:spPr>
      </p:pic>
      <p:pic>
        <p:nvPicPr>
          <p:cNvPr id="15" name="Imagen 14">
            <a:extLst>
              <a:ext uri="{FF2B5EF4-FFF2-40B4-BE49-F238E27FC236}">
                <a16:creationId xmlns:a16="http://schemas.microsoft.com/office/drawing/2014/main" id="{D1BFFD12-CED7-2EEB-7309-89524E5239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61751" y="5963285"/>
            <a:ext cx="3962401" cy="1024115"/>
          </a:xfrm>
          <a:prstGeom prst="rect">
            <a:avLst/>
          </a:prstGeom>
        </p:spPr>
      </p:pic>
      <p:sp>
        <p:nvSpPr>
          <p:cNvPr id="13" name="Shape 2">
            <a:extLst>
              <a:ext uri="{FF2B5EF4-FFF2-40B4-BE49-F238E27FC236}">
                <a16:creationId xmlns:a16="http://schemas.microsoft.com/office/drawing/2014/main" id="{ADC93287-E43A-40F1-A611-0F32E23E235E}"/>
              </a:ext>
            </a:extLst>
          </p:cNvPr>
          <p:cNvSpPr/>
          <p:nvPr/>
        </p:nvSpPr>
        <p:spPr>
          <a:xfrm>
            <a:off x="-1" y="1004249"/>
            <a:ext cx="12150969" cy="81104"/>
          </a:xfrm>
          <a:prstGeom prst="line">
            <a:avLst/>
          </a:prstGeom>
          <a:noFill/>
          <a:ln w="13970">
            <a:solidFill>
              <a:srgbClr val="C9D4CC"/>
            </a:solidFill>
            <a:prstDash val="solid"/>
          </a:ln>
        </p:spPr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0009F9C1-2F30-4E78-ACBD-482DC47204B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86807" y="1133139"/>
            <a:ext cx="3301534" cy="4325815"/>
          </a:xfrm>
          <a:prstGeom prst="rect">
            <a:avLst/>
          </a:prstGeom>
        </p:spPr>
      </p:pic>
      <p:sp>
        <p:nvSpPr>
          <p:cNvPr id="18" name="CuadroTexto 17">
            <a:extLst>
              <a:ext uri="{FF2B5EF4-FFF2-40B4-BE49-F238E27FC236}">
                <a16:creationId xmlns:a16="http://schemas.microsoft.com/office/drawing/2014/main" id="{F3592EFE-EC9B-4043-848C-1B3706D2088C}"/>
              </a:ext>
            </a:extLst>
          </p:cNvPr>
          <p:cNvSpPr txBox="1"/>
          <p:nvPr/>
        </p:nvSpPr>
        <p:spPr>
          <a:xfrm>
            <a:off x="441616" y="4284329"/>
            <a:ext cx="676666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s-MX" dirty="0"/>
              <a:t>Arquitectura de alojamiento web interactivo, vinculando el repositorio de GitHub con el entorno de ejecución de </a:t>
            </a:r>
            <a:r>
              <a:rPr lang="es-MX" dirty="0" err="1"/>
              <a:t>Streamlit</a:t>
            </a:r>
            <a:r>
              <a:rPr lang="es-MX" dirty="0"/>
              <a:t> Cloud.</a:t>
            </a:r>
            <a:endParaRPr lang="es-EC" sz="1800" dirty="0"/>
          </a:p>
        </p:txBody>
      </p:sp>
      <p:pic>
        <p:nvPicPr>
          <p:cNvPr id="16" name="Imagen 15">
            <a:extLst>
              <a:ext uri="{FF2B5EF4-FFF2-40B4-BE49-F238E27FC236}">
                <a16:creationId xmlns:a16="http://schemas.microsoft.com/office/drawing/2014/main" id="{B9CB09A1-F29D-44A0-85B5-A2EEDA4B2B1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1616" y="1133139"/>
            <a:ext cx="6580512" cy="3170211"/>
          </a:xfrm>
          <a:prstGeom prst="rect">
            <a:avLst/>
          </a:prstGeom>
        </p:spPr>
      </p:pic>
      <p:sp>
        <p:nvSpPr>
          <p:cNvPr id="21" name="CuadroTexto 20">
            <a:extLst>
              <a:ext uri="{FF2B5EF4-FFF2-40B4-BE49-F238E27FC236}">
                <a16:creationId xmlns:a16="http://schemas.microsoft.com/office/drawing/2014/main" id="{8D6B71D7-7F61-4FBA-BA4D-BC8E3862E47B}"/>
              </a:ext>
            </a:extLst>
          </p:cNvPr>
          <p:cNvSpPr txBox="1"/>
          <p:nvPr/>
        </p:nvSpPr>
        <p:spPr>
          <a:xfrm>
            <a:off x="7770319" y="5659140"/>
            <a:ext cx="383930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s-EC" sz="1800" b="1" dirty="0">
                <a:solidFill>
                  <a:srgbClr val="0E2E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Código </a:t>
            </a:r>
            <a:r>
              <a:rPr lang="es-EC" sz="1800" b="1" dirty="0" err="1">
                <a:solidFill>
                  <a:srgbClr val="0E2E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github</a:t>
            </a:r>
            <a:endParaRPr lang="es-EC" sz="1800" dirty="0"/>
          </a:p>
        </p:txBody>
      </p:sp>
    </p:spTree>
    <p:extLst>
      <p:ext uri="{BB962C8B-B14F-4D97-AF65-F5344CB8AC3E}">
        <p14:creationId xmlns:p14="http://schemas.microsoft.com/office/powerpoint/2010/main" val="61306147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ED6046-7FBA-AD88-F0E2-C9EC2BB0E5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lecha: pentágono 11">
            <a:extLst>
              <a:ext uri="{FF2B5EF4-FFF2-40B4-BE49-F238E27FC236}">
                <a16:creationId xmlns:a16="http://schemas.microsoft.com/office/drawing/2014/main" id="{383B9953-D494-4B31-AA51-7C14DD478B7E}"/>
              </a:ext>
            </a:extLst>
          </p:cNvPr>
          <p:cNvSpPr/>
          <p:nvPr/>
        </p:nvSpPr>
        <p:spPr>
          <a:xfrm>
            <a:off x="283348" y="104071"/>
            <a:ext cx="7729375" cy="702986"/>
          </a:xfrm>
          <a:prstGeom prst="homePlate">
            <a:avLst/>
          </a:prstGeom>
          <a:solidFill>
            <a:srgbClr val="C00000"/>
          </a:solidFill>
          <a:ln/>
          <a:scene3d>
            <a:camera prst="orthographicFront"/>
            <a:lightRig rig="threePt" dir="t"/>
          </a:scene3d>
          <a:sp3d>
            <a:bevelT w="165100" prst="coolSlant"/>
          </a:sp3d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US" sz="2400" b="1" noProof="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Desarrollo :</a:t>
            </a:r>
            <a:r>
              <a:rPr lang="es-MX" sz="2400" b="1" noProof="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Almacenamiento</a:t>
            </a:r>
          </a:p>
          <a:p>
            <a:r>
              <a:rPr lang="es-US" sz="2400" b="1" noProof="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s-US" sz="2400" b="1" noProof="0" dirty="0">
              <a:solidFill>
                <a:schemeClr val="bg1"/>
              </a:solidFill>
            </a:endParaRP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3BE2F439-3399-07B2-5CC8-F0B84770BD80}"/>
              </a:ext>
            </a:extLst>
          </p:cNvPr>
          <p:cNvSpPr/>
          <p:nvPr/>
        </p:nvSpPr>
        <p:spPr>
          <a:xfrm>
            <a:off x="5526157" y="6092687"/>
            <a:ext cx="6665843" cy="765313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US" noProof="0" dirty="0"/>
          </a:p>
        </p:txBody>
      </p:sp>
      <p:sp>
        <p:nvSpPr>
          <p:cNvPr id="11" name="Recortar rectángulo de una esquina 9">
            <a:extLst>
              <a:ext uri="{FF2B5EF4-FFF2-40B4-BE49-F238E27FC236}">
                <a16:creationId xmlns:a16="http://schemas.microsoft.com/office/drawing/2014/main" id="{AA24DCA0-A0BC-1896-AEE7-74E5FE4B836F}"/>
              </a:ext>
            </a:extLst>
          </p:cNvPr>
          <p:cNvSpPr/>
          <p:nvPr/>
        </p:nvSpPr>
        <p:spPr>
          <a:xfrm>
            <a:off x="-9939" y="5814391"/>
            <a:ext cx="5903843" cy="1053548"/>
          </a:xfrm>
          <a:prstGeom prst="snip1Rect">
            <a:avLst>
              <a:gd name="adj" fmla="val 50000"/>
            </a:avLst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US" noProof="0" dirty="0"/>
          </a:p>
        </p:txBody>
      </p:sp>
      <p:pic>
        <p:nvPicPr>
          <p:cNvPr id="14" name="Imagen 13">
            <a:extLst>
              <a:ext uri="{FF2B5EF4-FFF2-40B4-BE49-F238E27FC236}">
                <a16:creationId xmlns:a16="http://schemas.microsoft.com/office/drawing/2014/main" id="{42C7265F-CDE4-D574-1F36-9A14E4075F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0767" y="5928401"/>
            <a:ext cx="2827669" cy="825528"/>
          </a:xfrm>
          <a:prstGeom prst="rect">
            <a:avLst/>
          </a:prstGeom>
        </p:spPr>
      </p:pic>
      <p:pic>
        <p:nvPicPr>
          <p:cNvPr id="15" name="Imagen 14">
            <a:extLst>
              <a:ext uri="{FF2B5EF4-FFF2-40B4-BE49-F238E27FC236}">
                <a16:creationId xmlns:a16="http://schemas.microsoft.com/office/drawing/2014/main" id="{D1BFFD12-CED7-2EEB-7309-89524E5239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61751" y="5963285"/>
            <a:ext cx="3962401" cy="1024115"/>
          </a:xfrm>
          <a:prstGeom prst="rect">
            <a:avLst/>
          </a:prstGeom>
        </p:spPr>
      </p:pic>
      <p:pic>
        <p:nvPicPr>
          <p:cNvPr id="17" name="Imagen 16">
            <a:extLst>
              <a:ext uri="{FF2B5EF4-FFF2-40B4-BE49-F238E27FC236}">
                <a16:creationId xmlns:a16="http://schemas.microsoft.com/office/drawing/2014/main" id="{DC12B9B7-BBB8-4642-B304-688AA635B60F}"/>
              </a:ext>
            </a:extLst>
          </p:cNvPr>
          <p:cNvPicPr/>
          <p:nvPr/>
        </p:nvPicPr>
        <p:blipFill rotWithShape="1">
          <a:blip r:embed="rId4"/>
          <a:srcRect r="24515"/>
          <a:stretch/>
        </p:blipFill>
        <p:spPr bwMode="auto">
          <a:xfrm>
            <a:off x="464722" y="1669219"/>
            <a:ext cx="2669540" cy="2183130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18" name="Imagen 17">
            <a:extLst>
              <a:ext uri="{FF2B5EF4-FFF2-40B4-BE49-F238E27FC236}">
                <a16:creationId xmlns:a16="http://schemas.microsoft.com/office/drawing/2014/main" id="{0AE65A50-ECEB-45A3-A3DA-FCE8F794A931}"/>
              </a:ext>
            </a:extLst>
          </p:cNvPr>
          <p:cNvPicPr/>
          <p:nvPr/>
        </p:nvPicPr>
        <p:blipFill>
          <a:blip r:embed="rId5"/>
          <a:stretch>
            <a:fillRect/>
          </a:stretch>
        </p:blipFill>
        <p:spPr>
          <a:xfrm>
            <a:off x="3134262" y="1527614"/>
            <a:ext cx="2374265" cy="2324735"/>
          </a:xfrm>
          <a:prstGeom prst="rect">
            <a:avLst/>
          </a:prstGeom>
        </p:spPr>
      </p:pic>
      <p:sp>
        <p:nvSpPr>
          <p:cNvPr id="19" name="CuadroTexto 18">
            <a:extLst>
              <a:ext uri="{FF2B5EF4-FFF2-40B4-BE49-F238E27FC236}">
                <a16:creationId xmlns:a16="http://schemas.microsoft.com/office/drawing/2014/main" id="{56F9D0D5-AD80-45FA-BF81-EB5ACC8CB18A}"/>
              </a:ext>
            </a:extLst>
          </p:cNvPr>
          <p:cNvSpPr txBox="1"/>
          <p:nvPr/>
        </p:nvSpPr>
        <p:spPr>
          <a:xfrm>
            <a:off x="844169" y="4173880"/>
            <a:ext cx="44411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s-EC" sz="1800" b="1" dirty="0">
                <a:solidFill>
                  <a:srgbClr val="0E2E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Almacenamiento Local</a:t>
            </a:r>
            <a:endParaRPr lang="es-EC" sz="1800" dirty="0"/>
          </a:p>
        </p:txBody>
      </p:sp>
      <p:pic>
        <p:nvPicPr>
          <p:cNvPr id="20" name="Imagen 19">
            <a:extLst>
              <a:ext uri="{FF2B5EF4-FFF2-40B4-BE49-F238E27FC236}">
                <a16:creationId xmlns:a16="http://schemas.microsoft.com/office/drawing/2014/main" id="{ACC1F36C-14F4-4F7C-9E81-D4809615C9FF}"/>
              </a:ext>
            </a:extLst>
          </p:cNvPr>
          <p:cNvPicPr/>
          <p:nvPr/>
        </p:nvPicPr>
        <p:blipFill>
          <a:blip r:embed="rId6"/>
          <a:stretch>
            <a:fillRect/>
          </a:stretch>
        </p:blipFill>
        <p:spPr>
          <a:xfrm>
            <a:off x="5893904" y="1455919"/>
            <a:ext cx="5731510" cy="2626360"/>
          </a:xfrm>
          <a:prstGeom prst="rect">
            <a:avLst/>
          </a:prstGeom>
        </p:spPr>
      </p:pic>
      <p:sp>
        <p:nvSpPr>
          <p:cNvPr id="22" name="CuadroTexto 21">
            <a:extLst>
              <a:ext uri="{FF2B5EF4-FFF2-40B4-BE49-F238E27FC236}">
                <a16:creationId xmlns:a16="http://schemas.microsoft.com/office/drawing/2014/main" id="{648B0BD4-60EE-4A56-8DCF-EF32B99FB8DC}"/>
              </a:ext>
            </a:extLst>
          </p:cNvPr>
          <p:cNvSpPr txBox="1"/>
          <p:nvPr/>
        </p:nvSpPr>
        <p:spPr>
          <a:xfrm>
            <a:off x="5893904" y="4156760"/>
            <a:ext cx="610479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s-EC" sz="1800" b="1" dirty="0">
                <a:solidFill>
                  <a:srgbClr val="0E2E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Respaldo en la Nube</a:t>
            </a:r>
            <a:endParaRPr lang="es-EC" sz="1800" dirty="0"/>
          </a:p>
        </p:txBody>
      </p:sp>
    </p:spTree>
    <p:extLst>
      <p:ext uri="{BB962C8B-B14F-4D97-AF65-F5344CB8AC3E}">
        <p14:creationId xmlns:p14="http://schemas.microsoft.com/office/powerpoint/2010/main" val="93258412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ED6046-7FBA-AD88-F0E2-C9EC2BB0E5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lecha: pentágono 11">
            <a:extLst>
              <a:ext uri="{FF2B5EF4-FFF2-40B4-BE49-F238E27FC236}">
                <a16:creationId xmlns:a16="http://schemas.microsoft.com/office/drawing/2014/main" id="{383B9953-D494-4B31-AA51-7C14DD478B7E}"/>
              </a:ext>
            </a:extLst>
          </p:cNvPr>
          <p:cNvSpPr/>
          <p:nvPr/>
        </p:nvSpPr>
        <p:spPr>
          <a:xfrm>
            <a:off x="283348" y="104071"/>
            <a:ext cx="7729375" cy="702986"/>
          </a:xfrm>
          <a:prstGeom prst="homePlate">
            <a:avLst/>
          </a:prstGeom>
          <a:solidFill>
            <a:srgbClr val="C00000"/>
          </a:solidFill>
          <a:ln/>
          <a:scene3d>
            <a:camera prst="orthographicFront"/>
            <a:lightRig rig="threePt" dir="t"/>
          </a:scene3d>
          <a:sp3d>
            <a:bevelT w="165100" prst="coolSlant"/>
          </a:sp3d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s-US" sz="2400" b="1" noProof="0" dirty="0">
              <a:solidFill>
                <a:srgbClr val="FFFF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s-US" sz="2400" b="1" noProof="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Desarrollo :</a:t>
            </a:r>
            <a:r>
              <a:rPr lang="es-MX" sz="24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Inicio de la Monitorización 24/7 </a:t>
            </a:r>
            <a:endParaRPr lang="es-MX" sz="2400" b="1" noProof="0" dirty="0">
              <a:solidFill>
                <a:srgbClr val="FFFF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s-US" sz="2400" b="1" noProof="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s-US" sz="2400" b="1" noProof="0" dirty="0">
              <a:solidFill>
                <a:schemeClr val="bg1"/>
              </a:solidFill>
            </a:endParaRP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3BE2F439-3399-07B2-5CC8-F0B84770BD80}"/>
              </a:ext>
            </a:extLst>
          </p:cNvPr>
          <p:cNvSpPr/>
          <p:nvPr/>
        </p:nvSpPr>
        <p:spPr>
          <a:xfrm>
            <a:off x="5526157" y="6092687"/>
            <a:ext cx="6665843" cy="765313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US" noProof="0" dirty="0"/>
          </a:p>
        </p:txBody>
      </p:sp>
      <p:sp>
        <p:nvSpPr>
          <p:cNvPr id="11" name="Recortar rectángulo de una esquina 9">
            <a:extLst>
              <a:ext uri="{FF2B5EF4-FFF2-40B4-BE49-F238E27FC236}">
                <a16:creationId xmlns:a16="http://schemas.microsoft.com/office/drawing/2014/main" id="{AA24DCA0-A0BC-1896-AEE7-74E5FE4B836F}"/>
              </a:ext>
            </a:extLst>
          </p:cNvPr>
          <p:cNvSpPr/>
          <p:nvPr/>
        </p:nvSpPr>
        <p:spPr>
          <a:xfrm>
            <a:off x="-9939" y="5814391"/>
            <a:ext cx="5903843" cy="1053548"/>
          </a:xfrm>
          <a:prstGeom prst="snip1Rect">
            <a:avLst>
              <a:gd name="adj" fmla="val 50000"/>
            </a:avLst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US" noProof="0" dirty="0"/>
          </a:p>
        </p:txBody>
      </p:sp>
      <p:pic>
        <p:nvPicPr>
          <p:cNvPr id="14" name="Imagen 13">
            <a:extLst>
              <a:ext uri="{FF2B5EF4-FFF2-40B4-BE49-F238E27FC236}">
                <a16:creationId xmlns:a16="http://schemas.microsoft.com/office/drawing/2014/main" id="{42C7265F-CDE4-D574-1F36-9A14E4075F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0767" y="5928401"/>
            <a:ext cx="2827669" cy="825528"/>
          </a:xfrm>
          <a:prstGeom prst="rect">
            <a:avLst/>
          </a:prstGeom>
        </p:spPr>
      </p:pic>
      <p:pic>
        <p:nvPicPr>
          <p:cNvPr id="15" name="Imagen 14">
            <a:extLst>
              <a:ext uri="{FF2B5EF4-FFF2-40B4-BE49-F238E27FC236}">
                <a16:creationId xmlns:a16="http://schemas.microsoft.com/office/drawing/2014/main" id="{D1BFFD12-CED7-2EEB-7309-89524E5239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61751" y="5963285"/>
            <a:ext cx="3962401" cy="1024115"/>
          </a:xfrm>
          <a:prstGeom prst="rect">
            <a:avLst/>
          </a:prstGeom>
        </p:spPr>
      </p:pic>
      <p:sp>
        <p:nvSpPr>
          <p:cNvPr id="13" name="Shape 2">
            <a:extLst>
              <a:ext uri="{FF2B5EF4-FFF2-40B4-BE49-F238E27FC236}">
                <a16:creationId xmlns:a16="http://schemas.microsoft.com/office/drawing/2014/main" id="{ADC93287-E43A-40F1-A611-0F32E23E235E}"/>
              </a:ext>
            </a:extLst>
          </p:cNvPr>
          <p:cNvSpPr/>
          <p:nvPr/>
        </p:nvSpPr>
        <p:spPr>
          <a:xfrm>
            <a:off x="-1" y="1004249"/>
            <a:ext cx="12150969" cy="81104"/>
          </a:xfrm>
          <a:prstGeom prst="line">
            <a:avLst/>
          </a:prstGeom>
          <a:noFill/>
          <a:ln w="13970">
            <a:solidFill>
              <a:srgbClr val="C9D4CC"/>
            </a:solidFill>
            <a:prstDash val="solid"/>
          </a:ln>
        </p:spPr>
      </p:sp>
      <p:pic>
        <p:nvPicPr>
          <p:cNvPr id="16" name="Image 1" descr="/mnt/data/thesis_media/image32.png">
            <a:extLst>
              <a:ext uri="{FF2B5EF4-FFF2-40B4-BE49-F238E27FC236}">
                <a16:creationId xmlns:a16="http://schemas.microsoft.com/office/drawing/2014/main" id="{47B1A9D4-0E8A-4B38-B9A1-83E1B72964E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88831" y="1216640"/>
            <a:ext cx="2637256" cy="2122595"/>
          </a:xfrm>
          <a:prstGeom prst="rect">
            <a:avLst/>
          </a:prstGeom>
        </p:spPr>
      </p:pic>
      <p:pic>
        <p:nvPicPr>
          <p:cNvPr id="17" name="Image 2" descr="/mnt/data/thesis_media/image57.png">
            <a:extLst>
              <a:ext uri="{FF2B5EF4-FFF2-40B4-BE49-F238E27FC236}">
                <a16:creationId xmlns:a16="http://schemas.microsoft.com/office/drawing/2014/main" id="{29F78C3A-476F-4875-960B-6454FA81F4B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62383" y="1570569"/>
            <a:ext cx="2637256" cy="1278375"/>
          </a:xfrm>
          <a:prstGeom prst="rect">
            <a:avLst/>
          </a:prstGeom>
        </p:spPr>
      </p:pic>
      <p:sp>
        <p:nvSpPr>
          <p:cNvPr id="18" name="Text 3">
            <a:extLst>
              <a:ext uri="{FF2B5EF4-FFF2-40B4-BE49-F238E27FC236}">
                <a16:creationId xmlns:a16="http://schemas.microsoft.com/office/drawing/2014/main" id="{C46F6068-6A2F-4CAF-A215-77F6399397DB}"/>
              </a:ext>
            </a:extLst>
          </p:cNvPr>
          <p:cNvSpPr/>
          <p:nvPr/>
        </p:nvSpPr>
        <p:spPr>
          <a:xfrm>
            <a:off x="816331" y="3580244"/>
            <a:ext cx="3936203" cy="1904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6170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Ejecución del script y registro</a:t>
            </a:r>
            <a:endParaRPr lang="en-US" sz="800" dirty="0"/>
          </a:p>
        </p:txBody>
      </p:sp>
      <p:sp>
        <p:nvSpPr>
          <p:cNvPr id="19" name="Text 4">
            <a:extLst>
              <a:ext uri="{FF2B5EF4-FFF2-40B4-BE49-F238E27FC236}">
                <a16:creationId xmlns:a16="http://schemas.microsoft.com/office/drawing/2014/main" id="{A4ADEFA8-C3A8-4898-903F-5473A2C3831D}"/>
              </a:ext>
            </a:extLst>
          </p:cNvPr>
          <p:cNvSpPr/>
          <p:nvPr/>
        </p:nvSpPr>
        <p:spPr>
          <a:xfrm>
            <a:off x="5388831" y="3580244"/>
            <a:ext cx="2637256" cy="1904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6170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Panel de control / acceso web</a:t>
            </a:r>
            <a:endParaRPr lang="en-US" sz="800" dirty="0"/>
          </a:p>
        </p:txBody>
      </p:sp>
      <p:sp>
        <p:nvSpPr>
          <p:cNvPr id="21" name="Text 5">
            <a:extLst>
              <a:ext uri="{FF2B5EF4-FFF2-40B4-BE49-F238E27FC236}">
                <a16:creationId xmlns:a16="http://schemas.microsoft.com/office/drawing/2014/main" id="{2C1596BE-76F6-461E-8874-C394C442E19F}"/>
              </a:ext>
            </a:extLst>
          </p:cNvPr>
          <p:cNvSpPr/>
          <p:nvPr/>
        </p:nvSpPr>
        <p:spPr>
          <a:xfrm>
            <a:off x="8662383" y="3580244"/>
            <a:ext cx="2637256" cy="1904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6170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Interfaz de monitoreo</a:t>
            </a:r>
            <a:endParaRPr lang="en-US" sz="800" dirty="0"/>
          </a:p>
        </p:txBody>
      </p:sp>
      <p:sp>
        <p:nvSpPr>
          <p:cNvPr id="22" name="Shape 6">
            <a:extLst>
              <a:ext uri="{FF2B5EF4-FFF2-40B4-BE49-F238E27FC236}">
                <a16:creationId xmlns:a16="http://schemas.microsoft.com/office/drawing/2014/main" id="{75FEBC50-C68F-46AC-A5AF-917CE0190CBA}"/>
              </a:ext>
            </a:extLst>
          </p:cNvPr>
          <p:cNvSpPr/>
          <p:nvPr/>
        </p:nvSpPr>
        <p:spPr>
          <a:xfrm>
            <a:off x="674669" y="4427624"/>
            <a:ext cx="511706" cy="495239"/>
          </a:xfrm>
          <a:prstGeom prst="ellipse">
            <a:avLst/>
          </a:prstGeom>
          <a:solidFill>
            <a:srgbClr val="0E2E22"/>
          </a:solidFill>
          <a:ln w="12700">
            <a:solidFill>
              <a:srgbClr val="0E2E22"/>
            </a:solidFill>
            <a:prstDash val="solid"/>
          </a:ln>
        </p:spPr>
      </p:sp>
      <p:sp>
        <p:nvSpPr>
          <p:cNvPr id="24" name="Text 7">
            <a:extLst>
              <a:ext uri="{FF2B5EF4-FFF2-40B4-BE49-F238E27FC236}">
                <a16:creationId xmlns:a16="http://schemas.microsoft.com/office/drawing/2014/main" id="{F4CC9680-C70B-44D6-9B9A-27541E9E82C8}"/>
              </a:ext>
            </a:extLst>
          </p:cNvPr>
          <p:cNvSpPr/>
          <p:nvPr/>
        </p:nvSpPr>
        <p:spPr>
          <a:xfrm>
            <a:off x="674669" y="4543402"/>
            <a:ext cx="511706" cy="1142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1</a:t>
            </a:r>
            <a:endParaRPr lang="en-US" sz="900" dirty="0"/>
          </a:p>
        </p:txBody>
      </p:sp>
      <p:sp>
        <p:nvSpPr>
          <p:cNvPr id="25" name="Shape 8">
            <a:extLst>
              <a:ext uri="{FF2B5EF4-FFF2-40B4-BE49-F238E27FC236}">
                <a16:creationId xmlns:a16="http://schemas.microsoft.com/office/drawing/2014/main" id="{2B771720-0878-4A69-AD20-9A2C1D4BC16E}"/>
              </a:ext>
            </a:extLst>
          </p:cNvPr>
          <p:cNvSpPr/>
          <p:nvPr/>
        </p:nvSpPr>
        <p:spPr>
          <a:xfrm>
            <a:off x="1405089" y="4621112"/>
            <a:ext cx="1354054" cy="0"/>
          </a:xfrm>
          <a:prstGeom prst="line">
            <a:avLst/>
          </a:prstGeom>
          <a:noFill/>
          <a:ln w="25400">
            <a:solidFill>
              <a:srgbClr val="1C7070"/>
            </a:solidFill>
            <a:prstDash val="solid"/>
            <a:headEnd type="none"/>
            <a:tailEnd type="triangle"/>
          </a:ln>
        </p:spPr>
      </p:sp>
      <p:sp>
        <p:nvSpPr>
          <p:cNvPr id="26" name="Text 9">
            <a:extLst>
              <a:ext uri="{FF2B5EF4-FFF2-40B4-BE49-F238E27FC236}">
                <a16:creationId xmlns:a16="http://schemas.microsoft.com/office/drawing/2014/main" id="{2F06FA76-FA17-431C-8C55-25DAEECCE4D4}"/>
              </a:ext>
            </a:extLst>
          </p:cNvPr>
          <p:cNvSpPr/>
          <p:nvPr/>
        </p:nvSpPr>
        <p:spPr>
          <a:xfrm>
            <a:off x="575655" y="5052428"/>
            <a:ext cx="747879" cy="190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E2E22"/>
                </a:solidFill>
              </a:rPr>
              <a:t>EVENTO</a:t>
            </a:r>
            <a:endParaRPr lang="en-US" sz="900" dirty="0"/>
          </a:p>
        </p:txBody>
      </p:sp>
      <p:sp>
        <p:nvSpPr>
          <p:cNvPr id="28" name="Shape 10">
            <a:extLst>
              <a:ext uri="{FF2B5EF4-FFF2-40B4-BE49-F238E27FC236}">
                <a16:creationId xmlns:a16="http://schemas.microsoft.com/office/drawing/2014/main" id="{F02D59DB-DA84-4618-B761-056539EB0154}"/>
              </a:ext>
            </a:extLst>
          </p:cNvPr>
          <p:cNvSpPr/>
          <p:nvPr/>
        </p:nvSpPr>
        <p:spPr>
          <a:xfrm>
            <a:off x="2850941" y="4427624"/>
            <a:ext cx="511706" cy="495239"/>
          </a:xfrm>
          <a:prstGeom prst="ellipse">
            <a:avLst/>
          </a:prstGeom>
          <a:solidFill>
            <a:srgbClr val="5F8F3D"/>
          </a:solidFill>
          <a:ln w="12700">
            <a:solidFill>
              <a:srgbClr val="5F8F3D"/>
            </a:solidFill>
            <a:prstDash val="solid"/>
          </a:ln>
        </p:spPr>
      </p:sp>
      <p:sp>
        <p:nvSpPr>
          <p:cNvPr id="29" name="Text 11">
            <a:extLst>
              <a:ext uri="{FF2B5EF4-FFF2-40B4-BE49-F238E27FC236}">
                <a16:creationId xmlns:a16="http://schemas.microsoft.com/office/drawing/2014/main" id="{5773E5DF-A600-4819-9F06-64429913ECCD}"/>
              </a:ext>
            </a:extLst>
          </p:cNvPr>
          <p:cNvSpPr/>
          <p:nvPr/>
        </p:nvSpPr>
        <p:spPr>
          <a:xfrm>
            <a:off x="2850941" y="4543402"/>
            <a:ext cx="511706" cy="1142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2</a:t>
            </a:r>
            <a:endParaRPr lang="en-US" sz="900" dirty="0"/>
          </a:p>
        </p:txBody>
      </p:sp>
      <p:sp>
        <p:nvSpPr>
          <p:cNvPr id="30" name="Shape 12">
            <a:extLst>
              <a:ext uri="{FF2B5EF4-FFF2-40B4-BE49-F238E27FC236}">
                <a16:creationId xmlns:a16="http://schemas.microsoft.com/office/drawing/2014/main" id="{659BC65C-E024-44EA-8595-7C1E926BA3D6}"/>
              </a:ext>
            </a:extLst>
          </p:cNvPr>
          <p:cNvSpPr/>
          <p:nvPr/>
        </p:nvSpPr>
        <p:spPr>
          <a:xfrm>
            <a:off x="3581361" y="4621112"/>
            <a:ext cx="1354054" cy="0"/>
          </a:xfrm>
          <a:prstGeom prst="line">
            <a:avLst/>
          </a:prstGeom>
          <a:noFill/>
          <a:ln w="25400">
            <a:solidFill>
              <a:srgbClr val="1C7070"/>
            </a:solidFill>
            <a:prstDash val="solid"/>
            <a:headEnd type="none"/>
            <a:tailEnd type="triangle"/>
          </a:ln>
        </p:spPr>
      </p:sp>
      <p:sp>
        <p:nvSpPr>
          <p:cNvPr id="31" name="Text 13">
            <a:extLst>
              <a:ext uri="{FF2B5EF4-FFF2-40B4-BE49-F238E27FC236}">
                <a16:creationId xmlns:a16="http://schemas.microsoft.com/office/drawing/2014/main" id="{1FC4FD70-A4AF-4198-85FF-DDD13E3BD35D}"/>
              </a:ext>
            </a:extLst>
          </p:cNvPr>
          <p:cNvSpPr/>
          <p:nvPr/>
        </p:nvSpPr>
        <p:spPr>
          <a:xfrm>
            <a:off x="2751927" y="5052428"/>
            <a:ext cx="747879" cy="190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E2E22"/>
                </a:solidFill>
              </a:rPr>
              <a:t>EDGE AI</a:t>
            </a:r>
            <a:endParaRPr lang="en-US" sz="900" dirty="0"/>
          </a:p>
        </p:txBody>
      </p:sp>
      <p:sp>
        <p:nvSpPr>
          <p:cNvPr id="32" name="Shape 14">
            <a:extLst>
              <a:ext uri="{FF2B5EF4-FFF2-40B4-BE49-F238E27FC236}">
                <a16:creationId xmlns:a16="http://schemas.microsoft.com/office/drawing/2014/main" id="{3993B6AD-DEA0-4A5F-9166-F5435C555009}"/>
              </a:ext>
            </a:extLst>
          </p:cNvPr>
          <p:cNvSpPr/>
          <p:nvPr/>
        </p:nvSpPr>
        <p:spPr>
          <a:xfrm>
            <a:off x="5027213" y="4427624"/>
            <a:ext cx="511706" cy="495239"/>
          </a:xfrm>
          <a:prstGeom prst="ellipse">
            <a:avLst/>
          </a:prstGeom>
          <a:solidFill>
            <a:srgbClr val="0E2E22"/>
          </a:solidFill>
          <a:ln w="12700">
            <a:solidFill>
              <a:srgbClr val="0E2E22"/>
            </a:solidFill>
            <a:prstDash val="solid"/>
          </a:ln>
        </p:spPr>
      </p:sp>
      <p:sp>
        <p:nvSpPr>
          <p:cNvPr id="33" name="Text 15">
            <a:extLst>
              <a:ext uri="{FF2B5EF4-FFF2-40B4-BE49-F238E27FC236}">
                <a16:creationId xmlns:a16="http://schemas.microsoft.com/office/drawing/2014/main" id="{A25F8F62-4B4C-4F4B-825B-389BB16E5DCF}"/>
              </a:ext>
            </a:extLst>
          </p:cNvPr>
          <p:cNvSpPr/>
          <p:nvPr/>
        </p:nvSpPr>
        <p:spPr>
          <a:xfrm>
            <a:off x="5027213" y="4543402"/>
            <a:ext cx="511706" cy="1142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3</a:t>
            </a:r>
            <a:endParaRPr lang="en-US" sz="900" dirty="0"/>
          </a:p>
        </p:txBody>
      </p:sp>
      <p:sp>
        <p:nvSpPr>
          <p:cNvPr id="34" name="Shape 16">
            <a:extLst>
              <a:ext uri="{FF2B5EF4-FFF2-40B4-BE49-F238E27FC236}">
                <a16:creationId xmlns:a16="http://schemas.microsoft.com/office/drawing/2014/main" id="{ED92E300-066A-4242-9549-71EDBB45CD53}"/>
              </a:ext>
            </a:extLst>
          </p:cNvPr>
          <p:cNvSpPr/>
          <p:nvPr/>
        </p:nvSpPr>
        <p:spPr>
          <a:xfrm>
            <a:off x="5757633" y="4621112"/>
            <a:ext cx="1354054" cy="0"/>
          </a:xfrm>
          <a:prstGeom prst="line">
            <a:avLst/>
          </a:prstGeom>
          <a:noFill/>
          <a:ln w="25400">
            <a:solidFill>
              <a:srgbClr val="1C7070"/>
            </a:solidFill>
            <a:prstDash val="solid"/>
            <a:headEnd type="none"/>
            <a:tailEnd type="triangle"/>
          </a:ln>
        </p:spPr>
      </p:sp>
      <p:sp>
        <p:nvSpPr>
          <p:cNvPr id="35" name="Text 17">
            <a:extLst>
              <a:ext uri="{FF2B5EF4-FFF2-40B4-BE49-F238E27FC236}">
                <a16:creationId xmlns:a16="http://schemas.microsoft.com/office/drawing/2014/main" id="{8A84477E-D65B-4EB1-B388-73882C584080}"/>
              </a:ext>
            </a:extLst>
          </p:cNvPr>
          <p:cNvSpPr/>
          <p:nvPr/>
        </p:nvSpPr>
        <p:spPr>
          <a:xfrm>
            <a:off x="4928199" y="5052428"/>
            <a:ext cx="747879" cy="190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E2E22"/>
                </a:solidFill>
              </a:rPr>
              <a:t>CSV / JPG</a:t>
            </a:r>
            <a:endParaRPr lang="en-US" sz="900" dirty="0"/>
          </a:p>
        </p:txBody>
      </p:sp>
      <p:sp>
        <p:nvSpPr>
          <p:cNvPr id="36" name="Shape 18">
            <a:extLst>
              <a:ext uri="{FF2B5EF4-FFF2-40B4-BE49-F238E27FC236}">
                <a16:creationId xmlns:a16="http://schemas.microsoft.com/office/drawing/2014/main" id="{593F6FB6-531E-43EB-A101-2DC451FCC6F2}"/>
              </a:ext>
            </a:extLst>
          </p:cNvPr>
          <p:cNvSpPr/>
          <p:nvPr/>
        </p:nvSpPr>
        <p:spPr>
          <a:xfrm>
            <a:off x="7203485" y="4427624"/>
            <a:ext cx="511706" cy="495239"/>
          </a:xfrm>
          <a:prstGeom prst="ellipse">
            <a:avLst/>
          </a:prstGeom>
          <a:solidFill>
            <a:srgbClr val="0E2E22"/>
          </a:solidFill>
          <a:ln w="12700">
            <a:solidFill>
              <a:srgbClr val="0E2E22"/>
            </a:solidFill>
            <a:prstDash val="solid"/>
          </a:ln>
        </p:spPr>
      </p:sp>
      <p:sp>
        <p:nvSpPr>
          <p:cNvPr id="37" name="Text 19">
            <a:extLst>
              <a:ext uri="{FF2B5EF4-FFF2-40B4-BE49-F238E27FC236}">
                <a16:creationId xmlns:a16="http://schemas.microsoft.com/office/drawing/2014/main" id="{DFA3686D-0EA6-4DA4-A0F0-36893CD04AA9}"/>
              </a:ext>
            </a:extLst>
          </p:cNvPr>
          <p:cNvSpPr/>
          <p:nvPr/>
        </p:nvSpPr>
        <p:spPr>
          <a:xfrm>
            <a:off x="7203485" y="4543402"/>
            <a:ext cx="511706" cy="1142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4</a:t>
            </a:r>
            <a:endParaRPr lang="en-US" sz="900" dirty="0"/>
          </a:p>
        </p:txBody>
      </p:sp>
      <p:sp>
        <p:nvSpPr>
          <p:cNvPr id="38" name="Shape 20">
            <a:extLst>
              <a:ext uri="{FF2B5EF4-FFF2-40B4-BE49-F238E27FC236}">
                <a16:creationId xmlns:a16="http://schemas.microsoft.com/office/drawing/2014/main" id="{599B4794-2F82-4B23-903F-52411146DE94}"/>
              </a:ext>
            </a:extLst>
          </p:cNvPr>
          <p:cNvSpPr/>
          <p:nvPr/>
        </p:nvSpPr>
        <p:spPr>
          <a:xfrm>
            <a:off x="7933905" y="4621112"/>
            <a:ext cx="1354054" cy="0"/>
          </a:xfrm>
          <a:prstGeom prst="line">
            <a:avLst/>
          </a:prstGeom>
          <a:noFill/>
          <a:ln w="25400">
            <a:solidFill>
              <a:srgbClr val="1C7070"/>
            </a:solidFill>
            <a:prstDash val="solid"/>
            <a:headEnd type="none"/>
            <a:tailEnd type="triangle"/>
          </a:ln>
        </p:spPr>
      </p:sp>
      <p:sp>
        <p:nvSpPr>
          <p:cNvPr id="39" name="Text 21">
            <a:extLst>
              <a:ext uri="{FF2B5EF4-FFF2-40B4-BE49-F238E27FC236}">
                <a16:creationId xmlns:a16="http://schemas.microsoft.com/office/drawing/2014/main" id="{EF811D4D-4B58-43CF-B2D5-DB195E1DFD42}"/>
              </a:ext>
            </a:extLst>
          </p:cNvPr>
          <p:cNvSpPr/>
          <p:nvPr/>
        </p:nvSpPr>
        <p:spPr>
          <a:xfrm>
            <a:off x="7104471" y="5052428"/>
            <a:ext cx="747879" cy="190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E2E22"/>
                </a:solidFill>
              </a:rPr>
              <a:t>NUBE</a:t>
            </a:r>
            <a:endParaRPr lang="en-US" sz="900" dirty="0"/>
          </a:p>
        </p:txBody>
      </p:sp>
      <p:sp>
        <p:nvSpPr>
          <p:cNvPr id="40" name="Shape 22">
            <a:extLst>
              <a:ext uri="{FF2B5EF4-FFF2-40B4-BE49-F238E27FC236}">
                <a16:creationId xmlns:a16="http://schemas.microsoft.com/office/drawing/2014/main" id="{B9BA51AB-0761-48DB-9F61-52ECEC60D9A6}"/>
              </a:ext>
            </a:extLst>
          </p:cNvPr>
          <p:cNvSpPr/>
          <p:nvPr/>
        </p:nvSpPr>
        <p:spPr>
          <a:xfrm>
            <a:off x="9379757" y="4427624"/>
            <a:ext cx="511706" cy="495239"/>
          </a:xfrm>
          <a:prstGeom prst="ellipse">
            <a:avLst/>
          </a:prstGeom>
          <a:solidFill>
            <a:srgbClr val="0E2E22"/>
          </a:solidFill>
          <a:ln w="12700">
            <a:solidFill>
              <a:srgbClr val="0E2E22"/>
            </a:solidFill>
            <a:prstDash val="solid"/>
          </a:ln>
        </p:spPr>
      </p:sp>
      <p:sp>
        <p:nvSpPr>
          <p:cNvPr id="41" name="Text 23">
            <a:extLst>
              <a:ext uri="{FF2B5EF4-FFF2-40B4-BE49-F238E27FC236}">
                <a16:creationId xmlns:a16="http://schemas.microsoft.com/office/drawing/2014/main" id="{06C09AAC-743C-45C1-B164-7A7D85D56568}"/>
              </a:ext>
            </a:extLst>
          </p:cNvPr>
          <p:cNvSpPr/>
          <p:nvPr/>
        </p:nvSpPr>
        <p:spPr>
          <a:xfrm>
            <a:off x="9379757" y="4543402"/>
            <a:ext cx="511706" cy="1142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5</a:t>
            </a:r>
            <a:endParaRPr lang="en-US" sz="900" dirty="0"/>
          </a:p>
        </p:txBody>
      </p:sp>
      <p:sp>
        <p:nvSpPr>
          <p:cNvPr id="42" name="Text 24">
            <a:extLst>
              <a:ext uri="{FF2B5EF4-FFF2-40B4-BE49-F238E27FC236}">
                <a16:creationId xmlns:a16="http://schemas.microsoft.com/office/drawing/2014/main" id="{CCB37FAD-6101-437B-A36C-1EA92A3840F2}"/>
              </a:ext>
            </a:extLst>
          </p:cNvPr>
          <p:cNvSpPr/>
          <p:nvPr/>
        </p:nvSpPr>
        <p:spPr>
          <a:xfrm>
            <a:off x="9280743" y="5052428"/>
            <a:ext cx="747879" cy="190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E2E22"/>
                </a:solidFill>
              </a:rPr>
              <a:t>USUARIO</a:t>
            </a:r>
            <a:endParaRPr lang="en-US" sz="900" dirty="0"/>
          </a:p>
        </p:txBody>
      </p:sp>
      <p:sp>
        <p:nvSpPr>
          <p:cNvPr id="43" name="Shape 25">
            <a:extLst>
              <a:ext uri="{FF2B5EF4-FFF2-40B4-BE49-F238E27FC236}">
                <a16:creationId xmlns:a16="http://schemas.microsoft.com/office/drawing/2014/main" id="{061EDD53-B7E8-4E8B-8B24-E12CE95E6DAF}"/>
              </a:ext>
            </a:extLst>
          </p:cNvPr>
          <p:cNvSpPr/>
          <p:nvPr/>
        </p:nvSpPr>
        <p:spPr>
          <a:xfrm>
            <a:off x="1948977" y="5419730"/>
            <a:ext cx="9250078" cy="335238"/>
          </a:xfrm>
          <a:prstGeom prst="roundRect">
            <a:avLst>
              <a:gd name="adj" fmla="val 18182"/>
            </a:avLst>
          </a:prstGeom>
          <a:solidFill>
            <a:srgbClr val="FBF8EE"/>
          </a:solidFill>
          <a:ln w="12700">
            <a:solidFill>
              <a:srgbClr val="EEE0BA"/>
            </a:solidFill>
            <a:prstDash val="solid"/>
          </a:ln>
        </p:spPr>
      </p:sp>
      <p:sp>
        <p:nvSpPr>
          <p:cNvPr id="44" name="Text 26">
            <a:extLst>
              <a:ext uri="{FF2B5EF4-FFF2-40B4-BE49-F238E27FC236}">
                <a16:creationId xmlns:a16="http://schemas.microsoft.com/office/drawing/2014/main" id="{279062FA-376D-4154-8CFD-11E0215070BE}"/>
              </a:ext>
            </a:extLst>
          </p:cNvPr>
          <p:cNvSpPr/>
          <p:nvPr/>
        </p:nvSpPr>
        <p:spPr>
          <a:xfrm>
            <a:off x="2107639" y="5483714"/>
            <a:ext cx="8817096" cy="1523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7B601E"/>
                </a:solidFill>
              </a:rPr>
              <a:t>Se comunica la evidencia final, no el video continuo.</a:t>
            </a:r>
            <a:endParaRPr lang="en-US" sz="1100" dirty="0"/>
          </a:p>
        </p:txBody>
      </p:sp>
      <p:pic>
        <p:nvPicPr>
          <p:cNvPr id="45" name="Imagen 44">
            <a:extLst>
              <a:ext uri="{FF2B5EF4-FFF2-40B4-BE49-F238E27FC236}">
                <a16:creationId xmlns:a16="http://schemas.microsoft.com/office/drawing/2014/main" id="{167C370B-A77E-4B94-8CE5-07890B45D84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4077" y="1138776"/>
            <a:ext cx="4261338" cy="24168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478459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ED6046-7FBA-AD88-F0E2-C9EC2BB0E5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lecha: pentágono 11">
            <a:extLst>
              <a:ext uri="{FF2B5EF4-FFF2-40B4-BE49-F238E27FC236}">
                <a16:creationId xmlns:a16="http://schemas.microsoft.com/office/drawing/2014/main" id="{383B9953-D494-4B31-AA51-7C14DD478B7E}"/>
              </a:ext>
            </a:extLst>
          </p:cNvPr>
          <p:cNvSpPr/>
          <p:nvPr/>
        </p:nvSpPr>
        <p:spPr>
          <a:xfrm>
            <a:off x="265764" y="104071"/>
            <a:ext cx="9511282" cy="702986"/>
          </a:xfrm>
          <a:prstGeom prst="homePlate">
            <a:avLst/>
          </a:prstGeom>
          <a:solidFill>
            <a:srgbClr val="C00000"/>
          </a:solidFill>
          <a:ln/>
          <a:scene3d>
            <a:camera prst="orthographicFront"/>
            <a:lightRig rig="threePt" dir="t"/>
          </a:scene3d>
          <a:sp3d>
            <a:bevelT w="165100" prst="coolSlant"/>
          </a:sp3d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US" sz="2400" b="1" noProof="0" dirty="0" err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Desarollo</a:t>
            </a:r>
            <a:r>
              <a:rPr lang="es-US" sz="2400" b="1" noProof="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:S</a:t>
            </a:r>
            <a:r>
              <a:rPr lang="es-MX" sz="2400" b="1" noProof="0" dirty="0" err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eguridad</a:t>
            </a:r>
            <a:r>
              <a:rPr lang="es-MX" sz="2400" b="1" noProof="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Privacidad de Datos y Control de Acceso</a:t>
            </a:r>
          </a:p>
          <a:p>
            <a:r>
              <a:rPr lang="es-US" sz="2400" b="1" noProof="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s-US" sz="2400" b="1" noProof="0" dirty="0">
              <a:solidFill>
                <a:schemeClr val="bg1"/>
              </a:solidFill>
            </a:endParaRP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3BE2F439-3399-07B2-5CC8-F0B84770BD80}"/>
              </a:ext>
            </a:extLst>
          </p:cNvPr>
          <p:cNvSpPr/>
          <p:nvPr/>
        </p:nvSpPr>
        <p:spPr>
          <a:xfrm>
            <a:off x="5526157" y="6092687"/>
            <a:ext cx="6665843" cy="765313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US" noProof="0" dirty="0"/>
          </a:p>
        </p:txBody>
      </p:sp>
      <p:sp>
        <p:nvSpPr>
          <p:cNvPr id="11" name="Recortar rectángulo de una esquina 9">
            <a:extLst>
              <a:ext uri="{FF2B5EF4-FFF2-40B4-BE49-F238E27FC236}">
                <a16:creationId xmlns:a16="http://schemas.microsoft.com/office/drawing/2014/main" id="{AA24DCA0-A0BC-1896-AEE7-74E5FE4B836F}"/>
              </a:ext>
            </a:extLst>
          </p:cNvPr>
          <p:cNvSpPr/>
          <p:nvPr/>
        </p:nvSpPr>
        <p:spPr>
          <a:xfrm>
            <a:off x="-9939" y="5814391"/>
            <a:ext cx="5903843" cy="1053548"/>
          </a:xfrm>
          <a:prstGeom prst="snip1Rect">
            <a:avLst>
              <a:gd name="adj" fmla="val 50000"/>
            </a:avLst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US" noProof="0" dirty="0"/>
          </a:p>
        </p:txBody>
      </p:sp>
      <p:pic>
        <p:nvPicPr>
          <p:cNvPr id="14" name="Imagen 13">
            <a:extLst>
              <a:ext uri="{FF2B5EF4-FFF2-40B4-BE49-F238E27FC236}">
                <a16:creationId xmlns:a16="http://schemas.microsoft.com/office/drawing/2014/main" id="{42C7265F-CDE4-D574-1F36-9A14E4075F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0767" y="5928401"/>
            <a:ext cx="2827669" cy="825528"/>
          </a:xfrm>
          <a:prstGeom prst="rect">
            <a:avLst/>
          </a:prstGeom>
        </p:spPr>
      </p:pic>
      <p:pic>
        <p:nvPicPr>
          <p:cNvPr id="15" name="Imagen 14">
            <a:extLst>
              <a:ext uri="{FF2B5EF4-FFF2-40B4-BE49-F238E27FC236}">
                <a16:creationId xmlns:a16="http://schemas.microsoft.com/office/drawing/2014/main" id="{D1BFFD12-CED7-2EEB-7309-89524E5239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61751" y="5963285"/>
            <a:ext cx="3962401" cy="1024115"/>
          </a:xfrm>
          <a:prstGeom prst="rect">
            <a:avLst/>
          </a:prstGeom>
        </p:spPr>
      </p:pic>
      <p:sp>
        <p:nvSpPr>
          <p:cNvPr id="18" name="CuadroTexto 17">
            <a:extLst>
              <a:ext uri="{FF2B5EF4-FFF2-40B4-BE49-F238E27FC236}">
                <a16:creationId xmlns:a16="http://schemas.microsoft.com/office/drawing/2014/main" id="{A2FCE491-BEA8-4694-B45E-38DA011CB817}"/>
              </a:ext>
            </a:extLst>
          </p:cNvPr>
          <p:cNvSpPr txBox="1"/>
          <p:nvPr/>
        </p:nvSpPr>
        <p:spPr>
          <a:xfrm>
            <a:off x="5739618" y="5614677"/>
            <a:ext cx="63246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s-EC" sz="1800" b="1" dirty="0">
                <a:solidFill>
                  <a:srgbClr val="0E2E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Credenciales Pagina web y Rasberry pi </a:t>
            </a:r>
            <a:r>
              <a:rPr lang="es-EC" sz="1800" b="1" dirty="0" err="1">
                <a:solidFill>
                  <a:srgbClr val="0E2E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connect</a:t>
            </a:r>
            <a:endParaRPr lang="es-EC" sz="1800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6B16B8F-56D8-4FA5-B3B1-035E44AD57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4882" y="727954"/>
            <a:ext cx="11549225" cy="48767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EC" altLang="es-EC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Red Perimetral Aislada:</a:t>
            </a:r>
            <a:r>
              <a:rPr kumimoji="0" lang="es-EC" altLang="es-EC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El enrutador LTE opera bajo Carrier-Grade NAT (CGNAT), lo que bloquea escaneos de puertos externos y ataques de fuerza bruta.</a:t>
            </a:r>
          </a:p>
          <a:p>
            <a:pPr marL="0" marR="0" lvl="0" indent="0" algn="just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EC" altLang="es-EC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Protección de Datos Locales:</a:t>
            </a:r>
            <a:r>
              <a:rPr kumimoji="0" lang="es-EC" altLang="es-EC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Las evidencias fotográficas y registros .</a:t>
            </a:r>
            <a:r>
              <a:rPr kumimoji="0" lang="es-EC" altLang="es-EC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csv</a:t>
            </a:r>
            <a:r>
              <a:rPr kumimoji="0" lang="es-EC" altLang="es-EC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se respaldan automáticamente de forma cifrada (protocolos TLS vía </a:t>
            </a:r>
            <a:r>
              <a:rPr kumimoji="0" lang="es-EC" altLang="es-EC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rclone</a:t>
            </a:r>
            <a:r>
              <a:rPr kumimoji="0" lang="es-EC" altLang="es-EC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). </a:t>
            </a:r>
          </a:p>
          <a:p>
            <a:pPr marL="0" marR="0" lvl="0" indent="0" algn="just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EC" altLang="es-EC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Autenticación en la Nube:</a:t>
            </a:r>
            <a:r>
              <a:rPr kumimoji="0" lang="es-EC" altLang="es-EC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La interfaz web utiliza un flujo de tokens OAuth temporales y llamadas directas a la API REST de Google, evitando la exposición de claves privadas. </a:t>
            </a:r>
          </a:p>
          <a:p>
            <a:pPr marL="0" marR="0" lvl="0" indent="0" algn="just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EC" altLang="es-EC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Gestión de Permisos (</a:t>
            </a:r>
            <a:r>
              <a:rPr kumimoji="0" lang="es-EC" altLang="es-EC" sz="2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Secrets</a:t>
            </a:r>
            <a:r>
              <a:rPr kumimoji="0" lang="es-EC" altLang="es-EC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):</a:t>
            </a:r>
            <a:r>
              <a:rPr kumimoji="0" lang="es-EC" altLang="es-EC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Integración de variables de entorno protegidas (</a:t>
            </a:r>
            <a:r>
              <a:rPr kumimoji="0" lang="es-EC" altLang="es-EC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st.secrets</a:t>
            </a:r>
            <a:r>
              <a:rPr kumimoji="0" lang="es-EC" altLang="es-EC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 para la Cuenta de Servicio, bloqueando fugas de credenciales en el código fuente. </a:t>
            </a:r>
          </a:p>
        </p:txBody>
      </p:sp>
    </p:spTree>
    <p:extLst>
      <p:ext uri="{BB962C8B-B14F-4D97-AF65-F5344CB8AC3E}">
        <p14:creationId xmlns:p14="http://schemas.microsoft.com/office/powerpoint/2010/main" val="356242779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ED6046-7FBA-AD88-F0E2-C9EC2BB0E5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lecha: pentágono 11">
            <a:extLst>
              <a:ext uri="{FF2B5EF4-FFF2-40B4-BE49-F238E27FC236}">
                <a16:creationId xmlns:a16="http://schemas.microsoft.com/office/drawing/2014/main" id="{383B9953-D494-4B31-AA51-7C14DD478B7E}"/>
              </a:ext>
            </a:extLst>
          </p:cNvPr>
          <p:cNvSpPr/>
          <p:nvPr/>
        </p:nvSpPr>
        <p:spPr>
          <a:xfrm>
            <a:off x="283348" y="104071"/>
            <a:ext cx="9089252" cy="702986"/>
          </a:xfrm>
          <a:prstGeom prst="homePlate">
            <a:avLst/>
          </a:prstGeom>
          <a:solidFill>
            <a:srgbClr val="C00000"/>
          </a:solidFill>
          <a:ln/>
          <a:scene3d>
            <a:camera prst="orthographicFront"/>
            <a:lightRig rig="threePt" dir="t"/>
          </a:scene3d>
          <a:sp3d>
            <a:bevelT w="165100" prst="coolSlant"/>
          </a:sp3d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US" sz="2400" b="1" noProof="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Desarrollo :</a:t>
            </a:r>
            <a:r>
              <a:rPr lang="es-MX" sz="2400" b="1" noProof="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Seguridad, Privacidad de Datos y Control de Acceso</a:t>
            </a:r>
          </a:p>
          <a:p>
            <a:r>
              <a:rPr lang="es-US" sz="2400" b="1" noProof="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s-US" sz="2400" b="1" noProof="0" dirty="0">
              <a:solidFill>
                <a:schemeClr val="bg1"/>
              </a:solidFill>
            </a:endParaRP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3BE2F439-3399-07B2-5CC8-F0B84770BD80}"/>
              </a:ext>
            </a:extLst>
          </p:cNvPr>
          <p:cNvSpPr/>
          <p:nvPr/>
        </p:nvSpPr>
        <p:spPr>
          <a:xfrm>
            <a:off x="5526157" y="6092687"/>
            <a:ext cx="6665843" cy="765313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US" noProof="0" dirty="0"/>
          </a:p>
        </p:txBody>
      </p:sp>
      <p:sp>
        <p:nvSpPr>
          <p:cNvPr id="11" name="Recortar rectángulo de una esquina 9">
            <a:extLst>
              <a:ext uri="{FF2B5EF4-FFF2-40B4-BE49-F238E27FC236}">
                <a16:creationId xmlns:a16="http://schemas.microsoft.com/office/drawing/2014/main" id="{AA24DCA0-A0BC-1896-AEE7-74E5FE4B836F}"/>
              </a:ext>
            </a:extLst>
          </p:cNvPr>
          <p:cNvSpPr/>
          <p:nvPr/>
        </p:nvSpPr>
        <p:spPr>
          <a:xfrm>
            <a:off x="-9939" y="5814391"/>
            <a:ext cx="5903843" cy="1053548"/>
          </a:xfrm>
          <a:prstGeom prst="snip1Rect">
            <a:avLst>
              <a:gd name="adj" fmla="val 50000"/>
            </a:avLst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US" noProof="0" dirty="0"/>
          </a:p>
        </p:txBody>
      </p:sp>
      <p:pic>
        <p:nvPicPr>
          <p:cNvPr id="14" name="Imagen 13">
            <a:extLst>
              <a:ext uri="{FF2B5EF4-FFF2-40B4-BE49-F238E27FC236}">
                <a16:creationId xmlns:a16="http://schemas.microsoft.com/office/drawing/2014/main" id="{42C7265F-CDE4-D574-1F36-9A14E4075F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0767" y="5928401"/>
            <a:ext cx="2827669" cy="825528"/>
          </a:xfrm>
          <a:prstGeom prst="rect">
            <a:avLst/>
          </a:prstGeom>
        </p:spPr>
      </p:pic>
      <p:pic>
        <p:nvPicPr>
          <p:cNvPr id="15" name="Imagen 14">
            <a:extLst>
              <a:ext uri="{FF2B5EF4-FFF2-40B4-BE49-F238E27FC236}">
                <a16:creationId xmlns:a16="http://schemas.microsoft.com/office/drawing/2014/main" id="{D1BFFD12-CED7-2EEB-7309-89524E5239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61751" y="5963285"/>
            <a:ext cx="3962401" cy="1024115"/>
          </a:xfrm>
          <a:prstGeom prst="rect">
            <a:avLst/>
          </a:prstGeom>
        </p:spPr>
      </p:pic>
      <p:sp>
        <p:nvSpPr>
          <p:cNvPr id="18" name="CuadroTexto 17">
            <a:extLst>
              <a:ext uri="{FF2B5EF4-FFF2-40B4-BE49-F238E27FC236}">
                <a16:creationId xmlns:a16="http://schemas.microsoft.com/office/drawing/2014/main" id="{A2FCE491-BEA8-4694-B45E-38DA011CB817}"/>
              </a:ext>
            </a:extLst>
          </p:cNvPr>
          <p:cNvSpPr txBox="1"/>
          <p:nvPr/>
        </p:nvSpPr>
        <p:spPr>
          <a:xfrm>
            <a:off x="5739618" y="5614677"/>
            <a:ext cx="63246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s-EC" sz="1800" b="1" dirty="0">
                <a:solidFill>
                  <a:srgbClr val="0E2E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Credenciales Pagina web y Rasberry pi </a:t>
            </a:r>
            <a:r>
              <a:rPr lang="es-EC" sz="1800" b="1" dirty="0" err="1">
                <a:solidFill>
                  <a:srgbClr val="0E2E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connect</a:t>
            </a:r>
            <a:endParaRPr lang="es-EC" sz="1800" dirty="0"/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EEFEAE89-8A81-45CB-A0B2-24642146638E}"/>
              </a:ext>
            </a:extLst>
          </p:cNvPr>
          <p:cNvSpPr txBox="1"/>
          <p:nvPr/>
        </p:nvSpPr>
        <p:spPr>
          <a:xfrm>
            <a:off x="949676" y="5199649"/>
            <a:ext cx="444110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s-EC" sz="1800" b="1" dirty="0">
                <a:solidFill>
                  <a:srgbClr val="0E2E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Credenciales de conexión al drive mediante Google drive api</a:t>
            </a:r>
            <a:endParaRPr lang="es-EC" sz="1800" dirty="0"/>
          </a:p>
        </p:txBody>
      </p:sp>
      <p:pic>
        <p:nvPicPr>
          <p:cNvPr id="20" name="Imagen 19">
            <a:extLst>
              <a:ext uri="{FF2B5EF4-FFF2-40B4-BE49-F238E27FC236}">
                <a16:creationId xmlns:a16="http://schemas.microsoft.com/office/drawing/2014/main" id="{29FF71C3-B40F-4AF0-8D8C-130736D2260E}"/>
              </a:ext>
            </a:extLst>
          </p:cNvPr>
          <p:cNvPicPr/>
          <p:nvPr/>
        </p:nvPicPr>
        <p:blipFill>
          <a:blip r:embed="rId4"/>
          <a:stretch>
            <a:fillRect/>
          </a:stretch>
        </p:blipFill>
        <p:spPr>
          <a:xfrm>
            <a:off x="6600091" y="1251856"/>
            <a:ext cx="4788877" cy="1959011"/>
          </a:xfrm>
          <a:prstGeom prst="rect">
            <a:avLst/>
          </a:prstGeom>
        </p:spPr>
      </p:pic>
      <p:pic>
        <p:nvPicPr>
          <p:cNvPr id="21" name="Imagen 20">
            <a:extLst>
              <a:ext uri="{FF2B5EF4-FFF2-40B4-BE49-F238E27FC236}">
                <a16:creationId xmlns:a16="http://schemas.microsoft.com/office/drawing/2014/main" id="{2F0131EF-E94F-4F5B-A922-38B36B7C8469}"/>
              </a:ext>
            </a:extLst>
          </p:cNvPr>
          <p:cNvPicPr/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00092" y="3210866"/>
            <a:ext cx="4788876" cy="1959012"/>
          </a:xfrm>
          <a:prstGeom prst="rect">
            <a:avLst/>
          </a:prstGeom>
          <a:noFill/>
        </p:spPr>
      </p:pic>
      <p:pic>
        <p:nvPicPr>
          <p:cNvPr id="22" name="Imagen 21">
            <a:extLst>
              <a:ext uri="{FF2B5EF4-FFF2-40B4-BE49-F238E27FC236}">
                <a16:creationId xmlns:a16="http://schemas.microsoft.com/office/drawing/2014/main" id="{E176B9E6-3456-483B-96C6-2121D7AAEF8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0613" y="2885165"/>
            <a:ext cx="3823433" cy="2371045"/>
          </a:xfrm>
          <a:prstGeom prst="rect">
            <a:avLst/>
          </a:prstGeom>
        </p:spPr>
      </p:pic>
      <p:pic>
        <p:nvPicPr>
          <p:cNvPr id="23" name="Imagen 22">
            <a:extLst>
              <a:ext uri="{FF2B5EF4-FFF2-40B4-BE49-F238E27FC236}">
                <a16:creationId xmlns:a16="http://schemas.microsoft.com/office/drawing/2014/main" id="{FBFF8192-085A-445C-B4BF-45D9F5E57A5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00613" y="1284942"/>
            <a:ext cx="3823433" cy="15809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335096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004E8E-C094-F9BA-5110-02BE78C093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lecha: pentágono 11">
            <a:extLst>
              <a:ext uri="{FF2B5EF4-FFF2-40B4-BE49-F238E27FC236}">
                <a16:creationId xmlns:a16="http://schemas.microsoft.com/office/drawing/2014/main" id="{95E77573-D29F-5561-DD03-8B53BA6892B9}"/>
              </a:ext>
            </a:extLst>
          </p:cNvPr>
          <p:cNvSpPr/>
          <p:nvPr/>
        </p:nvSpPr>
        <p:spPr>
          <a:xfrm>
            <a:off x="283348" y="104071"/>
            <a:ext cx="7336652" cy="924147"/>
          </a:xfrm>
          <a:prstGeom prst="homePlate">
            <a:avLst/>
          </a:prstGeom>
          <a:solidFill>
            <a:srgbClr val="C00000"/>
          </a:solidFill>
          <a:ln/>
          <a:scene3d>
            <a:camera prst="orthographicFront"/>
            <a:lightRig rig="threePt" dir="t"/>
          </a:scene3d>
          <a:sp3d>
            <a:bevelT w="165100" prst="coolSlant"/>
          </a:sp3d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US" sz="36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Evidencias : Conectividad LTE </a:t>
            </a:r>
            <a:endParaRPr lang="es-US" sz="3600" b="1" noProof="0" dirty="0">
              <a:solidFill>
                <a:schemeClr val="bg1"/>
              </a:solidFill>
            </a:endParaRP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FDAC0D0F-6BDD-BD9E-D98F-399A88861962}"/>
              </a:ext>
            </a:extLst>
          </p:cNvPr>
          <p:cNvSpPr/>
          <p:nvPr/>
        </p:nvSpPr>
        <p:spPr>
          <a:xfrm>
            <a:off x="5526157" y="6092687"/>
            <a:ext cx="6665843" cy="765313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US" noProof="0" dirty="0"/>
          </a:p>
        </p:txBody>
      </p:sp>
      <p:sp>
        <p:nvSpPr>
          <p:cNvPr id="11" name="Recortar rectángulo de una esquina 9">
            <a:extLst>
              <a:ext uri="{FF2B5EF4-FFF2-40B4-BE49-F238E27FC236}">
                <a16:creationId xmlns:a16="http://schemas.microsoft.com/office/drawing/2014/main" id="{39BF9D91-2AFF-ECE1-221C-1A540035B2EA}"/>
              </a:ext>
            </a:extLst>
          </p:cNvPr>
          <p:cNvSpPr/>
          <p:nvPr/>
        </p:nvSpPr>
        <p:spPr>
          <a:xfrm>
            <a:off x="-9939" y="5814391"/>
            <a:ext cx="5903843" cy="1053548"/>
          </a:xfrm>
          <a:prstGeom prst="snip1Rect">
            <a:avLst>
              <a:gd name="adj" fmla="val 50000"/>
            </a:avLst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US" noProof="0" dirty="0"/>
          </a:p>
        </p:txBody>
      </p:sp>
      <p:pic>
        <p:nvPicPr>
          <p:cNvPr id="14" name="Imagen 13">
            <a:extLst>
              <a:ext uri="{FF2B5EF4-FFF2-40B4-BE49-F238E27FC236}">
                <a16:creationId xmlns:a16="http://schemas.microsoft.com/office/drawing/2014/main" id="{FD6B625B-7086-CCC5-360C-7C3B9A5A3C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0767" y="5928401"/>
            <a:ext cx="2827669" cy="825528"/>
          </a:xfrm>
          <a:prstGeom prst="rect">
            <a:avLst/>
          </a:prstGeom>
        </p:spPr>
      </p:pic>
      <p:pic>
        <p:nvPicPr>
          <p:cNvPr id="15" name="Imagen 14">
            <a:extLst>
              <a:ext uri="{FF2B5EF4-FFF2-40B4-BE49-F238E27FC236}">
                <a16:creationId xmlns:a16="http://schemas.microsoft.com/office/drawing/2014/main" id="{8B729AA4-776A-3181-8DDB-791A27DA3E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61751" y="5963285"/>
            <a:ext cx="3962401" cy="1024115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4F858FA6-85F9-494A-933E-9222E90114F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1179208"/>
            <a:ext cx="4929401" cy="3643797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8EBF3BA1-1F6B-403B-B64F-936851B3DD2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73442" y="1148860"/>
            <a:ext cx="5106540" cy="3704492"/>
          </a:xfrm>
          <a:prstGeom prst="rect">
            <a:avLst/>
          </a:prstGeom>
        </p:spPr>
      </p:pic>
      <p:sp>
        <p:nvSpPr>
          <p:cNvPr id="13" name="CuadroTexto 12">
            <a:extLst>
              <a:ext uri="{FF2B5EF4-FFF2-40B4-BE49-F238E27FC236}">
                <a16:creationId xmlns:a16="http://schemas.microsoft.com/office/drawing/2014/main" id="{3C27EF87-720B-431E-98D7-FA9E0D2C5A5C}"/>
              </a:ext>
            </a:extLst>
          </p:cNvPr>
          <p:cNvSpPr txBox="1"/>
          <p:nvPr/>
        </p:nvSpPr>
        <p:spPr>
          <a:xfrm>
            <a:off x="202223" y="4875732"/>
            <a:ext cx="63246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E2E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Claro EC</a:t>
            </a:r>
            <a:endParaRPr lang="en-US" sz="1800" dirty="0"/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761F3EF2-336F-47EC-B131-1ECACB9811B4}"/>
              </a:ext>
            </a:extLst>
          </p:cNvPr>
          <p:cNvSpPr txBox="1"/>
          <p:nvPr/>
        </p:nvSpPr>
        <p:spPr>
          <a:xfrm>
            <a:off x="5916880" y="4906079"/>
            <a:ext cx="63246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US" sz="1800" b="1" dirty="0" err="1">
                <a:solidFill>
                  <a:srgbClr val="C84A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AkiMovil</a:t>
            </a:r>
            <a:r>
              <a:rPr lang="en-US" sz="1800" b="1" dirty="0">
                <a:solidFill>
                  <a:srgbClr val="C84A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/ Movistar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144384569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004E8E-C094-F9BA-5110-02BE78C093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lecha: pentágono 11">
            <a:extLst>
              <a:ext uri="{FF2B5EF4-FFF2-40B4-BE49-F238E27FC236}">
                <a16:creationId xmlns:a16="http://schemas.microsoft.com/office/drawing/2014/main" id="{95E77573-D29F-5561-DD03-8B53BA6892B9}"/>
              </a:ext>
            </a:extLst>
          </p:cNvPr>
          <p:cNvSpPr/>
          <p:nvPr/>
        </p:nvSpPr>
        <p:spPr>
          <a:xfrm>
            <a:off x="283348" y="104071"/>
            <a:ext cx="7336652" cy="924147"/>
          </a:xfrm>
          <a:prstGeom prst="homePlate">
            <a:avLst/>
          </a:prstGeom>
          <a:solidFill>
            <a:srgbClr val="C00000"/>
          </a:solidFill>
          <a:ln/>
          <a:scene3d>
            <a:camera prst="orthographicFront"/>
            <a:lightRig rig="threePt" dir="t"/>
          </a:scene3d>
          <a:sp3d>
            <a:bevelT w="165100" prst="coolSlant"/>
          </a:sp3d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US" sz="36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Evidencias : Conectividad LTE </a:t>
            </a:r>
            <a:endParaRPr lang="es-US" sz="3600" b="1" noProof="0" dirty="0">
              <a:solidFill>
                <a:schemeClr val="bg1"/>
              </a:solidFill>
            </a:endParaRP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FDAC0D0F-6BDD-BD9E-D98F-399A88861962}"/>
              </a:ext>
            </a:extLst>
          </p:cNvPr>
          <p:cNvSpPr/>
          <p:nvPr/>
        </p:nvSpPr>
        <p:spPr>
          <a:xfrm>
            <a:off x="5526157" y="6092687"/>
            <a:ext cx="6665843" cy="765313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US" noProof="0" dirty="0"/>
          </a:p>
        </p:txBody>
      </p:sp>
      <p:sp>
        <p:nvSpPr>
          <p:cNvPr id="11" name="Recortar rectángulo de una esquina 9">
            <a:extLst>
              <a:ext uri="{FF2B5EF4-FFF2-40B4-BE49-F238E27FC236}">
                <a16:creationId xmlns:a16="http://schemas.microsoft.com/office/drawing/2014/main" id="{39BF9D91-2AFF-ECE1-221C-1A540035B2EA}"/>
              </a:ext>
            </a:extLst>
          </p:cNvPr>
          <p:cNvSpPr/>
          <p:nvPr/>
        </p:nvSpPr>
        <p:spPr>
          <a:xfrm>
            <a:off x="-9939" y="5814391"/>
            <a:ext cx="5903843" cy="1053548"/>
          </a:xfrm>
          <a:prstGeom prst="snip1Rect">
            <a:avLst>
              <a:gd name="adj" fmla="val 50000"/>
            </a:avLst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US" noProof="0" dirty="0"/>
          </a:p>
        </p:txBody>
      </p:sp>
      <p:pic>
        <p:nvPicPr>
          <p:cNvPr id="14" name="Imagen 13">
            <a:extLst>
              <a:ext uri="{FF2B5EF4-FFF2-40B4-BE49-F238E27FC236}">
                <a16:creationId xmlns:a16="http://schemas.microsoft.com/office/drawing/2014/main" id="{FD6B625B-7086-CCC5-360C-7C3B9A5A3C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0767" y="5928401"/>
            <a:ext cx="2827669" cy="825528"/>
          </a:xfrm>
          <a:prstGeom prst="rect">
            <a:avLst/>
          </a:prstGeom>
        </p:spPr>
      </p:pic>
      <p:pic>
        <p:nvPicPr>
          <p:cNvPr id="15" name="Imagen 14">
            <a:extLst>
              <a:ext uri="{FF2B5EF4-FFF2-40B4-BE49-F238E27FC236}">
                <a16:creationId xmlns:a16="http://schemas.microsoft.com/office/drawing/2014/main" id="{8B729AA4-776A-3181-8DDB-791A27DA3E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61751" y="5963285"/>
            <a:ext cx="3962401" cy="1024115"/>
          </a:xfrm>
          <a:prstGeom prst="rect">
            <a:avLst/>
          </a:prstGeom>
        </p:spPr>
      </p:pic>
      <p:sp>
        <p:nvSpPr>
          <p:cNvPr id="64" name="TextBox 4">
            <a:extLst>
              <a:ext uri="{FF2B5EF4-FFF2-40B4-BE49-F238E27FC236}">
                <a16:creationId xmlns:a16="http://schemas.microsoft.com/office/drawing/2014/main" id="{0FBF13D8-3C4C-4234-98CE-8C45E4E9BFF9}"/>
              </a:ext>
            </a:extLst>
          </p:cNvPr>
          <p:cNvSpPr txBox="1"/>
          <p:nvPr/>
        </p:nvSpPr>
        <p:spPr>
          <a:xfrm>
            <a:off x="570914" y="1094703"/>
            <a:ext cx="5319661" cy="393954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lang="es-EC" sz="2200" b="1" dirty="0">
                <a:solidFill>
                  <a:srgbClr val="141414"/>
                </a:solidFill>
                <a:latin typeface="Arial"/>
              </a:rPr>
              <a:t>La conectividad fue la limitación crítica</a:t>
            </a:r>
          </a:p>
        </p:txBody>
      </p:sp>
      <p:sp>
        <p:nvSpPr>
          <p:cNvPr id="65" name="Rounded Rectangle 5">
            <a:extLst>
              <a:ext uri="{FF2B5EF4-FFF2-40B4-BE49-F238E27FC236}">
                <a16:creationId xmlns:a16="http://schemas.microsoft.com/office/drawing/2014/main" id="{F36507DD-FFEC-489B-82C0-B17CDC58A519}"/>
              </a:ext>
            </a:extLst>
          </p:cNvPr>
          <p:cNvSpPr/>
          <p:nvPr/>
        </p:nvSpPr>
        <p:spPr>
          <a:xfrm>
            <a:off x="570914" y="1679919"/>
            <a:ext cx="1508760" cy="411480"/>
          </a:xfrm>
          <a:prstGeom prst="roundRect">
            <a:avLst/>
          </a:prstGeom>
          <a:solidFill>
            <a:srgbClr val="C00000"/>
          </a:solidFill>
          <a:ln>
            <a:solidFill>
              <a:srgbClr val="E8E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">
            <a:extLst>
              <a:ext uri="{FF2B5EF4-FFF2-40B4-BE49-F238E27FC236}">
                <a16:creationId xmlns:a16="http://schemas.microsoft.com/office/drawing/2014/main" id="{1625D3D4-3A8C-44E5-A9F0-3ACBFF80CA11}"/>
              </a:ext>
            </a:extLst>
          </p:cNvPr>
          <p:cNvSpPr txBox="1"/>
          <p:nvPr/>
        </p:nvSpPr>
        <p:spPr>
          <a:xfrm>
            <a:off x="708074" y="1753071"/>
            <a:ext cx="1234439" cy="265176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  <a:latin typeface="Arial"/>
              </a:rPr>
              <a:t>Parámetro</a:t>
            </a:r>
          </a:p>
        </p:txBody>
      </p:sp>
      <p:sp>
        <p:nvSpPr>
          <p:cNvPr id="67" name="Rounded Rectangle 7">
            <a:extLst>
              <a:ext uri="{FF2B5EF4-FFF2-40B4-BE49-F238E27FC236}">
                <a16:creationId xmlns:a16="http://schemas.microsoft.com/office/drawing/2014/main" id="{85AE26F0-1861-4F16-AF9C-2F18F6890560}"/>
              </a:ext>
            </a:extLst>
          </p:cNvPr>
          <p:cNvSpPr/>
          <p:nvPr/>
        </p:nvSpPr>
        <p:spPr>
          <a:xfrm>
            <a:off x="2216834" y="1679919"/>
            <a:ext cx="1920240" cy="411480"/>
          </a:xfrm>
          <a:prstGeom prst="roundRect">
            <a:avLst/>
          </a:prstGeom>
          <a:solidFill>
            <a:srgbClr val="C00000"/>
          </a:solidFill>
          <a:ln>
            <a:solidFill>
              <a:srgbClr val="E8E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8">
            <a:extLst>
              <a:ext uri="{FF2B5EF4-FFF2-40B4-BE49-F238E27FC236}">
                <a16:creationId xmlns:a16="http://schemas.microsoft.com/office/drawing/2014/main" id="{950C4DDD-C9DB-4F70-9076-3E66592EC9A0}"/>
              </a:ext>
            </a:extLst>
          </p:cNvPr>
          <p:cNvSpPr txBox="1"/>
          <p:nvPr/>
        </p:nvSpPr>
        <p:spPr>
          <a:xfrm>
            <a:off x="2353994" y="1753071"/>
            <a:ext cx="1645920" cy="265176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  <a:latin typeface="Arial"/>
              </a:rPr>
              <a:t>AkiMovil (Movistar)</a:t>
            </a:r>
          </a:p>
        </p:txBody>
      </p:sp>
      <p:sp>
        <p:nvSpPr>
          <p:cNvPr id="69" name="Rounded Rectangle 9">
            <a:extLst>
              <a:ext uri="{FF2B5EF4-FFF2-40B4-BE49-F238E27FC236}">
                <a16:creationId xmlns:a16="http://schemas.microsoft.com/office/drawing/2014/main" id="{974EF706-D4F9-4901-A1DB-D6B7823310A3}"/>
              </a:ext>
            </a:extLst>
          </p:cNvPr>
          <p:cNvSpPr/>
          <p:nvPr/>
        </p:nvSpPr>
        <p:spPr>
          <a:xfrm>
            <a:off x="4228514" y="1679919"/>
            <a:ext cx="1920240" cy="411480"/>
          </a:xfrm>
          <a:prstGeom prst="roundRect">
            <a:avLst/>
          </a:prstGeom>
          <a:solidFill>
            <a:srgbClr val="C00000"/>
          </a:solidFill>
          <a:ln>
            <a:solidFill>
              <a:srgbClr val="E8E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10">
            <a:extLst>
              <a:ext uri="{FF2B5EF4-FFF2-40B4-BE49-F238E27FC236}">
                <a16:creationId xmlns:a16="http://schemas.microsoft.com/office/drawing/2014/main" id="{5C1DB65B-7C67-4863-B4F1-F31FF5ABCD92}"/>
              </a:ext>
            </a:extLst>
          </p:cNvPr>
          <p:cNvSpPr txBox="1"/>
          <p:nvPr/>
        </p:nvSpPr>
        <p:spPr>
          <a:xfrm>
            <a:off x="4365674" y="1753071"/>
            <a:ext cx="1645920" cy="265176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  <a:latin typeface="Arial"/>
              </a:rPr>
              <a:t>Claro EC</a:t>
            </a:r>
          </a:p>
        </p:txBody>
      </p:sp>
      <p:sp>
        <p:nvSpPr>
          <p:cNvPr id="71" name="Rounded Rectangle 11">
            <a:extLst>
              <a:ext uri="{FF2B5EF4-FFF2-40B4-BE49-F238E27FC236}">
                <a16:creationId xmlns:a16="http://schemas.microsoft.com/office/drawing/2014/main" id="{30B669B2-125A-4D26-8598-7FF187722F8C}"/>
              </a:ext>
            </a:extLst>
          </p:cNvPr>
          <p:cNvSpPr/>
          <p:nvPr/>
        </p:nvSpPr>
        <p:spPr>
          <a:xfrm>
            <a:off x="6240194" y="1679919"/>
            <a:ext cx="4480560" cy="411480"/>
          </a:xfrm>
          <a:prstGeom prst="roundRect">
            <a:avLst/>
          </a:prstGeom>
          <a:solidFill>
            <a:srgbClr val="C00000"/>
          </a:solidFill>
          <a:ln>
            <a:solidFill>
              <a:srgbClr val="E8E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12">
            <a:extLst>
              <a:ext uri="{FF2B5EF4-FFF2-40B4-BE49-F238E27FC236}">
                <a16:creationId xmlns:a16="http://schemas.microsoft.com/office/drawing/2014/main" id="{A80CB1B3-03AB-4D50-9CF0-30F43D45EE1D}"/>
              </a:ext>
            </a:extLst>
          </p:cNvPr>
          <p:cNvSpPr txBox="1"/>
          <p:nvPr/>
        </p:nvSpPr>
        <p:spPr>
          <a:xfrm>
            <a:off x="6377354" y="1753071"/>
            <a:ext cx="4206240" cy="265176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  <a:latin typeface="Arial"/>
              </a:rPr>
              <a:t>Lectura</a:t>
            </a:r>
          </a:p>
        </p:txBody>
      </p:sp>
      <p:sp>
        <p:nvSpPr>
          <p:cNvPr id="73" name="Rectangle 13">
            <a:extLst>
              <a:ext uri="{FF2B5EF4-FFF2-40B4-BE49-F238E27FC236}">
                <a16:creationId xmlns:a16="http://schemas.microsoft.com/office/drawing/2014/main" id="{80163CAC-9A56-4E34-803D-AD20D3D8A910}"/>
              </a:ext>
            </a:extLst>
          </p:cNvPr>
          <p:cNvSpPr/>
          <p:nvPr/>
        </p:nvSpPr>
        <p:spPr>
          <a:xfrm>
            <a:off x="570914" y="2137119"/>
            <a:ext cx="1508760" cy="502920"/>
          </a:xfrm>
          <a:prstGeom prst="rect">
            <a:avLst/>
          </a:prstGeom>
          <a:solidFill>
            <a:srgbClr val="F5F5F2"/>
          </a:solidFill>
          <a:ln>
            <a:solidFill>
              <a:srgbClr val="E8E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TextBox 14">
            <a:extLst>
              <a:ext uri="{FF2B5EF4-FFF2-40B4-BE49-F238E27FC236}">
                <a16:creationId xmlns:a16="http://schemas.microsoft.com/office/drawing/2014/main" id="{B2D89CB7-906D-4929-B190-2EA1AF3AE001}"/>
              </a:ext>
            </a:extLst>
          </p:cNvPr>
          <p:cNvSpPr txBox="1"/>
          <p:nvPr/>
        </p:nvSpPr>
        <p:spPr>
          <a:xfrm>
            <a:off x="634922" y="2191983"/>
            <a:ext cx="1380743" cy="347472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ctr"/>
            <a:r>
              <a:rPr sz="1150" b="0">
                <a:solidFill>
                  <a:srgbClr val="141414"/>
                </a:solidFill>
                <a:latin typeface="Arial"/>
              </a:rPr>
              <a:t>Banda</a:t>
            </a:r>
          </a:p>
        </p:txBody>
      </p:sp>
      <p:sp>
        <p:nvSpPr>
          <p:cNvPr id="75" name="Rectangle 15">
            <a:extLst>
              <a:ext uri="{FF2B5EF4-FFF2-40B4-BE49-F238E27FC236}">
                <a16:creationId xmlns:a16="http://schemas.microsoft.com/office/drawing/2014/main" id="{6D923395-0810-47B4-B116-DDC389E5CDF0}"/>
              </a:ext>
            </a:extLst>
          </p:cNvPr>
          <p:cNvSpPr/>
          <p:nvPr/>
        </p:nvSpPr>
        <p:spPr>
          <a:xfrm>
            <a:off x="2216834" y="2137119"/>
            <a:ext cx="1920240" cy="502920"/>
          </a:xfrm>
          <a:prstGeom prst="rect">
            <a:avLst/>
          </a:prstGeom>
          <a:solidFill>
            <a:srgbClr val="F5F5F2"/>
          </a:solidFill>
          <a:ln>
            <a:solidFill>
              <a:srgbClr val="E8E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TextBox 16">
            <a:extLst>
              <a:ext uri="{FF2B5EF4-FFF2-40B4-BE49-F238E27FC236}">
                <a16:creationId xmlns:a16="http://schemas.microsoft.com/office/drawing/2014/main" id="{7566651E-0784-407C-9B16-2153950043C6}"/>
              </a:ext>
            </a:extLst>
          </p:cNvPr>
          <p:cNvSpPr txBox="1"/>
          <p:nvPr/>
        </p:nvSpPr>
        <p:spPr>
          <a:xfrm>
            <a:off x="2280842" y="2191983"/>
            <a:ext cx="1792224" cy="347472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ctr"/>
            <a:r>
              <a:rPr sz="1150" b="0">
                <a:solidFill>
                  <a:srgbClr val="141414"/>
                </a:solidFill>
                <a:latin typeface="Arial"/>
              </a:rPr>
              <a:t>2 (1900 MHz)</a:t>
            </a:r>
          </a:p>
        </p:txBody>
      </p:sp>
      <p:sp>
        <p:nvSpPr>
          <p:cNvPr id="77" name="Rectangle 17">
            <a:extLst>
              <a:ext uri="{FF2B5EF4-FFF2-40B4-BE49-F238E27FC236}">
                <a16:creationId xmlns:a16="http://schemas.microsoft.com/office/drawing/2014/main" id="{4768EF20-63BD-414F-B8E3-673ACE36DCB0}"/>
              </a:ext>
            </a:extLst>
          </p:cNvPr>
          <p:cNvSpPr/>
          <p:nvPr/>
        </p:nvSpPr>
        <p:spPr>
          <a:xfrm>
            <a:off x="4228514" y="2137119"/>
            <a:ext cx="1920240" cy="502920"/>
          </a:xfrm>
          <a:prstGeom prst="rect">
            <a:avLst/>
          </a:prstGeom>
          <a:solidFill>
            <a:srgbClr val="F5F5F2"/>
          </a:solidFill>
          <a:ln>
            <a:solidFill>
              <a:srgbClr val="E8E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TextBox 18">
            <a:extLst>
              <a:ext uri="{FF2B5EF4-FFF2-40B4-BE49-F238E27FC236}">
                <a16:creationId xmlns:a16="http://schemas.microsoft.com/office/drawing/2014/main" id="{C22ACC31-B785-47C5-8253-2F31B6867304}"/>
              </a:ext>
            </a:extLst>
          </p:cNvPr>
          <p:cNvSpPr txBox="1"/>
          <p:nvPr/>
        </p:nvSpPr>
        <p:spPr>
          <a:xfrm>
            <a:off x="4292522" y="2191983"/>
            <a:ext cx="1792224" cy="347472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ctr"/>
            <a:r>
              <a:rPr sz="1150" b="0">
                <a:solidFill>
                  <a:srgbClr val="141414"/>
                </a:solidFill>
                <a:latin typeface="Arial"/>
              </a:rPr>
              <a:t>4 (AWS 1700/2100)</a:t>
            </a:r>
          </a:p>
        </p:txBody>
      </p:sp>
      <p:sp>
        <p:nvSpPr>
          <p:cNvPr id="79" name="Rectangle 19">
            <a:extLst>
              <a:ext uri="{FF2B5EF4-FFF2-40B4-BE49-F238E27FC236}">
                <a16:creationId xmlns:a16="http://schemas.microsoft.com/office/drawing/2014/main" id="{671C6542-A853-4CF2-B9D3-96462482C84B}"/>
              </a:ext>
            </a:extLst>
          </p:cNvPr>
          <p:cNvSpPr/>
          <p:nvPr/>
        </p:nvSpPr>
        <p:spPr>
          <a:xfrm>
            <a:off x="6240194" y="2137119"/>
            <a:ext cx="4480560" cy="502920"/>
          </a:xfrm>
          <a:prstGeom prst="rect">
            <a:avLst/>
          </a:prstGeom>
          <a:solidFill>
            <a:srgbClr val="F5F5F2"/>
          </a:solidFill>
          <a:ln>
            <a:solidFill>
              <a:srgbClr val="E8E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TextBox 20">
            <a:extLst>
              <a:ext uri="{FF2B5EF4-FFF2-40B4-BE49-F238E27FC236}">
                <a16:creationId xmlns:a16="http://schemas.microsoft.com/office/drawing/2014/main" id="{5D1A921B-CC8A-4971-9A72-3A52B9E59472}"/>
              </a:ext>
            </a:extLst>
          </p:cNvPr>
          <p:cNvSpPr txBox="1"/>
          <p:nvPr/>
        </p:nvSpPr>
        <p:spPr>
          <a:xfrm>
            <a:off x="7758677" y="2249533"/>
            <a:ext cx="1443601" cy="232371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ctr"/>
            <a:r>
              <a:rPr sz="1150" b="1" dirty="0">
                <a:solidFill>
                  <a:srgbClr val="C00000"/>
                </a:solidFill>
                <a:latin typeface="Arial"/>
              </a:rPr>
              <a:t>Claro</a:t>
            </a:r>
            <a:r>
              <a:rPr lang="es-EC" sz="1150" b="1" dirty="0">
                <a:solidFill>
                  <a:srgbClr val="C00000"/>
                </a:solidFill>
                <a:latin typeface="Arial"/>
              </a:rPr>
              <a:t> trabaja mejor </a:t>
            </a:r>
            <a:endParaRPr sz="1150" b="1" dirty="0">
              <a:solidFill>
                <a:srgbClr val="C00000"/>
              </a:solidFill>
              <a:latin typeface="Arial"/>
            </a:endParaRPr>
          </a:p>
        </p:txBody>
      </p:sp>
      <p:sp>
        <p:nvSpPr>
          <p:cNvPr id="81" name="Rectangle 21">
            <a:extLst>
              <a:ext uri="{FF2B5EF4-FFF2-40B4-BE49-F238E27FC236}">
                <a16:creationId xmlns:a16="http://schemas.microsoft.com/office/drawing/2014/main" id="{693853F4-A9C0-4E6C-A802-D8532553E019}"/>
              </a:ext>
            </a:extLst>
          </p:cNvPr>
          <p:cNvSpPr/>
          <p:nvPr/>
        </p:nvSpPr>
        <p:spPr>
          <a:xfrm>
            <a:off x="570914" y="2749767"/>
            <a:ext cx="1508760" cy="502920"/>
          </a:xfrm>
          <a:prstGeom prst="rect">
            <a:avLst/>
          </a:prstGeom>
          <a:solidFill>
            <a:srgbClr val="FFFFFF"/>
          </a:solidFill>
          <a:ln>
            <a:solidFill>
              <a:srgbClr val="E8E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TextBox 22">
            <a:extLst>
              <a:ext uri="{FF2B5EF4-FFF2-40B4-BE49-F238E27FC236}">
                <a16:creationId xmlns:a16="http://schemas.microsoft.com/office/drawing/2014/main" id="{6F633BF5-C5A8-4A8F-9031-BB6E1279B8CD}"/>
              </a:ext>
            </a:extLst>
          </p:cNvPr>
          <p:cNvSpPr txBox="1"/>
          <p:nvPr/>
        </p:nvSpPr>
        <p:spPr>
          <a:xfrm>
            <a:off x="634922" y="2804631"/>
            <a:ext cx="1380743" cy="347472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ctr"/>
            <a:r>
              <a:rPr sz="1150" b="0">
                <a:solidFill>
                  <a:srgbClr val="141414"/>
                </a:solidFill>
                <a:latin typeface="Arial"/>
              </a:rPr>
              <a:t>RSRP</a:t>
            </a:r>
          </a:p>
        </p:txBody>
      </p:sp>
      <p:sp>
        <p:nvSpPr>
          <p:cNvPr id="83" name="Rectangle 23">
            <a:extLst>
              <a:ext uri="{FF2B5EF4-FFF2-40B4-BE49-F238E27FC236}">
                <a16:creationId xmlns:a16="http://schemas.microsoft.com/office/drawing/2014/main" id="{18A96BEE-B0B3-428E-8716-5653972848E4}"/>
              </a:ext>
            </a:extLst>
          </p:cNvPr>
          <p:cNvSpPr/>
          <p:nvPr/>
        </p:nvSpPr>
        <p:spPr>
          <a:xfrm>
            <a:off x="2216834" y="2749767"/>
            <a:ext cx="1920240" cy="502920"/>
          </a:xfrm>
          <a:prstGeom prst="rect">
            <a:avLst/>
          </a:prstGeom>
          <a:solidFill>
            <a:srgbClr val="FFFFFF"/>
          </a:solidFill>
          <a:ln>
            <a:solidFill>
              <a:srgbClr val="E8E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TextBox 24">
            <a:extLst>
              <a:ext uri="{FF2B5EF4-FFF2-40B4-BE49-F238E27FC236}">
                <a16:creationId xmlns:a16="http://schemas.microsoft.com/office/drawing/2014/main" id="{55FF8A7E-A237-4796-B294-5D20B9823C30}"/>
              </a:ext>
            </a:extLst>
          </p:cNvPr>
          <p:cNvSpPr txBox="1"/>
          <p:nvPr/>
        </p:nvSpPr>
        <p:spPr>
          <a:xfrm>
            <a:off x="2280842" y="2804631"/>
            <a:ext cx="1792224" cy="347472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ctr"/>
            <a:r>
              <a:rPr sz="1150" b="0">
                <a:solidFill>
                  <a:srgbClr val="141414"/>
                </a:solidFill>
                <a:latin typeface="Arial"/>
              </a:rPr>
              <a:t>-89 dBm</a:t>
            </a:r>
          </a:p>
        </p:txBody>
      </p:sp>
      <p:sp>
        <p:nvSpPr>
          <p:cNvPr id="85" name="Rectangle 25">
            <a:extLst>
              <a:ext uri="{FF2B5EF4-FFF2-40B4-BE49-F238E27FC236}">
                <a16:creationId xmlns:a16="http://schemas.microsoft.com/office/drawing/2014/main" id="{99D42514-1CB2-49BB-936C-6134E8051D9B}"/>
              </a:ext>
            </a:extLst>
          </p:cNvPr>
          <p:cNvSpPr/>
          <p:nvPr/>
        </p:nvSpPr>
        <p:spPr>
          <a:xfrm>
            <a:off x="4228514" y="2749767"/>
            <a:ext cx="1920240" cy="502920"/>
          </a:xfrm>
          <a:prstGeom prst="rect">
            <a:avLst/>
          </a:prstGeom>
          <a:solidFill>
            <a:srgbClr val="FFFFFF"/>
          </a:solidFill>
          <a:ln>
            <a:solidFill>
              <a:srgbClr val="E8E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TextBox 26">
            <a:extLst>
              <a:ext uri="{FF2B5EF4-FFF2-40B4-BE49-F238E27FC236}">
                <a16:creationId xmlns:a16="http://schemas.microsoft.com/office/drawing/2014/main" id="{BF4D15DD-86BC-4BE8-9393-B7F4FEFEF377}"/>
              </a:ext>
            </a:extLst>
          </p:cNvPr>
          <p:cNvSpPr txBox="1"/>
          <p:nvPr/>
        </p:nvSpPr>
        <p:spPr>
          <a:xfrm>
            <a:off x="4292522" y="2804631"/>
            <a:ext cx="1792224" cy="347472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ctr"/>
            <a:r>
              <a:rPr sz="1150" b="0">
                <a:solidFill>
                  <a:srgbClr val="141414"/>
                </a:solidFill>
                <a:latin typeface="Arial"/>
              </a:rPr>
              <a:t>-96 dBm</a:t>
            </a:r>
          </a:p>
        </p:txBody>
      </p:sp>
      <p:sp>
        <p:nvSpPr>
          <p:cNvPr id="87" name="Rectangle 27">
            <a:extLst>
              <a:ext uri="{FF2B5EF4-FFF2-40B4-BE49-F238E27FC236}">
                <a16:creationId xmlns:a16="http://schemas.microsoft.com/office/drawing/2014/main" id="{261F5924-8BEA-4259-A67B-40A4FC537C27}"/>
              </a:ext>
            </a:extLst>
          </p:cNvPr>
          <p:cNvSpPr/>
          <p:nvPr/>
        </p:nvSpPr>
        <p:spPr>
          <a:xfrm>
            <a:off x="6240194" y="2749767"/>
            <a:ext cx="4480560" cy="502920"/>
          </a:xfrm>
          <a:prstGeom prst="rect">
            <a:avLst/>
          </a:prstGeom>
          <a:solidFill>
            <a:srgbClr val="FFFFFF"/>
          </a:solidFill>
          <a:ln>
            <a:solidFill>
              <a:srgbClr val="E8E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TextBox 28">
            <a:extLst>
              <a:ext uri="{FF2B5EF4-FFF2-40B4-BE49-F238E27FC236}">
                <a16:creationId xmlns:a16="http://schemas.microsoft.com/office/drawing/2014/main" id="{6CC4D60D-1DE5-4BE9-BB0E-E82BB524420A}"/>
              </a:ext>
            </a:extLst>
          </p:cNvPr>
          <p:cNvSpPr txBox="1"/>
          <p:nvPr/>
        </p:nvSpPr>
        <p:spPr>
          <a:xfrm>
            <a:off x="6304202" y="2804631"/>
            <a:ext cx="4352544" cy="347472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ctr"/>
            <a:r>
              <a:rPr sz="1150" b="1">
                <a:solidFill>
                  <a:srgbClr val="C00000"/>
                </a:solidFill>
                <a:latin typeface="Arial"/>
              </a:rPr>
              <a:t>Ambas viables</a:t>
            </a:r>
          </a:p>
        </p:txBody>
      </p:sp>
      <p:sp>
        <p:nvSpPr>
          <p:cNvPr id="89" name="Rectangle 29">
            <a:extLst>
              <a:ext uri="{FF2B5EF4-FFF2-40B4-BE49-F238E27FC236}">
                <a16:creationId xmlns:a16="http://schemas.microsoft.com/office/drawing/2014/main" id="{6BDF2634-DB93-47DF-BAF5-9B7E9AB451DC}"/>
              </a:ext>
            </a:extLst>
          </p:cNvPr>
          <p:cNvSpPr/>
          <p:nvPr/>
        </p:nvSpPr>
        <p:spPr>
          <a:xfrm>
            <a:off x="570914" y="3362415"/>
            <a:ext cx="1508760" cy="502920"/>
          </a:xfrm>
          <a:prstGeom prst="rect">
            <a:avLst/>
          </a:prstGeom>
          <a:solidFill>
            <a:srgbClr val="F5F5F2"/>
          </a:solidFill>
          <a:ln>
            <a:solidFill>
              <a:srgbClr val="E8E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TextBox 30">
            <a:extLst>
              <a:ext uri="{FF2B5EF4-FFF2-40B4-BE49-F238E27FC236}">
                <a16:creationId xmlns:a16="http://schemas.microsoft.com/office/drawing/2014/main" id="{899D8054-5651-4A0B-9B8B-826DE610881A}"/>
              </a:ext>
            </a:extLst>
          </p:cNvPr>
          <p:cNvSpPr txBox="1"/>
          <p:nvPr/>
        </p:nvSpPr>
        <p:spPr>
          <a:xfrm>
            <a:off x="634922" y="3417279"/>
            <a:ext cx="1380743" cy="347472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ctr"/>
            <a:r>
              <a:rPr sz="1150" b="0">
                <a:solidFill>
                  <a:srgbClr val="141414"/>
                </a:solidFill>
                <a:latin typeface="Arial"/>
              </a:rPr>
              <a:t>RSRQ</a:t>
            </a:r>
          </a:p>
        </p:txBody>
      </p:sp>
      <p:sp>
        <p:nvSpPr>
          <p:cNvPr id="91" name="Rectangle 31">
            <a:extLst>
              <a:ext uri="{FF2B5EF4-FFF2-40B4-BE49-F238E27FC236}">
                <a16:creationId xmlns:a16="http://schemas.microsoft.com/office/drawing/2014/main" id="{8B036A76-BFF2-4C01-8303-AF7923C93A95}"/>
              </a:ext>
            </a:extLst>
          </p:cNvPr>
          <p:cNvSpPr/>
          <p:nvPr/>
        </p:nvSpPr>
        <p:spPr>
          <a:xfrm>
            <a:off x="2216834" y="3362415"/>
            <a:ext cx="1920240" cy="502920"/>
          </a:xfrm>
          <a:prstGeom prst="rect">
            <a:avLst/>
          </a:prstGeom>
          <a:solidFill>
            <a:srgbClr val="F5F5F2"/>
          </a:solidFill>
          <a:ln>
            <a:solidFill>
              <a:srgbClr val="E8E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TextBox 32">
            <a:extLst>
              <a:ext uri="{FF2B5EF4-FFF2-40B4-BE49-F238E27FC236}">
                <a16:creationId xmlns:a16="http://schemas.microsoft.com/office/drawing/2014/main" id="{52AD567B-1E47-44F4-B2EB-EA99B74E393F}"/>
              </a:ext>
            </a:extLst>
          </p:cNvPr>
          <p:cNvSpPr txBox="1"/>
          <p:nvPr/>
        </p:nvSpPr>
        <p:spPr>
          <a:xfrm>
            <a:off x="2280842" y="3417279"/>
            <a:ext cx="1792224" cy="347472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ctr"/>
            <a:r>
              <a:rPr sz="1150" b="0">
                <a:solidFill>
                  <a:srgbClr val="141414"/>
                </a:solidFill>
                <a:latin typeface="Arial"/>
              </a:rPr>
              <a:t>-15 dB</a:t>
            </a:r>
          </a:p>
        </p:txBody>
      </p:sp>
      <p:sp>
        <p:nvSpPr>
          <p:cNvPr id="93" name="Rectangle 33">
            <a:extLst>
              <a:ext uri="{FF2B5EF4-FFF2-40B4-BE49-F238E27FC236}">
                <a16:creationId xmlns:a16="http://schemas.microsoft.com/office/drawing/2014/main" id="{DB113DF9-A890-4C36-B4D3-B9C4624146E0}"/>
              </a:ext>
            </a:extLst>
          </p:cNvPr>
          <p:cNvSpPr/>
          <p:nvPr/>
        </p:nvSpPr>
        <p:spPr>
          <a:xfrm>
            <a:off x="4228514" y="3362415"/>
            <a:ext cx="1920240" cy="502920"/>
          </a:xfrm>
          <a:prstGeom prst="rect">
            <a:avLst/>
          </a:prstGeom>
          <a:solidFill>
            <a:srgbClr val="F5F5F2"/>
          </a:solidFill>
          <a:ln>
            <a:solidFill>
              <a:srgbClr val="E8E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4" name="TextBox 34">
            <a:extLst>
              <a:ext uri="{FF2B5EF4-FFF2-40B4-BE49-F238E27FC236}">
                <a16:creationId xmlns:a16="http://schemas.microsoft.com/office/drawing/2014/main" id="{2E303A01-6272-4144-B757-F064ABC35FC2}"/>
              </a:ext>
            </a:extLst>
          </p:cNvPr>
          <p:cNvSpPr txBox="1"/>
          <p:nvPr/>
        </p:nvSpPr>
        <p:spPr>
          <a:xfrm>
            <a:off x="4292522" y="3417279"/>
            <a:ext cx="1792224" cy="347472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ctr"/>
            <a:r>
              <a:rPr sz="1150" b="0">
                <a:solidFill>
                  <a:srgbClr val="141414"/>
                </a:solidFill>
                <a:latin typeface="Arial"/>
              </a:rPr>
              <a:t>-11 dB</a:t>
            </a:r>
          </a:p>
        </p:txBody>
      </p:sp>
      <p:sp>
        <p:nvSpPr>
          <p:cNvPr id="95" name="Rectangle 35">
            <a:extLst>
              <a:ext uri="{FF2B5EF4-FFF2-40B4-BE49-F238E27FC236}">
                <a16:creationId xmlns:a16="http://schemas.microsoft.com/office/drawing/2014/main" id="{4CBD0952-FA99-4405-B470-32F36B935CC4}"/>
              </a:ext>
            </a:extLst>
          </p:cNvPr>
          <p:cNvSpPr/>
          <p:nvPr/>
        </p:nvSpPr>
        <p:spPr>
          <a:xfrm>
            <a:off x="6240194" y="3362415"/>
            <a:ext cx="4480560" cy="502920"/>
          </a:xfrm>
          <a:prstGeom prst="rect">
            <a:avLst/>
          </a:prstGeom>
          <a:solidFill>
            <a:srgbClr val="F5F5F2"/>
          </a:solidFill>
          <a:ln>
            <a:solidFill>
              <a:srgbClr val="E8E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6" name="TextBox 36">
            <a:extLst>
              <a:ext uri="{FF2B5EF4-FFF2-40B4-BE49-F238E27FC236}">
                <a16:creationId xmlns:a16="http://schemas.microsoft.com/office/drawing/2014/main" id="{03294601-2DDF-43CF-9A4E-5FB414C68F5D}"/>
              </a:ext>
            </a:extLst>
          </p:cNvPr>
          <p:cNvSpPr txBox="1"/>
          <p:nvPr/>
        </p:nvSpPr>
        <p:spPr>
          <a:xfrm>
            <a:off x="6304202" y="3417279"/>
            <a:ext cx="4352544" cy="347472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ctr"/>
            <a:r>
              <a:rPr sz="1150" b="1">
                <a:solidFill>
                  <a:srgbClr val="C00000"/>
                </a:solidFill>
                <a:latin typeface="Arial"/>
              </a:rPr>
              <a:t>Menor interferencia en Claro</a:t>
            </a:r>
          </a:p>
        </p:txBody>
      </p:sp>
      <p:sp>
        <p:nvSpPr>
          <p:cNvPr id="97" name="Rectangle 37">
            <a:extLst>
              <a:ext uri="{FF2B5EF4-FFF2-40B4-BE49-F238E27FC236}">
                <a16:creationId xmlns:a16="http://schemas.microsoft.com/office/drawing/2014/main" id="{2EA5948E-D807-49E7-96D0-B9735015CBCA}"/>
              </a:ext>
            </a:extLst>
          </p:cNvPr>
          <p:cNvSpPr/>
          <p:nvPr/>
        </p:nvSpPr>
        <p:spPr>
          <a:xfrm>
            <a:off x="570914" y="3975063"/>
            <a:ext cx="1508760" cy="502920"/>
          </a:xfrm>
          <a:prstGeom prst="rect">
            <a:avLst/>
          </a:prstGeom>
          <a:solidFill>
            <a:srgbClr val="FFFFFF"/>
          </a:solidFill>
          <a:ln>
            <a:solidFill>
              <a:srgbClr val="E8E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8" name="TextBox 38">
            <a:extLst>
              <a:ext uri="{FF2B5EF4-FFF2-40B4-BE49-F238E27FC236}">
                <a16:creationId xmlns:a16="http://schemas.microsoft.com/office/drawing/2014/main" id="{28E2B2CB-8B3E-4A63-8CE3-37A7D8524B7F}"/>
              </a:ext>
            </a:extLst>
          </p:cNvPr>
          <p:cNvSpPr txBox="1"/>
          <p:nvPr/>
        </p:nvSpPr>
        <p:spPr>
          <a:xfrm>
            <a:off x="634922" y="4029927"/>
            <a:ext cx="1380743" cy="347472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ctr"/>
            <a:r>
              <a:rPr sz="1150" b="0">
                <a:solidFill>
                  <a:srgbClr val="141414"/>
                </a:solidFill>
                <a:latin typeface="Arial"/>
              </a:rPr>
              <a:t>SINR</a:t>
            </a:r>
          </a:p>
        </p:txBody>
      </p:sp>
      <p:sp>
        <p:nvSpPr>
          <p:cNvPr id="99" name="Rectangle 39">
            <a:extLst>
              <a:ext uri="{FF2B5EF4-FFF2-40B4-BE49-F238E27FC236}">
                <a16:creationId xmlns:a16="http://schemas.microsoft.com/office/drawing/2014/main" id="{17C6ACBE-7F95-415F-B299-545DCA4E387D}"/>
              </a:ext>
            </a:extLst>
          </p:cNvPr>
          <p:cNvSpPr/>
          <p:nvPr/>
        </p:nvSpPr>
        <p:spPr>
          <a:xfrm>
            <a:off x="2216834" y="3975063"/>
            <a:ext cx="1920240" cy="502920"/>
          </a:xfrm>
          <a:prstGeom prst="rect">
            <a:avLst/>
          </a:prstGeom>
          <a:solidFill>
            <a:srgbClr val="FFFFFF"/>
          </a:solidFill>
          <a:ln>
            <a:solidFill>
              <a:srgbClr val="E8E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0" name="TextBox 40">
            <a:extLst>
              <a:ext uri="{FF2B5EF4-FFF2-40B4-BE49-F238E27FC236}">
                <a16:creationId xmlns:a16="http://schemas.microsoft.com/office/drawing/2014/main" id="{3B6AC893-65EA-4D88-9BBD-1A54C1CB5B85}"/>
              </a:ext>
            </a:extLst>
          </p:cNvPr>
          <p:cNvSpPr txBox="1"/>
          <p:nvPr/>
        </p:nvSpPr>
        <p:spPr>
          <a:xfrm>
            <a:off x="2280842" y="4029927"/>
            <a:ext cx="1792224" cy="347472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ctr"/>
            <a:r>
              <a:rPr sz="1150" b="0">
                <a:solidFill>
                  <a:srgbClr val="141414"/>
                </a:solidFill>
                <a:latin typeface="Arial"/>
              </a:rPr>
              <a:t>-8 dB</a:t>
            </a:r>
          </a:p>
        </p:txBody>
      </p:sp>
      <p:sp>
        <p:nvSpPr>
          <p:cNvPr id="101" name="Rectangle 41">
            <a:extLst>
              <a:ext uri="{FF2B5EF4-FFF2-40B4-BE49-F238E27FC236}">
                <a16:creationId xmlns:a16="http://schemas.microsoft.com/office/drawing/2014/main" id="{98CFF268-5599-41D5-8B23-B8A41932B57D}"/>
              </a:ext>
            </a:extLst>
          </p:cNvPr>
          <p:cNvSpPr/>
          <p:nvPr/>
        </p:nvSpPr>
        <p:spPr>
          <a:xfrm>
            <a:off x="4228514" y="3975063"/>
            <a:ext cx="1920240" cy="502920"/>
          </a:xfrm>
          <a:prstGeom prst="rect">
            <a:avLst/>
          </a:prstGeom>
          <a:solidFill>
            <a:srgbClr val="FFFFFF"/>
          </a:solidFill>
          <a:ln>
            <a:solidFill>
              <a:srgbClr val="E8E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2" name="TextBox 42">
            <a:extLst>
              <a:ext uri="{FF2B5EF4-FFF2-40B4-BE49-F238E27FC236}">
                <a16:creationId xmlns:a16="http://schemas.microsoft.com/office/drawing/2014/main" id="{DD8A09CC-9871-40B7-8E18-02B4AFBDBE7C}"/>
              </a:ext>
            </a:extLst>
          </p:cNvPr>
          <p:cNvSpPr txBox="1"/>
          <p:nvPr/>
        </p:nvSpPr>
        <p:spPr>
          <a:xfrm>
            <a:off x="4292522" y="4029927"/>
            <a:ext cx="1792224" cy="347472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ctr"/>
            <a:r>
              <a:rPr sz="1150" b="0">
                <a:solidFill>
                  <a:srgbClr val="141414"/>
                </a:solidFill>
                <a:latin typeface="Arial"/>
              </a:rPr>
              <a:t>6 dB</a:t>
            </a:r>
          </a:p>
        </p:txBody>
      </p:sp>
      <p:sp>
        <p:nvSpPr>
          <p:cNvPr id="103" name="Rectangle 43">
            <a:extLst>
              <a:ext uri="{FF2B5EF4-FFF2-40B4-BE49-F238E27FC236}">
                <a16:creationId xmlns:a16="http://schemas.microsoft.com/office/drawing/2014/main" id="{952528E5-B85A-4338-ABA7-73DF65EB6B03}"/>
              </a:ext>
            </a:extLst>
          </p:cNvPr>
          <p:cNvSpPr/>
          <p:nvPr/>
        </p:nvSpPr>
        <p:spPr>
          <a:xfrm>
            <a:off x="6240194" y="3975063"/>
            <a:ext cx="4480560" cy="502920"/>
          </a:xfrm>
          <a:prstGeom prst="rect">
            <a:avLst/>
          </a:prstGeom>
          <a:solidFill>
            <a:srgbClr val="FFFFFF"/>
          </a:solidFill>
          <a:ln>
            <a:solidFill>
              <a:srgbClr val="E8E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" name="TextBox 44">
            <a:extLst>
              <a:ext uri="{FF2B5EF4-FFF2-40B4-BE49-F238E27FC236}">
                <a16:creationId xmlns:a16="http://schemas.microsoft.com/office/drawing/2014/main" id="{BEA68E35-4301-4B97-AF25-CD7D0860CA1F}"/>
              </a:ext>
            </a:extLst>
          </p:cNvPr>
          <p:cNvSpPr txBox="1"/>
          <p:nvPr/>
        </p:nvSpPr>
        <p:spPr>
          <a:xfrm>
            <a:off x="6304202" y="4029927"/>
            <a:ext cx="4352544" cy="347472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ctr"/>
            <a:r>
              <a:rPr sz="1150" b="1">
                <a:solidFill>
                  <a:srgbClr val="C00000"/>
                </a:solidFill>
                <a:latin typeface="Arial"/>
              </a:rPr>
              <a:t>+14 dB a favor de Claro</a:t>
            </a:r>
          </a:p>
        </p:txBody>
      </p:sp>
      <p:sp>
        <p:nvSpPr>
          <p:cNvPr id="105" name="Rounded Rectangle 45">
            <a:extLst>
              <a:ext uri="{FF2B5EF4-FFF2-40B4-BE49-F238E27FC236}">
                <a16:creationId xmlns:a16="http://schemas.microsoft.com/office/drawing/2014/main" id="{4A71C619-3752-4CE2-8445-16BCD478827A}"/>
              </a:ext>
            </a:extLst>
          </p:cNvPr>
          <p:cNvSpPr/>
          <p:nvPr/>
        </p:nvSpPr>
        <p:spPr>
          <a:xfrm>
            <a:off x="708074" y="5090631"/>
            <a:ext cx="2011680" cy="594360"/>
          </a:xfrm>
          <a:prstGeom prst="roundRect">
            <a:avLst/>
          </a:prstGeom>
          <a:solidFill>
            <a:srgbClr val="0C3F30"/>
          </a:solidFill>
          <a:ln>
            <a:solidFill>
              <a:srgbClr val="E8E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6" name="TextBox 46">
            <a:extLst>
              <a:ext uri="{FF2B5EF4-FFF2-40B4-BE49-F238E27FC236}">
                <a16:creationId xmlns:a16="http://schemas.microsoft.com/office/drawing/2014/main" id="{FABC5C25-DF45-4F6F-9EDF-DE328B4BCF6E}"/>
              </a:ext>
            </a:extLst>
          </p:cNvPr>
          <p:cNvSpPr txBox="1"/>
          <p:nvPr/>
        </p:nvSpPr>
        <p:spPr>
          <a:xfrm>
            <a:off x="845234" y="5163783"/>
            <a:ext cx="1737360" cy="448056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l"/>
            <a:r>
              <a:rPr sz="1900" b="1">
                <a:solidFill>
                  <a:srgbClr val="FFFFFF"/>
                </a:solidFill>
                <a:latin typeface="Arial"/>
              </a:rPr>
              <a:t>&lt; 10 s</a:t>
            </a:r>
          </a:p>
        </p:txBody>
      </p:sp>
      <p:sp>
        <p:nvSpPr>
          <p:cNvPr id="107" name="TextBox 47">
            <a:extLst>
              <a:ext uri="{FF2B5EF4-FFF2-40B4-BE49-F238E27FC236}">
                <a16:creationId xmlns:a16="http://schemas.microsoft.com/office/drawing/2014/main" id="{C8848145-EEFA-4E20-B603-1A33594A083A}"/>
              </a:ext>
            </a:extLst>
          </p:cNvPr>
          <p:cNvSpPr txBox="1"/>
          <p:nvPr/>
        </p:nvSpPr>
        <p:spPr>
          <a:xfrm>
            <a:off x="2902634" y="5191215"/>
            <a:ext cx="2360518" cy="255455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lang="es-EC" sz="1300" b="0" dirty="0">
                <a:solidFill>
                  <a:srgbClr val="707070"/>
                </a:solidFill>
                <a:latin typeface="Arial"/>
              </a:rPr>
              <a:t>tiempo</a:t>
            </a:r>
            <a:r>
              <a:rPr sz="1300" b="0" dirty="0">
                <a:solidFill>
                  <a:srgbClr val="707070"/>
                </a:solidFill>
                <a:latin typeface="Arial"/>
              </a:rPr>
              <a:t> </a:t>
            </a:r>
            <a:r>
              <a:rPr lang="es-EC" sz="1300" b="0" dirty="0">
                <a:solidFill>
                  <a:srgbClr val="707070"/>
                </a:solidFill>
                <a:latin typeface="Arial"/>
              </a:rPr>
              <a:t>promedio</a:t>
            </a:r>
            <a:r>
              <a:rPr sz="1300" b="0" dirty="0">
                <a:solidFill>
                  <a:srgbClr val="707070"/>
                </a:solidFill>
                <a:latin typeface="Arial"/>
              </a:rPr>
              <a:t> de </a:t>
            </a:r>
            <a:r>
              <a:rPr sz="1300" b="0" dirty="0" err="1">
                <a:solidFill>
                  <a:srgbClr val="707070"/>
                </a:solidFill>
                <a:latin typeface="Arial"/>
              </a:rPr>
              <a:t>respuesta</a:t>
            </a:r>
            <a:r>
              <a:rPr lang="es-EC" sz="1300" b="0" dirty="0">
                <a:solidFill>
                  <a:srgbClr val="707070"/>
                </a:solidFill>
                <a:latin typeface="Arial"/>
              </a:rPr>
              <a:t> </a:t>
            </a:r>
            <a:endParaRPr sz="1300" b="0" dirty="0">
              <a:solidFill>
                <a:srgbClr val="707070"/>
              </a:solidFill>
              <a:latin typeface="Arial"/>
            </a:endParaRPr>
          </a:p>
        </p:txBody>
      </p:sp>
      <p:sp>
        <p:nvSpPr>
          <p:cNvPr id="108" name="Rounded Rectangle 48">
            <a:extLst>
              <a:ext uri="{FF2B5EF4-FFF2-40B4-BE49-F238E27FC236}">
                <a16:creationId xmlns:a16="http://schemas.microsoft.com/office/drawing/2014/main" id="{2C8C15B1-B590-449D-B109-AE8C0E777579}"/>
              </a:ext>
            </a:extLst>
          </p:cNvPr>
          <p:cNvSpPr/>
          <p:nvPr/>
        </p:nvSpPr>
        <p:spPr>
          <a:xfrm>
            <a:off x="6514514" y="5090631"/>
            <a:ext cx="2194560" cy="594360"/>
          </a:xfrm>
          <a:prstGeom prst="roundRect">
            <a:avLst/>
          </a:prstGeom>
          <a:solidFill>
            <a:srgbClr val="F5F5F2"/>
          </a:solidFill>
          <a:ln>
            <a:solidFill>
              <a:srgbClr val="E8E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9" name="TextBox 49">
            <a:extLst>
              <a:ext uri="{FF2B5EF4-FFF2-40B4-BE49-F238E27FC236}">
                <a16:creationId xmlns:a16="http://schemas.microsoft.com/office/drawing/2014/main" id="{BE81B758-C1F5-444F-96FB-48FD282B4B32}"/>
              </a:ext>
            </a:extLst>
          </p:cNvPr>
          <p:cNvSpPr txBox="1"/>
          <p:nvPr/>
        </p:nvSpPr>
        <p:spPr>
          <a:xfrm>
            <a:off x="6651674" y="5163783"/>
            <a:ext cx="1920240" cy="448056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l"/>
            <a:r>
              <a:rPr sz="1800" b="1">
                <a:solidFill>
                  <a:srgbClr val="C00000"/>
                </a:solidFill>
                <a:latin typeface="Arial"/>
              </a:rPr>
              <a:t>328.49 MB</a:t>
            </a:r>
          </a:p>
        </p:txBody>
      </p:sp>
      <p:sp>
        <p:nvSpPr>
          <p:cNvPr id="110" name="TextBox 50">
            <a:extLst>
              <a:ext uri="{FF2B5EF4-FFF2-40B4-BE49-F238E27FC236}">
                <a16:creationId xmlns:a16="http://schemas.microsoft.com/office/drawing/2014/main" id="{921D22D2-97D9-4784-8C2F-52572934F6E4}"/>
              </a:ext>
            </a:extLst>
          </p:cNvPr>
          <p:cNvSpPr txBox="1"/>
          <p:nvPr/>
        </p:nvSpPr>
        <p:spPr>
          <a:xfrm>
            <a:off x="8891954" y="5191215"/>
            <a:ext cx="2560320" cy="438912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1200" b="0">
                <a:solidFill>
                  <a:srgbClr val="707070"/>
                </a:solidFill>
                <a:latin typeface="Arial"/>
              </a:rPr>
              <a:t>consumo medido enviando texto + fotografías</a:t>
            </a:r>
          </a:p>
        </p:txBody>
      </p:sp>
    </p:spTree>
    <p:extLst>
      <p:ext uri="{BB962C8B-B14F-4D97-AF65-F5344CB8AC3E}">
        <p14:creationId xmlns:p14="http://schemas.microsoft.com/office/powerpoint/2010/main" val="429134472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004E8E-C094-F9BA-5110-02BE78C093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lecha: pentágono 11">
            <a:extLst>
              <a:ext uri="{FF2B5EF4-FFF2-40B4-BE49-F238E27FC236}">
                <a16:creationId xmlns:a16="http://schemas.microsoft.com/office/drawing/2014/main" id="{95E77573-D29F-5561-DD03-8B53BA6892B9}"/>
              </a:ext>
            </a:extLst>
          </p:cNvPr>
          <p:cNvSpPr/>
          <p:nvPr/>
        </p:nvSpPr>
        <p:spPr>
          <a:xfrm>
            <a:off x="283348" y="104071"/>
            <a:ext cx="9364744" cy="924147"/>
          </a:xfrm>
          <a:prstGeom prst="homePlate">
            <a:avLst/>
          </a:prstGeom>
          <a:solidFill>
            <a:srgbClr val="C00000"/>
          </a:solidFill>
          <a:ln/>
          <a:scene3d>
            <a:camera prst="orthographicFront"/>
            <a:lightRig rig="threePt" dir="t"/>
          </a:scene3d>
          <a:sp3d>
            <a:bevelT w="165100" prst="coolSlant"/>
          </a:sp3d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US" sz="28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Evidencias : Verificación de la alimentación y funcionamiento </a:t>
            </a:r>
            <a:r>
              <a:rPr lang="es-US" sz="2800" b="1" dirty="0" err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rele</a:t>
            </a:r>
            <a:r>
              <a:rPr lang="es-US" sz="28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y foco 12v </a:t>
            </a:r>
            <a:endParaRPr lang="es-US" sz="2800" b="1" noProof="0" dirty="0">
              <a:solidFill>
                <a:schemeClr val="bg1"/>
              </a:solidFill>
            </a:endParaRP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FDAC0D0F-6BDD-BD9E-D98F-399A88861962}"/>
              </a:ext>
            </a:extLst>
          </p:cNvPr>
          <p:cNvSpPr/>
          <p:nvPr/>
        </p:nvSpPr>
        <p:spPr>
          <a:xfrm>
            <a:off x="5526157" y="6092687"/>
            <a:ext cx="6665843" cy="765313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US" noProof="0" dirty="0"/>
          </a:p>
        </p:txBody>
      </p:sp>
      <p:sp>
        <p:nvSpPr>
          <p:cNvPr id="11" name="Recortar rectángulo de una esquina 9">
            <a:extLst>
              <a:ext uri="{FF2B5EF4-FFF2-40B4-BE49-F238E27FC236}">
                <a16:creationId xmlns:a16="http://schemas.microsoft.com/office/drawing/2014/main" id="{39BF9D91-2AFF-ECE1-221C-1A540035B2EA}"/>
              </a:ext>
            </a:extLst>
          </p:cNvPr>
          <p:cNvSpPr/>
          <p:nvPr/>
        </p:nvSpPr>
        <p:spPr>
          <a:xfrm>
            <a:off x="-9939" y="5814391"/>
            <a:ext cx="5903843" cy="1053548"/>
          </a:xfrm>
          <a:prstGeom prst="snip1Rect">
            <a:avLst>
              <a:gd name="adj" fmla="val 50000"/>
            </a:avLst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US" noProof="0" dirty="0"/>
          </a:p>
        </p:txBody>
      </p:sp>
      <p:pic>
        <p:nvPicPr>
          <p:cNvPr id="14" name="Imagen 13">
            <a:extLst>
              <a:ext uri="{FF2B5EF4-FFF2-40B4-BE49-F238E27FC236}">
                <a16:creationId xmlns:a16="http://schemas.microsoft.com/office/drawing/2014/main" id="{FD6B625B-7086-CCC5-360C-7C3B9A5A3C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0767" y="5928401"/>
            <a:ext cx="2827669" cy="825528"/>
          </a:xfrm>
          <a:prstGeom prst="rect">
            <a:avLst/>
          </a:prstGeom>
        </p:spPr>
      </p:pic>
      <p:pic>
        <p:nvPicPr>
          <p:cNvPr id="15" name="Imagen 14">
            <a:extLst>
              <a:ext uri="{FF2B5EF4-FFF2-40B4-BE49-F238E27FC236}">
                <a16:creationId xmlns:a16="http://schemas.microsoft.com/office/drawing/2014/main" id="{8B729AA4-776A-3181-8DDB-791A27DA3E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61751" y="5963285"/>
            <a:ext cx="3962401" cy="1024115"/>
          </a:xfrm>
          <a:prstGeom prst="rect">
            <a:avLst/>
          </a:prstGeom>
        </p:spPr>
      </p:pic>
      <p:sp>
        <p:nvSpPr>
          <p:cNvPr id="64" name="TextBox 4">
            <a:extLst>
              <a:ext uri="{FF2B5EF4-FFF2-40B4-BE49-F238E27FC236}">
                <a16:creationId xmlns:a16="http://schemas.microsoft.com/office/drawing/2014/main" id="{0FBF13D8-3C4C-4234-98CE-8C45E4E9BFF9}"/>
              </a:ext>
            </a:extLst>
          </p:cNvPr>
          <p:cNvSpPr txBox="1"/>
          <p:nvPr/>
        </p:nvSpPr>
        <p:spPr>
          <a:xfrm>
            <a:off x="6977756" y="4568119"/>
            <a:ext cx="4130390" cy="670953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lang="es-MX" sz="2000" b="1" dirty="0">
                <a:solidFill>
                  <a:srgbClr val="141414"/>
                </a:solidFill>
                <a:latin typeface="Aptos"/>
              </a:rPr>
              <a:t>Prueba de Activación del Módulo Relé Mediante Script </a:t>
            </a:r>
            <a:endParaRPr lang="es-EC" sz="2000" b="1" dirty="0">
              <a:solidFill>
                <a:srgbClr val="141414"/>
              </a:solidFill>
              <a:latin typeface="Aptos"/>
            </a:endParaRPr>
          </a:p>
        </p:txBody>
      </p:sp>
      <p:pic>
        <p:nvPicPr>
          <p:cNvPr id="54" name="Imagen 53">
            <a:extLst>
              <a:ext uri="{FF2B5EF4-FFF2-40B4-BE49-F238E27FC236}">
                <a16:creationId xmlns:a16="http://schemas.microsoft.com/office/drawing/2014/main" id="{92C857A0-0F7E-4A31-95E4-F3EC22C028CD}"/>
              </a:ext>
            </a:extLst>
          </p:cNvPr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0706" y="1608529"/>
            <a:ext cx="1953895" cy="2604770"/>
          </a:xfrm>
          <a:prstGeom prst="rect">
            <a:avLst/>
          </a:prstGeom>
          <a:noFill/>
          <a:ln>
            <a:noFill/>
          </a:ln>
        </p:spPr>
      </p:pic>
      <p:pic>
        <p:nvPicPr>
          <p:cNvPr id="55" name="Imagen 54">
            <a:extLst>
              <a:ext uri="{FF2B5EF4-FFF2-40B4-BE49-F238E27FC236}">
                <a16:creationId xmlns:a16="http://schemas.microsoft.com/office/drawing/2014/main" id="{7B73ACE0-45EF-4F9D-A5D6-FAD2ADE84CEB}"/>
              </a:ext>
            </a:extLst>
          </p:cNvPr>
          <p:cNvPicPr/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73520" y="1608529"/>
            <a:ext cx="1953895" cy="2604770"/>
          </a:xfrm>
          <a:prstGeom prst="rect">
            <a:avLst/>
          </a:prstGeom>
          <a:noFill/>
          <a:ln>
            <a:noFill/>
          </a:ln>
        </p:spPr>
      </p:pic>
      <p:pic>
        <p:nvPicPr>
          <p:cNvPr id="56" name="Imagen 55">
            <a:extLst>
              <a:ext uri="{FF2B5EF4-FFF2-40B4-BE49-F238E27FC236}">
                <a16:creationId xmlns:a16="http://schemas.microsoft.com/office/drawing/2014/main" id="{CBE39E4F-ADEE-402B-B3D2-09A9ACDED5C8}"/>
              </a:ext>
            </a:extLst>
          </p:cNvPr>
          <p:cNvPicPr/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03476" y="1488607"/>
            <a:ext cx="3429001" cy="566102"/>
          </a:xfrm>
          <a:prstGeom prst="rect">
            <a:avLst/>
          </a:prstGeom>
          <a:noFill/>
        </p:spPr>
      </p:pic>
      <p:pic>
        <p:nvPicPr>
          <p:cNvPr id="57" name="Imagen 56">
            <a:extLst>
              <a:ext uri="{FF2B5EF4-FFF2-40B4-BE49-F238E27FC236}">
                <a16:creationId xmlns:a16="http://schemas.microsoft.com/office/drawing/2014/main" id="{D6BDDF92-8923-4A57-ADF0-5BB26B383372}"/>
              </a:ext>
            </a:extLst>
          </p:cNvPr>
          <p:cNvPicPr/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03475" y="2054709"/>
            <a:ext cx="3429001" cy="2460151"/>
          </a:xfrm>
          <a:prstGeom prst="rect">
            <a:avLst/>
          </a:prstGeom>
          <a:noFill/>
        </p:spPr>
      </p:pic>
      <p:sp>
        <p:nvSpPr>
          <p:cNvPr id="60" name="TextBox 4">
            <a:extLst>
              <a:ext uri="{FF2B5EF4-FFF2-40B4-BE49-F238E27FC236}">
                <a16:creationId xmlns:a16="http://schemas.microsoft.com/office/drawing/2014/main" id="{6E5ABB48-9BDC-4B49-91CC-24125B42A188}"/>
              </a:ext>
            </a:extLst>
          </p:cNvPr>
          <p:cNvSpPr txBox="1"/>
          <p:nvPr/>
        </p:nvSpPr>
        <p:spPr>
          <a:xfrm>
            <a:off x="608324" y="4232642"/>
            <a:ext cx="4344675" cy="60939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lang="es-MX" b="1" dirty="0">
                <a:solidFill>
                  <a:srgbClr val="141414"/>
                </a:solidFill>
                <a:latin typeface="Aptos"/>
              </a:rPr>
              <a:t>Medición de voltaje de salida del módulo reductor hacia la Raspberry Pi 5</a:t>
            </a:r>
            <a:endParaRPr lang="es-EC" b="1" dirty="0">
              <a:solidFill>
                <a:srgbClr val="141414"/>
              </a:solidFill>
              <a:latin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250171974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004E8E-C094-F9BA-5110-02BE78C093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lecha: pentágono 11">
            <a:extLst>
              <a:ext uri="{FF2B5EF4-FFF2-40B4-BE49-F238E27FC236}">
                <a16:creationId xmlns:a16="http://schemas.microsoft.com/office/drawing/2014/main" id="{95E77573-D29F-5561-DD03-8B53BA6892B9}"/>
              </a:ext>
            </a:extLst>
          </p:cNvPr>
          <p:cNvSpPr/>
          <p:nvPr/>
        </p:nvSpPr>
        <p:spPr>
          <a:xfrm>
            <a:off x="283348" y="104071"/>
            <a:ext cx="8872376" cy="794745"/>
          </a:xfrm>
          <a:prstGeom prst="homePlate">
            <a:avLst/>
          </a:prstGeom>
          <a:solidFill>
            <a:srgbClr val="C00000"/>
          </a:solidFill>
          <a:ln/>
          <a:scene3d>
            <a:camera prst="orthographicFront"/>
            <a:lightRig rig="threePt" dir="t"/>
          </a:scene3d>
          <a:sp3d>
            <a:bevelT w="165100" prst="coolSlant"/>
          </a:sp3d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s-US" sz="2800" b="1" dirty="0">
              <a:solidFill>
                <a:srgbClr val="FFFF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s-US" sz="28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Evidencias :</a:t>
            </a:r>
            <a:r>
              <a:rPr lang="es-MX" sz="28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Resultados de visión artificial en campo</a:t>
            </a:r>
          </a:p>
          <a:p>
            <a:endParaRPr lang="es-US" sz="2800" b="1" noProof="0" dirty="0">
              <a:solidFill>
                <a:schemeClr val="bg1"/>
              </a:solidFill>
            </a:endParaRP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FDAC0D0F-6BDD-BD9E-D98F-399A88861962}"/>
              </a:ext>
            </a:extLst>
          </p:cNvPr>
          <p:cNvSpPr/>
          <p:nvPr/>
        </p:nvSpPr>
        <p:spPr>
          <a:xfrm>
            <a:off x="5526157" y="6092687"/>
            <a:ext cx="6665843" cy="765313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US" noProof="0" dirty="0"/>
          </a:p>
        </p:txBody>
      </p:sp>
      <p:sp>
        <p:nvSpPr>
          <p:cNvPr id="11" name="Recortar rectángulo de una esquina 9">
            <a:extLst>
              <a:ext uri="{FF2B5EF4-FFF2-40B4-BE49-F238E27FC236}">
                <a16:creationId xmlns:a16="http://schemas.microsoft.com/office/drawing/2014/main" id="{39BF9D91-2AFF-ECE1-221C-1A540035B2EA}"/>
              </a:ext>
            </a:extLst>
          </p:cNvPr>
          <p:cNvSpPr/>
          <p:nvPr/>
        </p:nvSpPr>
        <p:spPr>
          <a:xfrm>
            <a:off x="-9939" y="5814391"/>
            <a:ext cx="5903843" cy="1053548"/>
          </a:xfrm>
          <a:prstGeom prst="snip1Rect">
            <a:avLst>
              <a:gd name="adj" fmla="val 50000"/>
            </a:avLst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US" noProof="0" dirty="0"/>
          </a:p>
        </p:txBody>
      </p:sp>
      <p:pic>
        <p:nvPicPr>
          <p:cNvPr id="14" name="Imagen 13">
            <a:extLst>
              <a:ext uri="{FF2B5EF4-FFF2-40B4-BE49-F238E27FC236}">
                <a16:creationId xmlns:a16="http://schemas.microsoft.com/office/drawing/2014/main" id="{FD6B625B-7086-CCC5-360C-7C3B9A5A3C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0767" y="5928401"/>
            <a:ext cx="2827669" cy="825528"/>
          </a:xfrm>
          <a:prstGeom prst="rect">
            <a:avLst/>
          </a:prstGeom>
        </p:spPr>
      </p:pic>
      <p:pic>
        <p:nvPicPr>
          <p:cNvPr id="15" name="Imagen 14">
            <a:extLst>
              <a:ext uri="{FF2B5EF4-FFF2-40B4-BE49-F238E27FC236}">
                <a16:creationId xmlns:a16="http://schemas.microsoft.com/office/drawing/2014/main" id="{8B729AA4-776A-3181-8DDB-791A27DA3E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61751" y="5963285"/>
            <a:ext cx="3962401" cy="1024115"/>
          </a:xfrm>
          <a:prstGeom prst="rect">
            <a:avLst/>
          </a:prstGeom>
        </p:spPr>
      </p:pic>
      <p:pic>
        <p:nvPicPr>
          <p:cNvPr id="8" name="Image 0" descr="/mnt/data/thesis_media/image44.jpeg">
            <a:extLst>
              <a:ext uri="{FF2B5EF4-FFF2-40B4-BE49-F238E27FC236}">
                <a16:creationId xmlns:a16="http://schemas.microsoft.com/office/drawing/2014/main" id="{847CDCEC-0D73-43A8-916F-60055D06E88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3348" y="1030228"/>
            <a:ext cx="3566160" cy="2679239"/>
          </a:xfrm>
          <a:prstGeom prst="rect">
            <a:avLst/>
          </a:prstGeom>
        </p:spPr>
      </p:pic>
      <p:pic>
        <p:nvPicPr>
          <p:cNvPr id="13" name="Image 2" descr="/mnt/data/thesis_media/image31.png">
            <a:extLst>
              <a:ext uri="{FF2B5EF4-FFF2-40B4-BE49-F238E27FC236}">
                <a16:creationId xmlns:a16="http://schemas.microsoft.com/office/drawing/2014/main" id="{2B02E6F2-D010-471E-B388-8FF9F04DD0E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84212" y="998247"/>
            <a:ext cx="1851548" cy="4014196"/>
          </a:xfrm>
          <a:prstGeom prst="rect">
            <a:avLst/>
          </a:prstGeom>
        </p:spPr>
      </p:pic>
      <p:sp>
        <p:nvSpPr>
          <p:cNvPr id="16" name="Text 3">
            <a:extLst>
              <a:ext uri="{FF2B5EF4-FFF2-40B4-BE49-F238E27FC236}">
                <a16:creationId xmlns:a16="http://schemas.microsoft.com/office/drawing/2014/main" id="{1B668044-1AF5-4C44-A079-06274AC9E0B7}"/>
              </a:ext>
            </a:extLst>
          </p:cNvPr>
          <p:cNvSpPr/>
          <p:nvPr/>
        </p:nvSpPr>
        <p:spPr>
          <a:xfrm>
            <a:off x="283348" y="3805456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6170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Detección diurna de maquinaria</a:t>
            </a:r>
            <a:endParaRPr lang="en-US" sz="800" dirty="0"/>
          </a:p>
        </p:txBody>
      </p:sp>
      <p:sp>
        <p:nvSpPr>
          <p:cNvPr id="17" name="Text 4">
            <a:extLst>
              <a:ext uri="{FF2B5EF4-FFF2-40B4-BE49-F238E27FC236}">
                <a16:creationId xmlns:a16="http://schemas.microsoft.com/office/drawing/2014/main" id="{0098940F-445C-4B1D-990A-D3A3A548B5E5}"/>
              </a:ext>
            </a:extLst>
          </p:cNvPr>
          <p:cNvSpPr/>
          <p:nvPr/>
        </p:nvSpPr>
        <p:spPr>
          <a:xfrm>
            <a:off x="4050676" y="3805456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6170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Detección nocturna con iluminación</a:t>
            </a:r>
            <a:endParaRPr lang="en-US" sz="800" dirty="0"/>
          </a:p>
        </p:txBody>
      </p:sp>
      <p:sp>
        <p:nvSpPr>
          <p:cNvPr id="18" name="Shape 6">
            <a:extLst>
              <a:ext uri="{FF2B5EF4-FFF2-40B4-BE49-F238E27FC236}">
                <a16:creationId xmlns:a16="http://schemas.microsoft.com/office/drawing/2014/main" id="{75540D3C-CC20-474D-BE8B-33F2E8D567F0}"/>
              </a:ext>
            </a:extLst>
          </p:cNvPr>
          <p:cNvSpPr/>
          <p:nvPr/>
        </p:nvSpPr>
        <p:spPr>
          <a:xfrm>
            <a:off x="420508" y="4166029"/>
            <a:ext cx="7017784" cy="587679"/>
          </a:xfrm>
          <a:prstGeom prst="roundRect">
            <a:avLst>
              <a:gd name="adj" fmla="val 7843"/>
            </a:avLst>
          </a:prstGeom>
          <a:solidFill>
            <a:srgbClr val="EAF3E8"/>
          </a:solidFill>
          <a:ln w="12700">
            <a:solidFill>
              <a:srgbClr val="D5E5D6"/>
            </a:solidFill>
            <a:prstDash val="solid"/>
          </a:ln>
        </p:spPr>
      </p:sp>
      <p:sp>
        <p:nvSpPr>
          <p:cNvPr id="19" name="Text 7">
            <a:extLst>
              <a:ext uri="{FF2B5EF4-FFF2-40B4-BE49-F238E27FC236}">
                <a16:creationId xmlns:a16="http://schemas.microsoft.com/office/drawing/2014/main" id="{14883B4E-FE22-4D74-81D2-188309A9A666}"/>
              </a:ext>
            </a:extLst>
          </p:cNvPr>
          <p:cNvSpPr/>
          <p:nvPr/>
        </p:nvSpPr>
        <p:spPr>
          <a:xfrm>
            <a:off x="732627" y="4375364"/>
            <a:ext cx="1371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E2E22"/>
                </a:solidFill>
              </a:rPr>
              <a:t>YOLOv8n</a:t>
            </a:r>
            <a:endParaRPr lang="en-US" sz="1800" dirty="0"/>
          </a:p>
        </p:txBody>
      </p:sp>
      <p:sp>
        <p:nvSpPr>
          <p:cNvPr id="20" name="Text 8">
            <a:extLst>
              <a:ext uri="{FF2B5EF4-FFF2-40B4-BE49-F238E27FC236}">
                <a16:creationId xmlns:a16="http://schemas.microsoft.com/office/drawing/2014/main" id="{B3FCF2DD-5A2A-4E9D-A4FB-BBDCC2507C1B}"/>
              </a:ext>
            </a:extLst>
          </p:cNvPr>
          <p:cNvSpPr/>
          <p:nvPr/>
        </p:nvSpPr>
        <p:spPr>
          <a:xfrm>
            <a:off x="2066428" y="4325312"/>
            <a:ext cx="5074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14221B"/>
                </a:solidFill>
              </a:rPr>
              <a:t>detecta personas y vehículos y filtra falsas alarmas ambientales.</a:t>
            </a:r>
            <a:endParaRPr lang="en-US" sz="1100" dirty="0"/>
          </a:p>
        </p:txBody>
      </p:sp>
      <p:sp>
        <p:nvSpPr>
          <p:cNvPr id="21" name="Shape 9">
            <a:extLst>
              <a:ext uri="{FF2B5EF4-FFF2-40B4-BE49-F238E27FC236}">
                <a16:creationId xmlns:a16="http://schemas.microsoft.com/office/drawing/2014/main" id="{D8882527-D81C-42FC-B529-1EDEFA1D99DA}"/>
              </a:ext>
            </a:extLst>
          </p:cNvPr>
          <p:cNvSpPr/>
          <p:nvPr/>
        </p:nvSpPr>
        <p:spPr>
          <a:xfrm>
            <a:off x="420508" y="4883110"/>
            <a:ext cx="7059168" cy="475488"/>
          </a:xfrm>
          <a:prstGeom prst="roundRect">
            <a:avLst>
              <a:gd name="adj" fmla="val 15385"/>
            </a:avLst>
          </a:prstGeom>
          <a:solidFill>
            <a:srgbClr val="FFF4E0"/>
          </a:solidFill>
          <a:ln w="12700">
            <a:solidFill>
              <a:srgbClr val="F0E0BD"/>
            </a:solidFill>
            <a:prstDash val="solid"/>
          </a:ln>
        </p:spPr>
      </p:sp>
      <p:sp>
        <p:nvSpPr>
          <p:cNvPr id="22" name="Text 10">
            <a:extLst>
              <a:ext uri="{FF2B5EF4-FFF2-40B4-BE49-F238E27FC236}">
                <a16:creationId xmlns:a16="http://schemas.microsoft.com/office/drawing/2014/main" id="{60B813B5-1C1E-47F8-9E08-91FDF77818CC}"/>
              </a:ext>
            </a:extLst>
          </p:cNvPr>
          <p:cNvSpPr/>
          <p:nvPr/>
        </p:nvSpPr>
        <p:spPr>
          <a:xfrm>
            <a:off x="511948" y="5012443"/>
            <a:ext cx="6629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7B601E"/>
                </a:solidFill>
              </a:rPr>
              <a:t>EasyOCR: funciona mejor con placa limpia, alta </a:t>
            </a:r>
            <a:r>
              <a:rPr lang="en-US" sz="950" dirty="0" err="1">
                <a:solidFill>
                  <a:srgbClr val="7B601E"/>
                </a:solidFill>
              </a:rPr>
              <a:t>resolución</a:t>
            </a:r>
            <a:r>
              <a:rPr lang="en-US" sz="950" dirty="0">
                <a:solidFill>
                  <a:srgbClr val="7B601E"/>
                </a:solidFill>
              </a:rPr>
              <a:t> , Angulo </a:t>
            </a:r>
            <a:r>
              <a:rPr lang="en-US" sz="950" dirty="0" err="1">
                <a:solidFill>
                  <a:srgbClr val="7B601E"/>
                </a:solidFill>
              </a:rPr>
              <a:t>adecuado</a:t>
            </a:r>
            <a:r>
              <a:rPr lang="en-US" sz="950" dirty="0">
                <a:solidFill>
                  <a:srgbClr val="7B601E"/>
                </a:solidFill>
              </a:rPr>
              <a:t> y control del reflejo nocturno.</a:t>
            </a:r>
            <a:endParaRPr lang="en-US" sz="950" dirty="0"/>
          </a:p>
        </p:txBody>
      </p:sp>
      <p:sp>
        <p:nvSpPr>
          <p:cNvPr id="23" name="Text 5">
            <a:extLst>
              <a:ext uri="{FF2B5EF4-FFF2-40B4-BE49-F238E27FC236}">
                <a16:creationId xmlns:a16="http://schemas.microsoft.com/office/drawing/2014/main" id="{58C36D10-92C7-4413-8186-DE26B45DA55C}"/>
              </a:ext>
            </a:extLst>
          </p:cNvPr>
          <p:cNvSpPr/>
          <p:nvPr/>
        </p:nvSpPr>
        <p:spPr>
          <a:xfrm>
            <a:off x="8146487" y="5027545"/>
            <a:ext cx="3611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s-EC" sz="800" i="1" dirty="0">
                <a:solidFill>
                  <a:srgbClr val="6170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Evidencia Reconocimiento Placa + filtros enviados por </a:t>
            </a:r>
            <a:r>
              <a:rPr lang="es-EC" sz="800" i="1" dirty="0" err="1">
                <a:solidFill>
                  <a:srgbClr val="6170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Telegram</a:t>
            </a:r>
            <a:endParaRPr lang="es-EC" sz="800" dirty="0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96F5CB4C-D108-4CC3-986B-67849EEEA24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26169" y="1009611"/>
            <a:ext cx="3566160" cy="26746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617722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004E8E-C094-F9BA-5110-02BE78C093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lecha: pentágono 11">
            <a:extLst>
              <a:ext uri="{FF2B5EF4-FFF2-40B4-BE49-F238E27FC236}">
                <a16:creationId xmlns:a16="http://schemas.microsoft.com/office/drawing/2014/main" id="{95E77573-D29F-5561-DD03-8B53BA6892B9}"/>
              </a:ext>
            </a:extLst>
          </p:cNvPr>
          <p:cNvSpPr/>
          <p:nvPr/>
        </p:nvSpPr>
        <p:spPr>
          <a:xfrm>
            <a:off x="283348" y="104071"/>
            <a:ext cx="8872376" cy="794745"/>
          </a:xfrm>
          <a:prstGeom prst="homePlate">
            <a:avLst/>
          </a:prstGeom>
          <a:solidFill>
            <a:srgbClr val="C00000"/>
          </a:solidFill>
          <a:ln/>
          <a:scene3d>
            <a:camera prst="orthographicFront"/>
            <a:lightRig rig="threePt" dir="t"/>
          </a:scene3d>
          <a:sp3d>
            <a:bevelT w="165100" prst="coolSlant"/>
          </a:sp3d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s-US" sz="2800" b="1" dirty="0">
              <a:solidFill>
                <a:srgbClr val="FFFF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s-US" sz="28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Evidencias :</a:t>
            </a:r>
            <a:r>
              <a:rPr lang="es-MX" sz="28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Resultados de visión artificial en campo</a:t>
            </a:r>
          </a:p>
          <a:p>
            <a:endParaRPr lang="es-US" sz="2800" b="1" noProof="0" dirty="0">
              <a:solidFill>
                <a:schemeClr val="bg1"/>
              </a:solidFill>
            </a:endParaRP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FDAC0D0F-6BDD-BD9E-D98F-399A88861962}"/>
              </a:ext>
            </a:extLst>
          </p:cNvPr>
          <p:cNvSpPr/>
          <p:nvPr/>
        </p:nvSpPr>
        <p:spPr>
          <a:xfrm>
            <a:off x="5526157" y="6092687"/>
            <a:ext cx="6665843" cy="765313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US" noProof="0" dirty="0"/>
          </a:p>
        </p:txBody>
      </p:sp>
      <p:sp>
        <p:nvSpPr>
          <p:cNvPr id="11" name="Recortar rectángulo de una esquina 9">
            <a:extLst>
              <a:ext uri="{FF2B5EF4-FFF2-40B4-BE49-F238E27FC236}">
                <a16:creationId xmlns:a16="http://schemas.microsoft.com/office/drawing/2014/main" id="{39BF9D91-2AFF-ECE1-221C-1A540035B2EA}"/>
              </a:ext>
            </a:extLst>
          </p:cNvPr>
          <p:cNvSpPr/>
          <p:nvPr/>
        </p:nvSpPr>
        <p:spPr>
          <a:xfrm>
            <a:off x="-9939" y="5963285"/>
            <a:ext cx="5903843" cy="904654"/>
          </a:xfrm>
          <a:prstGeom prst="snip1Rect">
            <a:avLst>
              <a:gd name="adj" fmla="val 50000"/>
            </a:avLst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US" noProof="0" dirty="0"/>
          </a:p>
        </p:txBody>
      </p:sp>
      <p:pic>
        <p:nvPicPr>
          <p:cNvPr id="14" name="Imagen 13">
            <a:extLst>
              <a:ext uri="{FF2B5EF4-FFF2-40B4-BE49-F238E27FC236}">
                <a16:creationId xmlns:a16="http://schemas.microsoft.com/office/drawing/2014/main" id="{FD6B625B-7086-CCC5-360C-7C3B9A5A3C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0767" y="6166337"/>
            <a:ext cx="2827669" cy="587591"/>
          </a:xfrm>
          <a:prstGeom prst="rect">
            <a:avLst/>
          </a:prstGeom>
        </p:spPr>
      </p:pic>
      <p:pic>
        <p:nvPicPr>
          <p:cNvPr id="15" name="Imagen 14">
            <a:extLst>
              <a:ext uri="{FF2B5EF4-FFF2-40B4-BE49-F238E27FC236}">
                <a16:creationId xmlns:a16="http://schemas.microsoft.com/office/drawing/2014/main" id="{8B729AA4-776A-3181-8DDB-791A27DA3E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61751" y="5963285"/>
            <a:ext cx="3962401" cy="1024115"/>
          </a:xfrm>
          <a:prstGeom prst="rect">
            <a:avLst/>
          </a:prstGeom>
        </p:spPr>
      </p:pic>
      <p:sp>
        <p:nvSpPr>
          <p:cNvPr id="24" name="Text 3">
            <a:extLst>
              <a:ext uri="{FF2B5EF4-FFF2-40B4-BE49-F238E27FC236}">
                <a16:creationId xmlns:a16="http://schemas.microsoft.com/office/drawing/2014/main" id="{4B9A942D-1D2D-466D-890D-B7E1A3F48566}"/>
              </a:ext>
            </a:extLst>
          </p:cNvPr>
          <p:cNvSpPr/>
          <p:nvPr/>
        </p:nvSpPr>
        <p:spPr>
          <a:xfrm>
            <a:off x="0" y="3638188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6170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Detección diurna de </a:t>
            </a:r>
            <a:r>
              <a:rPr lang="en-US" sz="800" i="1" dirty="0" err="1">
                <a:solidFill>
                  <a:srgbClr val="6170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motocicletas</a:t>
            </a:r>
            <a:endParaRPr lang="en-US" sz="800" dirty="0"/>
          </a:p>
        </p:txBody>
      </p:sp>
      <p:sp>
        <p:nvSpPr>
          <p:cNvPr id="25" name="Text 4">
            <a:extLst>
              <a:ext uri="{FF2B5EF4-FFF2-40B4-BE49-F238E27FC236}">
                <a16:creationId xmlns:a16="http://schemas.microsoft.com/office/drawing/2014/main" id="{B097C4F7-1984-4C8C-8C23-CBE75DA25357}"/>
              </a:ext>
            </a:extLst>
          </p:cNvPr>
          <p:cNvSpPr/>
          <p:nvPr/>
        </p:nvSpPr>
        <p:spPr>
          <a:xfrm>
            <a:off x="3767328" y="3638188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i="1" dirty="0" err="1">
                <a:solidFill>
                  <a:srgbClr val="6170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Detección</a:t>
            </a:r>
            <a:r>
              <a:rPr lang="en-US" sz="800" i="1" dirty="0">
                <a:solidFill>
                  <a:srgbClr val="6170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de personas</a:t>
            </a:r>
            <a:endParaRPr lang="en-US" sz="800" dirty="0"/>
          </a:p>
        </p:txBody>
      </p:sp>
      <p:sp>
        <p:nvSpPr>
          <p:cNvPr id="26" name="Shape 6">
            <a:extLst>
              <a:ext uri="{FF2B5EF4-FFF2-40B4-BE49-F238E27FC236}">
                <a16:creationId xmlns:a16="http://schemas.microsoft.com/office/drawing/2014/main" id="{28C3B4FC-E927-4C71-834E-51114746CDCF}"/>
              </a:ext>
            </a:extLst>
          </p:cNvPr>
          <p:cNvSpPr/>
          <p:nvPr/>
        </p:nvSpPr>
        <p:spPr>
          <a:xfrm>
            <a:off x="155448" y="4232548"/>
            <a:ext cx="7059168" cy="932688"/>
          </a:xfrm>
          <a:prstGeom prst="roundRect">
            <a:avLst>
              <a:gd name="adj" fmla="val 7843"/>
            </a:avLst>
          </a:prstGeom>
          <a:solidFill>
            <a:srgbClr val="EAF3E8"/>
          </a:solidFill>
          <a:ln w="12700">
            <a:solidFill>
              <a:srgbClr val="D5E5D6"/>
            </a:solidFill>
            <a:prstDash val="solid"/>
          </a:ln>
        </p:spPr>
      </p:sp>
      <p:sp>
        <p:nvSpPr>
          <p:cNvPr id="27" name="Text 7">
            <a:extLst>
              <a:ext uri="{FF2B5EF4-FFF2-40B4-BE49-F238E27FC236}">
                <a16:creationId xmlns:a16="http://schemas.microsoft.com/office/drawing/2014/main" id="{350461A4-664D-49AF-8CC5-9EEBA4E79391}"/>
              </a:ext>
            </a:extLst>
          </p:cNvPr>
          <p:cNvSpPr/>
          <p:nvPr/>
        </p:nvSpPr>
        <p:spPr>
          <a:xfrm>
            <a:off x="411480" y="4442860"/>
            <a:ext cx="1371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E2E22"/>
                </a:solidFill>
              </a:rPr>
              <a:t>YOLOv8n</a:t>
            </a:r>
            <a:endParaRPr lang="en-US" sz="1800" dirty="0"/>
          </a:p>
        </p:txBody>
      </p:sp>
      <p:sp>
        <p:nvSpPr>
          <p:cNvPr id="28" name="Text 8">
            <a:extLst>
              <a:ext uri="{FF2B5EF4-FFF2-40B4-BE49-F238E27FC236}">
                <a16:creationId xmlns:a16="http://schemas.microsoft.com/office/drawing/2014/main" id="{23A8AF64-5F63-4FCC-A5A0-A5A3A3CAD45B}"/>
              </a:ext>
            </a:extLst>
          </p:cNvPr>
          <p:cNvSpPr/>
          <p:nvPr/>
        </p:nvSpPr>
        <p:spPr>
          <a:xfrm>
            <a:off x="1755648" y="4415428"/>
            <a:ext cx="5074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14221B"/>
                </a:solidFill>
              </a:rPr>
              <a:t>detecta personas y vehículos y filtra falsas alarmas ambientales.</a:t>
            </a:r>
            <a:endParaRPr lang="en-US" sz="1100" dirty="0"/>
          </a:p>
        </p:txBody>
      </p:sp>
      <p:sp>
        <p:nvSpPr>
          <p:cNvPr id="29" name="Shape 9">
            <a:extLst>
              <a:ext uri="{FF2B5EF4-FFF2-40B4-BE49-F238E27FC236}">
                <a16:creationId xmlns:a16="http://schemas.microsoft.com/office/drawing/2014/main" id="{BE77D31F-FCAD-4A4B-808A-4BD566B11D82}"/>
              </a:ext>
            </a:extLst>
          </p:cNvPr>
          <p:cNvSpPr/>
          <p:nvPr/>
        </p:nvSpPr>
        <p:spPr>
          <a:xfrm>
            <a:off x="155448" y="5311540"/>
            <a:ext cx="7059168" cy="475488"/>
          </a:xfrm>
          <a:prstGeom prst="roundRect">
            <a:avLst>
              <a:gd name="adj" fmla="val 15385"/>
            </a:avLst>
          </a:prstGeom>
          <a:solidFill>
            <a:srgbClr val="FFF4E0"/>
          </a:solidFill>
          <a:ln w="12700">
            <a:solidFill>
              <a:srgbClr val="F0E0BD"/>
            </a:solidFill>
            <a:prstDash val="solid"/>
          </a:ln>
        </p:spPr>
      </p:sp>
      <p:sp>
        <p:nvSpPr>
          <p:cNvPr id="30" name="Text 10">
            <a:extLst>
              <a:ext uri="{FF2B5EF4-FFF2-40B4-BE49-F238E27FC236}">
                <a16:creationId xmlns:a16="http://schemas.microsoft.com/office/drawing/2014/main" id="{907232AF-081C-44C1-833B-B6B98BD46E6A}"/>
              </a:ext>
            </a:extLst>
          </p:cNvPr>
          <p:cNvSpPr/>
          <p:nvPr/>
        </p:nvSpPr>
        <p:spPr>
          <a:xfrm>
            <a:off x="365760" y="5466988"/>
            <a:ext cx="6629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7B601E"/>
                </a:solidFill>
              </a:rPr>
              <a:t>EasyOCR: funciona mejor con placa limpia, alta </a:t>
            </a:r>
            <a:r>
              <a:rPr lang="en-US" sz="950" dirty="0" err="1">
                <a:solidFill>
                  <a:srgbClr val="7B601E"/>
                </a:solidFill>
              </a:rPr>
              <a:t>resolución</a:t>
            </a:r>
            <a:r>
              <a:rPr lang="en-US" sz="950" dirty="0">
                <a:solidFill>
                  <a:srgbClr val="7B601E"/>
                </a:solidFill>
              </a:rPr>
              <a:t> , Angulo </a:t>
            </a:r>
            <a:r>
              <a:rPr lang="en-US" sz="950" dirty="0" err="1">
                <a:solidFill>
                  <a:srgbClr val="7B601E"/>
                </a:solidFill>
              </a:rPr>
              <a:t>adecuado</a:t>
            </a:r>
            <a:r>
              <a:rPr lang="en-US" sz="950" dirty="0">
                <a:solidFill>
                  <a:srgbClr val="7B601E"/>
                </a:solidFill>
              </a:rPr>
              <a:t> y control del reflejo nocturno.</a:t>
            </a:r>
            <a:endParaRPr lang="en-US" sz="950" dirty="0"/>
          </a:p>
        </p:txBody>
      </p:sp>
      <p:pic>
        <p:nvPicPr>
          <p:cNvPr id="31" name="Imagen 30">
            <a:extLst>
              <a:ext uri="{FF2B5EF4-FFF2-40B4-BE49-F238E27FC236}">
                <a16:creationId xmlns:a16="http://schemas.microsoft.com/office/drawing/2014/main" id="{60EB49DC-9BAD-46EB-8EFA-C1E505331A8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92997" y="922421"/>
            <a:ext cx="3086857" cy="2694460"/>
          </a:xfrm>
          <a:prstGeom prst="rect">
            <a:avLst/>
          </a:prstGeom>
        </p:spPr>
      </p:pic>
      <p:pic>
        <p:nvPicPr>
          <p:cNvPr id="32" name="Imagen 31">
            <a:extLst>
              <a:ext uri="{FF2B5EF4-FFF2-40B4-BE49-F238E27FC236}">
                <a16:creationId xmlns:a16="http://schemas.microsoft.com/office/drawing/2014/main" id="{441CA1B1-310C-4F57-9B26-BD6498B54C9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5760" y="922421"/>
            <a:ext cx="3086857" cy="2733814"/>
          </a:xfrm>
          <a:prstGeom prst="rect">
            <a:avLst/>
          </a:prstGeom>
        </p:spPr>
      </p:pic>
      <p:pic>
        <p:nvPicPr>
          <p:cNvPr id="33" name="Imagen 32">
            <a:extLst>
              <a:ext uri="{FF2B5EF4-FFF2-40B4-BE49-F238E27FC236}">
                <a16:creationId xmlns:a16="http://schemas.microsoft.com/office/drawing/2014/main" id="{3B298C84-49A1-4DFF-8329-6CF4F183FB1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08875" y="875904"/>
            <a:ext cx="1832404" cy="3972692"/>
          </a:xfrm>
          <a:prstGeom prst="rect">
            <a:avLst/>
          </a:prstGeom>
        </p:spPr>
      </p:pic>
      <p:sp>
        <p:nvSpPr>
          <p:cNvPr id="34" name="Text 5">
            <a:extLst>
              <a:ext uri="{FF2B5EF4-FFF2-40B4-BE49-F238E27FC236}">
                <a16:creationId xmlns:a16="http://schemas.microsoft.com/office/drawing/2014/main" id="{C7F2276B-8DDD-4983-A86E-C02F0EF402C1}"/>
              </a:ext>
            </a:extLst>
          </p:cNvPr>
          <p:cNvSpPr/>
          <p:nvPr/>
        </p:nvSpPr>
        <p:spPr>
          <a:xfrm>
            <a:off x="7519137" y="4937953"/>
            <a:ext cx="3611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6170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Evidencia + </a:t>
            </a:r>
            <a:r>
              <a:rPr lang="en-US" sz="800" i="1" dirty="0" err="1">
                <a:solidFill>
                  <a:srgbClr val="6170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Alertas</a:t>
            </a:r>
            <a:r>
              <a:rPr lang="en-US" sz="800" i="1" dirty="0">
                <a:solidFill>
                  <a:srgbClr val="6170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sz="800" i="1" dirty="0" err="1">
                <a:solidFill>
                  <a:srgbClr val="6170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enviadas</a:t>
            </a:r>
            <a:r>
              <a:rPr lang="en-US" sz="800" i="1" dirty="0">
                <a:solidFill>
                  <a:srgbClr val="6170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por Telegram</a:t>
            </a:r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363913925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004E8E-C094-F9BA-5110-02BE78C093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lecha: pentágono 11">
            <a:extLst>
              <a:ext uri="{FF2B5EF4-FFF2-40B4-BE49-F238E27FC236}">
                <a16:creationId xmlns:a16="http://schemas.microsoft.com/office/drawing/2014/main" id="{95E77573-D29F-5561-DD03-8B53BA6892B9}"/>
              </a:ext>
            </a:extLst>
          </p:cNvPr>
          <p:cNvSpPr/>
          <p:nvPr/>
        </p:nvSpPr>
        <p:spPr>
          <a:xfrm>
            <a:off x="283348" y="104071"/>
            <a:ext cx="8274498" cy="924147"/>
          </a:xfrm>
          <a:prstGeom prst="homePlate">
            <a:avLst/>
          </a:prstGeom>
          <a:solidFill>
            <a:srgbClr val="C00000"/>
          </a:solidFill>
          <a:ln/>
          <a:scene3d>
            <a:camera prst="orthographicFront"/>
            <a:lightRig rig="threePt" dir="t"/>
          </a:scene3d>
          <a:sp3d>
            <a:bevelT w="165100" prst="coolSlant"/>
          </a:sp3d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>
              <a:buNone/>
            </a:pPr>
            <a:r>
              <a:rPr lang="es-EC" sz="3600" b="1" dirty="0">
                <a:solidFill>
                  <a:schemeClr val="bg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Viabilidad económica del prototipo</a:t>
            </a:r>
            <a:endParaRPr lang="es-EC" sz="3600" dirty="0">
              <a:solidFill>
                <a:schemeClr val="bg1"/>
              </a:solidFill>
            </a:endParaRP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FDAC0D0F-6BDD-BD9E-D98F-399A88861962}"/>
              </a:ext>
            </a:extLst>
          </p:cNvPr>
          <p:cNvSpPr/>
          <p:nvPr/>
        </p:nvSpPr>
        <p:spPr>
          <a:xfrm>
            <a:off x="4906713" y="6192379"/>
            <a:ext cx="7285288" cy="665621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US" noProof="0" dirty="0"/>
          </a:p>
        </p:txBody>
      </p:sp>
      <p:sp>
        <p:nvSpPr>
          <p:cNvPr id="11" name="Recortar rectángulo de una esquina 9">
            <a:extLst>
              <a:ext uri="{FF2B5EF4-FFF2-40B4-BE49-F238E27FC236}">
                <a16:creationId xmlns:a16="http://schemas.microsoft.com/office/drawing/2014/main" id="{39BF9D91-2AFF-ECE1-221C-1A540035B2EA}"/>
              </a:ext>
            </a:extLst>
          </p:cNvPr>
          <p:cNvSpPr/>
          <p:nvPr/>
        </p:nvSpPr>
        <p:spPr>
          <a:xfrm>
            <a:off x="-9938" y="6042411"/>
            <a:ext cx="5536096" cy="825528"/>
          </a:xfrm>
          <a:prstGeom prst="snip1Rect">
            <a:avLst>
              <a:gd name="adj" fmla="val 50000"/>
            </a:avLst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US" noProof="0" dirty="0"/>
          </a:p>
        </p:txBody>
      </p:sp>
      <p:pic>
        <p:nvPicPr>
          <p:cNvPr id="14" name="Imagen 13">
            <a:extLst>
              <a:ext uri="{FF2B5EF4-FFF2-40B4-BE49-F238E27FC236}">
                <a16:creationId xmlns:a16="http://schemas.microsoft.com/office/drawing/2014/main" id="{FD6B625B-7086-CCC5-360C-7C3B9A5A3C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0767" y="6168657"/>
            <a:ext cx="2395241" cy="699282"/>
          </a:xfrm>
          <a:prstGeom prst="rect">
            <a:avLst/>
          </a:prstGeom>
        </p:spPr>
      </p:pic>
      <p:pic>
        <p:nvPicPr>
          <p:cNvPr id="15" name="Imagen 14">
            <a:extLst>
              <a:ext uri="{FF2B5EF4-FFF2-40B4-BE49-F238E27FC236}">
                <a16:creationId xmlns:a16="http://schemas.microsoft.com/office/drawing/2014/main" id="{8B729AA4-776A-3181-8DDB-791A27DA3E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61751" y="5963285"/>
            <a:ext cx="3962401" cy="1024115"/>
          </a:xfrm>
          <a:prstGeom prst="rect">
            <a:avLst/>
          </a:prstGeom>
        </p:spPr>
      </p:pic>
      <p:graphicFrame>
        <p:nvGraphicFramePr>
          <p:cNvPr id="8" name="Tabla 7">
            <a:extLst>
              <a:ext uri="{FF2B5EF4-FFF2-40B4-BE49-F238E27FC236}">
                <a16:creationId xmlns:a16="http://schemas.microsoft.com/office/drawing/2014/main" id="{454CB4AD-EA8E-4A67-9751-9DAAA6FB3AC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0090103"/>
              </p:ext>
            </p:extLst>
          </p:nvPr>
        </p:nvGraphicFramePr>
        <p:xfrm>
          <a:off x="636805" y="1397550"/>
          <a:ext cx="4618892" cy="4425497"/>
        </p:xfrm>
        <a:graphic>
          <a:graphicData uri="http://schemas.openxmlformats.org/drawingml/2006/table">
            <a:tbl>
              <a:tblPr firstRow="1" firstCol="1" bandRow="1">
                <a:tableStyleId>{93296810-A885-4BE3-A3E7-6D5BEEA58F35}</a:tableStyleId>
              </a:tblPr>
              <a:tblGrid>
                <a:gridCol w="1752331">
                  <a:extLst>
                    <a:ext uri="{9D8B030D-6E8A-4147-A177-3AD203B41FA5}">
                      <a16:colId xmlns:a16="http://schemas.microsoft.com/office/drawing/2014/main" val="3830622593"/>
                    </a:ext>
                  </a:extLst>
                </a:gridCol>
                <a:gridCol w="744771">
                  <a:extLst>
                    <a:ext uri="{9D8B030D-6E8A-4147-A177-3AD203B41FA5}">
                      <a16:colId xmlns:a16="http://schemas.microsoft.com/office/drawing/2014/main" val="735923707"/>
                    </a:ext>
                  </a:extLst>
                </a:gridCol>
                <a:gridCol w="1103761">
                  <a:extLst>
                    <a:ext uri="{9D8B030D-6E8A-4147-A177-3AD203B41FA5}">
                      <a16:colId xmlns:a16="http://schemas.microsoft.com/office/drawing/2014/main" val="4038263484"/>
                    </a:ext>
                  </a:extLst>
                </a:gridCol>
                <a:gridCol w="1018029">
                  <a:extLst>
                    <a:ext uri="{9D8B030D-6E8A-4147-A177-3AD203B41FA5}">
                      <a16:colId xmlns:a16="http://schemas.microsoft.com/office/drawing/2014/main" val="1506589358"/>
                    </a:ext>
                  </a:extLst>
                </a:gridCol>
              </a:tblGrid>
              <a:tr h="505929">
                <a:tc>
                  <a:txBody>
                    <a:bodyPr/>
                    <a:lstStyle/>
                    <a:p>
                      <a:pPr algn="just">
                        <a:lnSpc>
                          <a:spcPct val="200000"/>
                        </a:lnSpc>
                      </a:pPr>
                      <a:r>
                        <a:rPr lang="es-EC" sz="1000" dirty="0">
                          <a:effectLst/>
                        </a:rPr>
                        <a:t>Equipos / Componentes</a:t>
                      </a:r>
                      <a:endParaRPr lang="es-EC" sz="100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4608" marR="64608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200000"/>
                        </a:lnSpc>
                      </a:pPr>
                      <a:r>
                        <a:rPr lang="es-EC" sz="1000" dirty="0">
                          <a:effectLst/>
                        </a:rPr>
                        <a:t>Cantidad</a:t>
                      </a:r>
                      <a:endParaRPr lang="es-EC" sz="100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4608" marR="64608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200000"/>
                        </a:lnSpc>
                      </a:pPr>
                      <a:r>
                        <a:rPr lang="es-EC" sz="1000" dirty="0">
                          <a:effectLst/>
                        </a:rPr>
                        <a:t>Precio Unitario (USD)</a:t>
                      </a:r>
                      <a:endParaRPr lang="es-EC" sz="100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4608" marR="64608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200000"/>
                        </a:lnSpc>
                      </a:pPr>
                      <a:r>
                        <a:rPr lang="es-EC" sz="1000">
                          <a:effectLst/>
                        </a:rPr>
                        <a:t>Subtotal (USD)</a:t>
                      </a:r>
                      <a:endParaRPr lang="es-EC" sz="100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4608" marR="64608" marT="0" marB="0"/>
                </a:tc>
                <a:extLst>
                  <a:ext uri="{0D108BD9-81ED-4DB2-BD59-A6C34878D82A}">
                    <a16:rowId xmlns:a16="http://schemas.microsoft.com/office/drawing/2014/main" val="3395385164"/>
                  </a:ext>
                </a:extLst>
              </a:tr>
              <a:tr h="544217">
                <a:tc>
                  <a:txBody>
                    <a:bodyPr/>
                    <a:lstStyle/>
                    <a:p>
                      <a:pPr algn="just">
                        <a:lnSpc>
                          <a:spcPct val="200000"/>
                        </a:lnSpc>
                      </a:pPr>
                      <a:r>
                        <a:rPr lang="pt-PT" sz="1000">
                          <a:effectLst/>
                        </a:rPr>
                        <a:t>Computador Monoplaca Raspberry Pi 5 (8GB)</a:t>
                      </a:r>
                      <a:endParaRPr lang="es-EC" sz="100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4608" marR="64608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200000"/>
                        </a:lnSpc>
                      </a:pPr>
                      <a:r>
                        <a:rPr lang="es-EC" sz="1000" dirty="0">
                          <a:effectLst/>
                        </a:rPr>
                        <a:t>1</a:t>
                      </a:r>
                      <a:endParaRPr lang="es-EC" sz="100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4608" marR="64608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200000"/>
                        </a:lnSpc>
                      </a:pPr>
                      <a:r>
                        <a:rPr lang="es-EC" sz="1000">
                          <a:effectLst/>
                        </a:rPr>
                        <a:t>120.00 </a:t>
                      </a:r>
                      <a:endParaRPr lang="es-EC" sz="100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4608" marR="64608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200000"/>
                        </a:lnSpc>
                      </a:pPr>
                      <a:r>
                        <a:rPr lang="es-EC" sz="1000">
                          <a:effectLst/>
                        </a:rPr>
                        <a:t>120.00</a:t>
                      </a:r>
                      <a:endParaRPr lang="es-EC" sz="100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4608" marR="64608" marT="0" marB="0"/>
                </a:tc>
                <a:extLst>
                  <a:ext uri="{0D108BD9-81ED-4DB2-BD59-A6C34878D82A}">
                    <a16:rowId xmlns:a16="http://schemas.microsoft.com/office/drawing/2014/main" val="1444106707"/>
                  </a:ext>
                </a:extLst>
              </a:tr>
              <a:tr h="505929">
                <a:tc>
                  <a:txBody>
                    <a:bodyPr/>
                    <a:lstStyle/>
                    <a:p>
                      <a:pPr algn="just">
                        <a:lnSpc>
                          <a:spcPct val="200000"/>
                        </a:lnSpc>
                      </a:pPr>
                      <a:r>
                        <a:rPr lang="pt-PT" sz="1000">
                          <a:effectLst/>
                        </a:rPr>
                        <a:t>Módulo de Cámara Arducam IMX477 12MP</a:t>
                      </a:r>
                      <a:endParaRPr lang="es-EC" sz="100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4608" marR="64608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200000"/>
                        </a:lnSpc>
                      </a:pPr>
                      <a:r>
                        <a:rPr lang="es-EC" sz="1000">
                          <a:effectLst/>
                        </a:rPr>
                        <a:t>1</a:t>
                      </a:r>
                      <a:endParaRPr lang="es-EC" sz="100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4608" marR="64608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200000"/>
                        </a:lnSpc>
                      </a:pPr>
                      <a:r>
                        <a:rPr lang="es-EC" sz="1000">
                          <a:effectLst/>
                        </a:rPr>
                        <a:t>80.00 </a:t>
                      </a:r>
                      <a:endParaRPr lang="es-EC" sz="100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4608" marR="64608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200000"/>
                        </a:lnSpc>
                      </a:pPr>
                      <a:r>
                        <a:rPr lang="es-EC" sz="1000" dirty="0">
                          <a:effectLst/>
                        </a:rPr>
                        <a:t>80.00</a:t>
                      </a:r>
                      <a:endParaRPr lang="es-EC" sz="100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4608" marR="64608" marT="0" marB="0"/>
                </a:tc>
                <a:extLst>
                  <a:ext uri="{0D108BD9-81ED-4DB2-BD59-A6C34878D82A}">
                    <a16:rowId xmlns:a16="http://schemas.microsoft.com/office/drawing/2014/main" val="1252170840"/>
                  </a:ext>
                </a:extLst>
              </a:tr>
              <a:tr h="262048">
                <a:tc>
                  <a:txBody>
                    <a:bodyPr/>
                    <a:lstStyle/>
                    <a:p>
                      <a:pPr algn="just">
                        <a:lnSpc>
                          <a:spcPct val="200000"/>
                        </a:lnSpc>
                      </a:pPr>
                      <a:r>
                        <a:rPr lang="pt-PT" sz="1000">
                          <a:effectLst/>
                        </a:rPr>
                        <a:t>Router LTE D-Link G403C</a:t>
                      </a:r>
                      <a:endParaRPr lang="es-EC" sz="100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4608" marR="64608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200000"/>
                        </a:lnSpc>
                      </a:pPr>
                      <a:r>
                        <a:rPr lang="es-EC" sz="1000">
                          <a:effectLst/>
                        </a:rPr>
                        <a:t>1</a:t>
                      </a:r>
                      <a:endParaRPr lang="es-EC" sz="100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4608" marR="64608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200000"/>
                        </a:lnSpc>
                      </a:pPr>
                      <a:r>
                        <a:rPr lang="es-EC" sz="1000">
                          <a:effectLst/>
                        </a:rPr>
                        <a:t>55.00</a:t>
                      </a:r>
                      <a:endParaRPr lang="es-EC" sz="100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4608" marR="64608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200000"/>
                        </a:lnSpc>
                      </a:pPr>
                      <a:r>
                        <a:rPr lang="es-EC" sz="1000">
                          <a:effectLst/>
                        </a:rPr>
                        <a:t>55.00</a:t>
                      </a:r>
                      <a:endParaRPr lang="es-EC" sz="100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4608" marR="64608" marT="0" marB="0"/>
                </a:tc>
                <a:extLst>
                  <a:ext uri="{0D108BD9-81ED-4DB2-BD59-A6C34878D82A}">
                    <a16:rowId xmlns:a16="http://schemas.microsoft.com/office/drawing/2014/main" val="2308556621"/>
                  </a:ext>
                </a:extLst>
              </a:tr>
              <a:tr h="505929">
                <a:tc>
                  <a:txBody>
                    <a:bodyPr/>
                    <a:lstStyle/>
                    <a:p>
                      <a:pPr algn="just">
                        <a:lnSpc>
                          <a:spcPct val="200000"/>
                        </a:lnSpc>
                      </a:pPr>
                      <a:r>
                        <a:rPr lang="en-GB" sz="1000">
                          <a:effectLst/>
                        </a:rPr>
                        <a:t>Módulo Step-Down (Buck Converter 12V-5V)</a:t>
                      </a:r>
                      <a:endParaRPr lang="es-EC" sz="100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4608" marR="64608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200000"/>
                        </a:lnSpc>
                      </a:pPr>
                      <a:r>
                        <a:rPr lang="es-EC" sz="1000">
                          <a:effectLst/>
                        </a:rPr>
                        <a:t>1</a:t>
                      </a:r>
                      <a:endParaRPr lang="es-EC" sz="100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4608" marR="64608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200000"/>
                        </a:lnSpc>
                      </a:pPr>
                      <a:r>
                        <a:rPr lang="es-EC" sz="1000">
                          <a:effectLst/>
                        </a:rPr>
                        <a:t>10.00 </a:t>
                      </a:r>
                      <a:endParaRPr lang="es-EC" sz="100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4608" marR="64608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200000"/>
                        </a:lnSpc>
                      </a:pPr>
                      <a:r>
                        <a:rPr lang="es-EC" sz="1000">
                          <a:effectLst/>
                        </a:rPr>
                        <a:t>10.00</a:t>
                      </a:r>
                      <a:endParaRPr lang="es-EC" sz="100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4608" marR="64608" marT="0" marB="0"/>
                </a:tc>
                <a:extLst>
                  <a:ext uri="{0D108BD9-81ED-4DB2-BD59-A6C34878D82A}">
                    <a16:rowId xmlns:a16="http://schemas.microsoft.com/office/drawing/2014/main" val="156864838"/>
                  </a:ext>
                </a:extLst>
              </a:tr>
              <a:tr h="505929">
                <a:tc>
                  <a:txBody>
                    <a:bodyPr/>
                    <a:lstStyle/>
                    <a:p>
                      <a:pPr algn="just">
                        <a:lnSpc>
                          <a:spcPct val="200000"/>
                        </a:lnSpc>
                      </a:pPr>
                      <a:r>
                        <a:rPr lang="es-EC" sz="1000">
                          <a:effectLst/>
                        </a:rPr>
                        <a:t>Módulo Relé 5V de 2 Canales</a:t>
                      </a:r>
                      <a:endParaRPr lang="es-EC" sz="100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4608" marR="64608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200000"/>
                        </a:lnSpc>
                      </a:pPr>
                      <a:r>
                        <a:rPr lang="es-EC" sz="1000">
                          <a:effectLst/>
                        </a:rPr>
                        <a:t>1</a:t>
                      </a:r>
                      <a:endParaRPr lang="es-EC" sz="100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4608" marR="64608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200000"/>
                        </a:lnSpc>
                      </a:pPr>
                      <a:r>
                        <a:rPr lang="es-EC" sz="1000">
                          <a:effectLst/>
                        </a:rPr>
                        <a:t>5.00 </a:t>
                      </a:r>
                      <a:endParaRPr lang="es-EC" sz="100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4608" marR="64608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200000"/>
                        </a:lnSpc>
                      </a:pPr>
                      <a:r>
                        <a:rPr lang="es-EC" sz="1000">
                          <a:effectLst/>
                        </a:rPr>
                        <a:t>5.00</a:t>
                      </a:r>
                      <a:endParaRPr lang="es-EC" sz="100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4608" marR="64608" marT="0" marB="0"/>
                </a:tc>
                <a:extLst>
                  <a:ext uri="{0D108BD9-81ED-4DB2-BD59-A6C34878D82A}">
                    <a16:rowId xmlns:a16="http://schemas.microsoft.com/office/drawing/2014/main" val="555107059"/>
                  </a:ext>
                </a:extLst>
              </a:tr>
              <a:tr h="505929">
                <a:tc>
                  <a:txBody>
                    <a:bodyPr/>
                    <a:lstStyle/>
                    <a:p>
                      <a:pPr algn="just">
                        <a:lnSpc>
                          <a:spcPct val="200000"/>
                        </a:lnSpc>
                      </a:pPr>
                      <a:r>
                        <a:rPr lang="es-EC" sz="1000">
                          <a:effectLst/>
                        </a:rPr>
                        <a:t>Sensor de Movimiento PIR HC-SR501</a:t>
                      </a:r>
                      <a:endParaRPr lang="es-EC" sz="100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4608" marR="64608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200000"/>
                        </a:lnSpc>
                      </a:pPr>
                      <a:r>
                        <a:rPr lang="es-EC" sz="1000">
                          <a:effectLst/>
                        </a:rPr>
                        <a:t>1</a:t>
                      </a:r>
                      <a:endParaRPr lang="es-EC" sz="100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4608" marR="64608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200000"/>
                        </a:lnSpc>
                      </a:pPr>
                      <a:r>
                        <a:rPr lang="es-EC" sz="1000">
                          <a:effectLst/>
                        </a:rPr>
                        <a:t>4.00 </a:t>
                      </a:r>
                      <a:endParaRPr lang="es-EC" sz="100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4608" marR="64608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200000"/>
                        </a:lnSpc>
                      </a:pPr>
                      <a:r>
                        <a:rPr lang="es-EC" sz="1000">
                          <a:effectLst/>
                        </a:rPr>
                        <a:t>4.00</a:t>
                      </a:r>
                      <a:endParaRPr lang="es-EC" sz="100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4608" marR="64608" marT="0" marB="0"/>
                </a:tc>
                <a:extLst>
                  <a:ext uri="{0D108BD9-81ED-4DB2-BD59-A6C34878D82A}">
                    <a16:rowId xmlns:a16="http://schemas.microsoft.com/office/drawing/2014/main" val="911392992"/>
                  </a:ext>
                </a:extLst>
              </a:tr>
              <a:tr h="505929">
                <a:tc>
                  <a:txBody>
                    <a:bodyPr/>
                    <a:lstStyle/>
                    <a:p>
                      <a:pPr algn="just">
                        <a:lnSpc>
                          <a:spcPct val="200000"/>
                        </a:lnSpc>
                      </a:pPr>
                      <a:r>
                        <a:rPr lang="pt-PT" sz="1000">
                          <a:effectLst/>
                        </a:rPr>
                        <a:t>Memoria MicroSD 128 GB Extreme Pro</a:t>
                      </a:r>
                      <a:endParaRPr lang="es-EC" sz="100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4608" marR="64608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200000"/>
                        </a:lnSpc>
                      </a:pPr>
                      <a:r>
                        <a:rPr lang="es-EC" sz="1000">
                          <a:effectLst/>
                        </a:rPr>
                        <a:t>1</a:t>
                      </a:r>
                      <a:endParaRPr lang="es-EC" sz="100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4608" marR="64608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200000"/>
                        </a:lnSpc>
                      </a:pPr>
                      <a:r>
                        <a:rPr lang="es-EC" sz="1000">
                          <a:effectLst/>
                        </a:rPr>
                        <a:t>15.00 </a:t>
                      </a:r>
                      <a:endParaRPr lang="es-EC" sz="100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4608" marR="64608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200000"/>
                        </a:lnSpc>
                      </a:pPr>
                      <a:r>
                        <a:rPr lang="es-EC" sz="1000">
                          <a:effectLst/>
                        </a:rPr>
                        <a:t>15.00</a:t>
                      </a:r>
                      <a:endParaRPr lang="es-EC" sz="100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4608" marR="64608" marT="0" marB="0"/>
                </a:tc>
                <a:extLst>
                  <a:ext uri="{0D108BD9-81ED-4DB2-BD59-A6C34878D82A}">
                    <a16:rowId xmlns:a16="http://schemas.microsoft.com/office/drawing/2014/main" val="3578094493"/>
                  </a:ext>
                </a:extLst>
              </a:tr>
              <a:tr h="262048">
                <a:tc>
                  <a:txBody>
                    <a:bodyPr/>
                    <a:lstStyle/>
                    <a:p>
                      <a:pPr algn="just">
                        <a:lnSpc>
                          <a:spcPct val="200000"/>
                        </a:lnSpc>
                      </a:pPr>
                      <a:r>
                        <a:rPr lang="es-EC" sz="1000">
                          <a:effectLst/>
                        </a:rPr>
                        <a:t>Total Hardware Lógico</a:t>
                      </a:r>
                      <a:endParaRPr lang="es-EC" sz="100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4608" marR="64608" marT="0" marB="0"/>
                </a:tc>
                <a:tc>
                  <a:txBody>
                    <a:bodyPr/>
                    <a:lstStyle/>
                    <a:p>
                      <a:endParaRPr lang="es-EC" sz="100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4608" marR="64608" marT="0" marB="0"/>
                </a:tc>
                <a:tc>
                  <a:txBody>
                    <a:bodyPr/>
                    <a:lstStyle/>
                    <a:p>
                      <a:endParaRPr lang="es-EC" sz="100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4608" marR="64608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200000"/>
                        </a:lnSpc>
                      </a:pPr>
                      <a:r>
                        <a:rPr lang="es-EC" sz="1000" dirty="0">
                          <a:effectLst/>
                        </a:rPr>
                        <a:t>$ 289.00</a:t>
                      </a:r>
                      <a:endParaRPr lang="es-EC" sz="100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4608" marR="64608" marT="0" marB="0"/>
                </a:tc>
                <a:extLst>
                  <a:ext uri="{0D108BD9-81ED-4DB2-BD59-A6C34878D82A}">
                    <a16:rowId xmlns:a16="http://schemas.microsoft.com/office/drawing/2014/main" val="300225864"/>
                  </a:ext>
                </a:extLst>
              </a:tr>
            </a:tbl>
          </a:graphicData>
        </a:graphic>
      </p:graphicFrame>
      <p:graphicFrame>
        <p:nvGraphicFramePr>
          <p:cNvPr id="10" name="Tabla 9">
            <a:extLst>
              <a:ext uri="{FF2B5EF4-FFF2-40B4-BE49-F238E27FC236}">
                <a16:creationId xmlns:a16="http://schemas.microsoft.com/office/drawing/2014/main" id="{D71028A4-5F70-4D25-80F0-2D42E2C583E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70438404"/>
              </p:ext>
            </p:extLst>
          </p:nvPr>
        </p:nvGraphicFramePr>
        <p:xfrm>
          <a:off x="5959081" y="1397550"/>
          <a:ext cx="5556740" cy="4501334"/>
        </p:xfrm>
        <a:graphic>
          <a:graphicData uri="http://schemas.openxmlformats.org/drawingml/2006/table">
            <a:tbl>
              <a:tblPr firstRow="1" firstCol="1" bandRow="1">
                <a:tableStyleId>{93296810-A885-4BE3-A3E7-6D5BEEA58F35}</a:tableStyleId>
              </a:tblPr>
              <a:tblGrid>
                <a:gridCol w="2057497">
                  <a:extLst>
                    <a:ext uri="{9D8B030D-6E8A-4147-A177-3AD203B41FA5}">
                      <a16:colId xmlns:a16="http://schemas.microsoft.com/office/drawing/2014/main" val="1946795248"/>
                    </a:ext>
                  </a:extLst>
                </a:gridCol>
                <a:gridCol w="1064528">
                  <a:extLst>
                    <a:ext uri="{9D8B030D-6E8A-4147-A177-3AD203B41FA5}">
                      <a16:colId xmlns:a16="http://schemas.microsoft.com/office/drawing/2014/main" val="684498575"/>
                    </a:ext>
                  </a:extLst>
                </a:gridCol>
                <a:gridCol w="1293077">
                  <a:extLst>
                    <a:ext uri="{9D8B030D-6E8A-4147-A177-3AD203B41FA5}">
                      <a16:colId xmlns:a16="http://schemas.microsoft.com/office/drawing/2014/main" val="3462135900"/>
                    </a:ext>
                  </a:extLst>
                </a:gridCol>
                <a:gridCol w="1141638">
                  <a:extLst>
                    <a:ext uri="{9D8B030D-6E8A-4147-A177-3AD203B41FA5}">
                      <a16:colId xmlns:a16="http://schemas.microsoft.com/office/drawing/2014/main" val="1198815163"/>
                    </a:ext>
                  </a:extLst>
                </a:gridCol>
              </a:tblGrid>
              <a:tr h="524727">
                <a:tc>
                  <a:txBody>
                    <a:bodyPr/>
                    <a:lstStyle/>
                    <a:p>
                      <a:pPr algn="just">
                        <a:lnSpc>
                          <a:spcPct val="200000"/>
                        </a:lnSpc>
                      </a:pPr>
                      <a:r>
                        <a:rPr lang="es-EC" sz="1000" dirty="0">
                          <a:effectLst/>
                        </a:rPr>
                        <a:t>Equipos / Estructura</a:t>
                      </a:r>
                      <a:endParaRPr lang="es-EC" sz="100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200000"/>
                        </a:lnSpc>
                      </a:pPr>
                      <a:r>
                        <a:rPr lang="es-EC" sz="1000">
                          <a:effectLst/>
                        </a:rPr>
                        <a:t>Cantidad</a:t>
                      </a:r>
                      <a:endParaRPr lang="es-EC" sz="100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200000"/>
                        </a:lnSpc>
                      </a:pPr>
                      <a:r>
                        <a:rPr lang="es-EC" sz="1000">
                          <a:effectLst/>
                        </a:rPr>
                        <a:t>Precio Unitario (USD)</a:t>
                      </a:r>
                      <a:endParaRPr lang="es-EC" sz="100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200000"/>
                        </a:lnSpc>
                      </a:pPr>
                      <a:r>
                        <a:rPr lang="es-EC" sz="1000">
                          <a:effectLst/>
                        </a:rPr>
                        <a:t>Subtotal (USD)</a:t>
                      </a:r>
                      <a:endParaRPr lang="es-EC" sz="100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570012198"/>
                  </a:ext>
                </a:extLst>
              </a:tr>
              <a:tr h="494672">
                <a:tc>
                  <a:txBody>
                    <a:bodyPr/>
                    <a:lstStyle/>
                    <a:p>
                      <a:pPr algn="just">
                        <a:lnSpc>
                          <a:spcPct val="200000"/>
                        </a:lnSpc>
                      </a:pPr>
                      <a:r>
                        <a:rPr lang="es-EC" sz="1000" dirty="0">
                          <a:effectLst/>
                        </a:rPr>
                        <a:t>Panel Solar Monocristalino 100W</a:t>
                      </a:r>
                      <a:endParaRPr lang="es-EC" sz="100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200000"/>
                        </a:lnSpc>
                      </a:pPr>
                      <a:r>
                        <a:rPr lang="es-EC" sz="1000" dirty="0">
                          <a:effectLst/>
                        </a:rPr>
                        <a:t>1</a:t>
                      </a:r>
                      <a:endParaRPr lang="es-EC" sz="100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200000"/>
                        </a:lnSpc>
                      </a:pPr>
                      <a:r>
                        <a:rPr lang="es-EC" sz="1000">
                          <a:effectLst/>
                        </a:rPr>
                        <a:t>95</a:t>
                      </a:r>
                      <a:endParaRPr lang="es-EC" sz="100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200000"/>
                        </a:lnSpc>
                      </a:pPr>
                      <a:r>
                        <a:rPr lang="es-EC" sz="1000">
                          <a:effectLst/>
                        </a:rPr>
                        <a:t>95</a:t>
                      </a:r>
                      <a:endParaRPr lang="es-EC" sz="100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752495739"/>
                  </a:ext>
                </a:extLst>
              </a:tr>
              <a:tr h="600168">
                <a:tc>
                  <a:txBody>
                    <a:bodyPr/>
                    <a:lstStyle/>
                    <a:p>
                      <a:pPr algn="just">
                        <a:lnSpc>
                          <a:spcPct val="200000"/>
                        </a:lnSpc>
                      </a:pPr>
                      <a:r>
                        <a:rPr lang="es-EC" sz="1000">
                          <a:effectLst/>
                        </a:rPr>
                        <a:t>Batería de Gel Ciclo Profundo 12V 50Ah</a:t>
                      </a:r>
                      <a:endParaRPr lang="es-EC" sz="100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200000"/>
                        </a:lnSpc>
                      </a:pPr>
                      <a:r>
                        <a:rPr lang="es-EC" sz="1000">
                          <a:effectLst/>
                        </a:rPr>
                        <a:t>1</a:t>
                      </a:r>
                      <a:endParaRPr lang="es-EC" sz="100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200000"/>
                        </a:lnSpc>
                      </a:pPr>
                      <a:r>
                        <a:rPr lang="es-EC" sz="1000" dirty="0">
                          <a:effectLst/>
                        </a:rPr>
                        <a:t>85</a:t>
                      </a:r>
                      <a:endParaRPr lang="es-EC" sz="100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200000"/>
                        </a:lnSpc>
                      </a:pPr>
                      <a:r>
                        <a:rPr lang="es-EC" sz="1000">
                          <a:effectLst/>
                        </a:rPr>
                        <a:t>85</a:t>
                      </a:r>
                      <a:endParaRPr lang="es-EC" sz="100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236617853"/>
                  </a:ext>
                </a:extLst>
              </a:tr>
              <a:tr h="494672">
                <a:tc>
                  <a:txBody>
                    <a:bodyPr/>
                    <a:lstStyle/>
                    <a:p>
                      <a:pPr algn="just">
                        <a:lnSpc>
                          <a:spcPct val="200000"/>
                        </a:lnSpc>
                      </a:pPr>
                      <a:r>
                        <a:rPr lang="es-EC" sz="1000">
                          <a:effectLst/>
                        </a:rPr>
                        <a:t>Controlador de Carga Solar PWM</a:t>
                      </a:r>
                      <a:endParaRPr lang="es-EC" sz="100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200000"/>
                        </a:lnSpc>
                      </a:pPr>
                      <a:r>
                        <a:rPr lang="es-EC" sz="1000">
                          <a:effectLst/>
                        </a:rPr>
                        <a:t>1</a:t>
                      </a:r>
                      <a:endParaRPr lang="es-EC" sz="100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200000"/>
                        </a:lnSpc>
                      </a:pPr>
                      <a:r>
                        <a:rPr lang="es-EC" sz="1000" dirty="0">
                          <a:effectLst/>
                        </a:rPr>
                        <a:t>20</a:t>
                      </a:r>
                      <a:endParaRPr lang="es-EC" sz="100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200000"/>
                        </a:lnSpc>
                      </a:pPr>
                      <a:r>
                        <a:rPr lang="es-EC" sz="1000">
                          <a:effectLst/>
                        </a:rPr>
                        <a:t>20</a:t>
                      </a:r>
                      <a:endParaRPr lang="es-EC" sz="100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667441177"/>
                  </a:ext>
                </a:extLst>
              </a:tr>
              <a:tr h="494672">
                <a:tc>
                  <a:txBody>
                    <a:bodyPr/>
                    <a:lstStyle/>
                    <a:p>
                      <a:pPr algn="just">
                        <a:lnSpc>
                          <a:spcPct val="200000"/>
                        </a:lnSpc>
                      </a:pPr>
                      <a:r>
                        <a:rPr lang="es-EC" sz="1000">
                          <a:effectLst/>
                        </a:rPr>
                        <a:t>Reflector LED 12V 20W (Exterior)</a:t>
                      </a:r>
                      <a:endParaRPr lang="es-EC" sz="100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200000"/>
                        </a:lnSpc>
                      </a:pPr>
                      <a:r>
                        <a:rPr lang="es-EC" sz="1000">
                          <a:effectLst/>
                        </a:rPr>
                        <a:t>1</a:t>
                      </a:r>
                      <a:endParaRPr lang="es-EC" sz="100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200000"/>
                        </a:lnSpc>
                      </a:pPr>
                      <a:r>
                        <a:rPr lang="es-EC" sz="1000" dirty="0">
                          <a:effectLst/>
                        </a:rPr>
                        <a:t>15</a:t>
                      </a:r>
                      <a:endParaRPr lang="es-EC" sz="100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200000"/>
                        </a:lnSpc>
                      </a:pPr>
                      <a:r>
                        <a:rPr lang="es-EC" sz="1000">
                          <a:effectLst/>
                        </a:rPr>
                        <a:t>15</a:t>
                      </a:r>
                      <a:endParaRPr lang="es-EC" sz="100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417843167"/>
                  </a:ext>
                </a:extLst>
              </a:tr>
              <a:tr h="524727">
                <a:tc>
                  <a:txBody>
                    <a:bodyPr/>
                    <a:lstStyle/>
                    <a:p>
                      <a:pPr algn="just">
                        <a:lnSpc>
                          <a:spcPct val="200000"/>
                        </a:lnSpc>
                      </a:pPr>
                      <a:r>
                        <a:rPr lang="es-EC" sz="1000">
                          <a:effectLst/>
                        </a:rPr>
                        <a:t>Gabinete IP65 estanco transparente</a:t>
                      </a:r>
                      <a:endParaRPr lang="es-EC" sz="100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200000"/>
                        </a:lnSpc>
                      </a:pPr>
                      <a:r>
                        <a:rPr lang="es-EC" sz="1000">
                          <a:effectLst/>
                        </a:rPr>
                        <a:t>1</a:t>
                      </a:r>
                      <a:endParaRPr lang="es-EC" sz="100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200000"/>
                        </a:lnSpc>
                      </a:pPr>
                      <a:r>
                        <a:rPr lang="es-EC" sz="1000" dirty="0">
                          <a:effectLst/>
                        </a:rPr>
                        <a:t>18</a:t>
                      </a:r>
                      <a:endParaRPr lang="es-EC" sz="100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200000"/>
                        </a:lnSpc>
                      </a:pPr>
                      <a:r>
                        <a:rPr lang="es-EC" sz="1000">
                          <a:effectLst/>
                        </a:rPr>
                        <a:t>18</a:t>
                      </a:r>
                      <a:endParaRPr lang="es-EC" sz="100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030076261"/>
                  </a:ext>
                </a:extLst>
              </a:tr>
              <a:tr h="524727">
                <a:tc>
                  <a:txBody>
                    <a:bodyPr/>
                    <a:lstStyle/>
                    <a:p>
                      <a:pPr algn="just">
                        <a:lnSpc>
                          <a:spcPct val="200000"/>
                        </a:lnSpc>
                      </a:pPr>
                      <a:r>
                        <a:rPr lang="es-EC" sz="1000">
                          <a:effectLst/>
                        </a:rPr>
                        <a:t>Estructura metálica (Poste y anclajes)</a:t>
                      </a:r>
                      <a:endParaRPr lang="es-EC" sz="100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200000"/>
                        </a:lnSpc>
                      </a:pPr>
                      <a:r>
                        <a:rPr lang="es-EC" sz="1000">
                          <a:effectLst/>
                        </a:rPr>
                        <a:t>1</a:t>
                      </a:r>
                      <a:endParaRPr lang="es-EC" sz="100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200000"/>
                        </a:lnSpc>
                      </a:pPr>
                      <a:r>
                        <a:rPr lang="es-EC" sz="1000" dirty="0">
                          <a:effectLst/>
                        </a:rPr>
                        <a:t>60</a:t>
                      </a:r>
                      <a:endParaRPr lang="es-EC" sz="100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200000"/>
                        </a:lnSpc>
                      </a:pPr>
                      <a:r>
                        <a:rPr lang="es-EC" sz="1000">
                          <a:effectLst/>
                        </a:rPr>
                        <a:t>60</a:t>
                      </a:r>
                      <a:endParaRPr lang="es-EC" sz="100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461160497"/>
                  </a:ext>
                </a:extLst>
              </a:tr>
              <a:tr h="524727">
                <a:tc>
                  <a:txBody>
                    <a:bodyPr/>
                    <a:lstStyle/>
                    <a:p>
                      <a:pPr algn="just">
                        <a:lnSpc>
                          <a:spcPct val="200000"/>
                        </a:lnSpc>
                      </a:pPr>
                      <a:r>
                        <a:rPr lang="es-EC" sz="1000">
                          <a:effectLst/>
                        </a:rPr>
                        <a:t>Cableado, conectores y misceláneos</a:t>
                      </a:r>
                      <a:endParaRPr lang="es-EC" sz="100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200000"/>
                        </a:lnSpc>
                      </a:pPr>
                      <a:r>
                        <a:rPr lang="es-EC" sz="1000">
                          <a:effectLst/>
                        </a:rPr>
                        <a:t>1</a:t>
                      </a:r>
                      <a:endParaRPr lang="es-EC" sz="100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200000"/>
                        </a:lnSpc>
                      </a:pPr>
                      <a:r>
                        <a:rPr lang="es-EC" sz="1000">
                          <a:effectLst/>
                        </a:rPr>
                        <a:t>25</a:t>
                      </a:r>
                      <a:endParaRPr lang="es-EC" sz="100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200000"/>
                        </a:lnSpc>
                      </a:pPr>
                      <a:r>
                        <a:rPr lang="es-EC" sz="1000" dirty="0">
                          <a:effectLst/>
                        </a:rPr>
                        <a:t>25</a:t>
                      </a:r>
                      <a:endParaRPr lang="es-EC" sz="100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713837291"/>
                  </a:ext>
                </a:extLst>
              </a:tr>
              <a:tr h="277057">
                <a:tc>
                  <a:txBody>
                    <a:bodyPr/>
                    <a:lstStyle/>
                    <a:p>
                      <a:pPr algn="just">
                        <a:lnSpc>
                          <a:spcPct val="200000"/>
                        </a:lnSpc>
                      </a:pPr>
                      <a:r>
                        <a:rPr lang="es-EC" sz="1000">
                          <a:effectLst/>
                        </a:rPr>
                        <a:t>Total Infraestructura</a:t>
                      </a:r>
                      <a:endParaRPr lang="es-EC" sz="100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endParaRPr lang="es-EC" sz="100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endParaRPr lang="es-EC" sz="100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200000"/>
                        </a:lnSpc>
                      </a:pPr>
                      <a:r>
                        <a:rPr lang="es-EC" sz="1000" dirty="0">
                          <a:effectLst/>
                        </a:rPr>
                        <a:t>$ 318.00</a:t>
                      </a:r>
                      <a:endParaRPr lang="es-EC" sz="100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831389575"/>
                  </a:ext>
                </a:extLst>
              </a:tr>
            </a:tbl>
          </a:graphicData>
        </a:graphic>
      </p:graphicFrame>
      <p:sp>
        <p:nvSpPr>
          <p:cNvPr id="13" name="CuadroTexto 12">
            <a:extLst>
              <a:ext uri="{FF2B5EF4-FFF2-40B4-BE49-F238E27FC236}">
                <a16:creationId xmlns:a16="http://schemas.microsoft.com/office/drawing/2014/main" id="{C23FF54A-CBBF-4F6A-9813-5A35BC121D13}"/>
              </a:ext>
            </a:extLst>
          </p:cNvPr>
          <p:cNvSpPr txBox="1"/>
          <p:nvPr/>
        </p:nvSpPr>
        <p:spPr>
          <a:xfrm>
            <a:off x="7178282" y="1001662"/>
            <a:ext cx="428185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s-ES" sz="1800" b="1" dirty="0">
                <a:effectLst/>
                <a:latin typeface="+mj-lt"/>
                <a:ea typeface="Times New Roman" panose="02020603050405020304" pitchFamily="18" charset="0"/>
              </a:rPr>
              <a:t>Costo de Infraestructura y Energía</a:t>
            </a:r>
            <a:endParaRPr lang="en-US" sz="1800" b="1" dirty="0">
              <a:latin typeface="+mj-lt"/>
            </a:endParaRP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17BB65DE-45E5-4420-88AA-70B6D9D0F970}"/>
              </a:ext>
            </a:extLst>
          </p:cNvPr>
          <p:cNvSpPr txBox="1"/>
          <p:nvPr/>
        </p:nvSpPr>
        <p:spPr>
          <a:xfrm>
            <a:off x="1038320" y="1028218"/>
            <a:ext cx="63246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800" b="1" dirty="0">
                <a:effectLst/>
                <a:latin typeface="+mj-lt"/>
                <a:ea typeface="Times New Roman" panose="02020603050405020304" pitchFamily="18" charset="0"/>
              </a:rPr>
              <a:t>Costos de Hardware y Procesamiento</a:t>
            </a:r>
            <a:endParaRPr lang="es-EC" b="1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50777103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004E8E-C094-F9BA-5110-02BE78C093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lecha: pentágono 11">
            <a:extLst>
              <a:ext uri="{FF2B5EF4-FFF2-40B4-BE49-F238E27FC236}">
                <a16:creationId xmlns:a16="http://schemas.microsoft.com/office/drawing/2014/main" id="{95E77573-D29F-5561-DD03-8B53BA6892B9}"/>
              </a:ext>
            </a:extLst>
          </p:cNvPr>
          <p:cNvSpPr/>
          <p:nvPr/>
        </p:nvSpPr>
        <p:spPr>
          <a:xfrm>
            <a:off x="283348" y="104071"/>
            <a:ext cx="8274498" cy="924147"/>
          </a:xfrm>
          <a:prstGeom prst="homePlate">
            <a:avLst/>
          </a:prstGeom>
          <a:solidFill>
            <a:srgbClr val="C00000"/>
          </a:solidFill>
          <a:ln/>
          <a:scene3d>
            <a:camera prst="orthographicFront"/>
            <a:lightRig rig="threePt" dir="t"/>
          </a:scene3d>
          <a:sp3d>
            <a:bevelT w="165100" prst="coolSlant"/>
          </a:sp3d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>
              <a:buNone/>
            </a:pPr>
            <a:r>
              <a:rPr lang="es-EC" sz="3600" b="1" dirty="0">
                <a:solidFill>
                  <a:schemeClr val="bg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Viabilidad económica del prototipo</a:t>
            </a:r>
            <a:endParaRPr lang="es-EC" sz="3600" dirty="0">
              <a:solidFill>
                <a:schemeClr val="bg1"/>
              </a:solidFill>
            </a:endParaRP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FDAC0D0F-6BDD-BD9E-D98F-399A88861962}"/>
              </a:ext>
            </a:extLst>
          </p:cNvPr>
          <p:cNvSpPr/>
          <p:nvPr/>
        </p:nvSpPr>
        <p:spPr>
          <a:xfrm>
            <a:off x="4906713" y="6192379"/>
            <a:ext cx="7285288" cy="665621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US" noProof="0" dirty="0"/>
          </a:p>
        </p:txBody>
      </p:sp>
      <p:sp>
        <p:nvSpPr>
          <p:cNvPr id="11" name="Recortar rectángulo de una esquina 9">
            <a:extLst>
              <a:ext uri="{FF2B5EF4-FFF2-40B4-BE49-F238E27FC236}">
                <a16:creationId xmlns:a16="http://schemas.microsoft.com/office/drawing/2014/main" id="{39BF9D91-2AFF-ECE1-221C-1A540035B2EA}"/>
              </a:ext>
            </a:extLst>
          </p:cNvPr>
          <p:cNvSpPr/>
          <p:nvPr/>
        </p:nvSpPr>
        <p:spPr>
          <a:xfrm>
            <a:off x="-9938" y="6042411"/>
            <a:ext cx="5536096" cy="825528"/>
          </a:xfrm>
          <a:prstGeom prst="snip1Rect">
            <a:avLst>
              <a:gd name="adj" fmla="val 50000"/>
            </a:avLst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US" noProof="0" dirty="0"/>
          </a:p>
        </p:txBody>
      </p:sp>
      <p:pic>
        <p:nvPicPr>
          <p:cNvPr id="14" name="Imagen 13">
            <a:extLst>
              <a:ext uri="{FF2B5EF4-FFF2-40B4-BE49-F238E27FC236}">
                <a16:creationId xmlns:a16="http://schemas.microsoft.com/office/drawing/2014/main" id="{FD6B625B-7086-CCC5-360C-7C3B9A5A3C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0767" y="6168657"/>
            <a:ext cx="2395241" cy="699282"/>
          </a:xfrm>
          <a:prstGeom prst="rect">
            <a:avLst/>
          </a:prstGeom>
        </p:spPr>
      </p:pic>
      <p:pic>
        <p:nvPicPr>
          <p:cNvPr id="15" name="Imagen 14">
            <a:extLst>
              <a:ext uri="{FF2B5EF4-FFF2-40B4-BE49-F238E27FC236}">
                <a16:creationId xmlns:a16="http://schemas.microsoft.com/office/drawing/2014/main" id="{8B729AA4-776A-3181-8DDB-791A27DA3E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61751" y="5963285"/>
            <a:ext cx="3962401" cy="1024115"/>
          </a:xfrm>
          <a:prstGeom prst="rect">
            <a:avLst/>
          </a:prstGeom>
        </p:spPr>
      </p:pic>
      <p:sp>
        <p:nvSpPr>
          <p:cNvPr id="17" name="Shape 3">
            <a:extLst>
              <a:ext uri="{FF2B5EF4-FFF2-40B4-BE49-F238E27FC236}">
                <a16:creationId xmlns:a16="http://schemas.microsoft.com/office/drawing/2014/main" id="{7B342AB8-76B3-49E7-9002-BCB457047FA0}"/>
              </a:ext>
            </a:extLst>
          </p:cNvPr>
          <p:cNvSpPr/>
          <p:nvPr/>
        </p:nvSpPr>
        <p:spPr>
          <a:xfrm>
            <a:off x="451238" y="1255471"/>
            <a:ext cx="4709160" cy="4480560"/>
          </a:xfrm>
          <a:prstGeom prst="roundRect">
            <a:avLst>
              <a:gd name="adj" fmla="val 1633"/>
            </a:avLst>
          </a:prstGeom>
          <a:solidFill>
            <a:srgbClr val="FFFFFF"/>
          </a:solidFill>
          <a:ln w="12700">
            <a:solidFill>
              <a:srgbClr val="E3EAE5"/>
            </a:solidFill>
            <a:prstDash val="solid"/>
          </a:ln>
        </p:spPr>
      </p:sp>
      <p:sp>
        <p:nvSpPr>
          <p:cNvPr id="18" name="Text 4">
            <a:extLst>
              <a:ext uri="{FF2B5EF4-FFF2-40B4-BE49-F238E27FC236}">
                <a16:creationId xmlns:a16="http://schemas.microsoft.com/office/drawing/2014/main" id="{26A3EBBD-BD5F-4513-BBB8-EFDD98A9B0A2}"/>
              </a:ext>
            </a:extLst>
          </p:cNvPr>
          <p:cNvSpPr/>
          <p:nvPr/>
        </p:nvSpPr>
        <p:spPr>
          <a:xfrm>
            <a:off x="771278" y="1557223"/>
            <a:ext cx="4069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rgbClr val="5F8F3D"/>
                </a:solidFill>
              </a:rPr>
              <a:t>INVERSIÓN DEL SISTEMA</a:t>
            </a:r>
            <a:endParaRPr lang="en-US" sz="1000" dirty="0"/>
          </a:p>
        </p:txBody>
      </p:sp>
      <p:sp>
        <p:nvSpPr>
          <p:cNvPr id="19" name="Text 5">
            <a:extLst>
              <a:ext uri="{FF2B5EF4-FFF2-40B4-BE49-F238E27FC236}">
                <a16:creationId xmlns:a16="http://schemas.microsoft.com/office/drawing/2014/main" id="{351B010E-007B-437B-937A-FB1537AA07E8}"/>
              </a:ext>
            </a:extLst>
          </p:cNvPr>
          <p:cNvSpPr/>
          <p:nvPr/>
        </p:nvSpPr>
        <p:spPr>
          <a:xfrm>
            <a:off x="835286" y="2197303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4221B"/>
                </a:solidFill>
              </a:rPr>
              <a:t>Hardware lógico</a:t>
            </a:r>
            <a:endParaRPr lang="en-US" sz="1100" dirty="0"/>
          </a:p>
        </p:txBody>
      </p:sp>
      <p:sp>
        <p:nvSpPr>
          <p:cNvPr id="20" name="Shape 6">
            <a:extLst>
              <a:ext uri="{FF2B5EF4-FFF2-40B4-BE49-F238E27FC236}">
                <a16:creationId xmlns:a16="http://schemas.microsoft.com/office/drawing/2014/main" id="{79A183C5-39BC-48D2-9E52-E8DB455F142B}"/>
              </a:ext>
            </a:extLst>
          </p:cNvPr>
          <p:cNvSpPr/>
          <p:nvPr/>
        </p:nvSpPr>
        <p:spPr>
          <a:xfrm>
            <a:off x="835286" y="2581351"/>
            <a:ext cx="3611880" cy="347472"/>
          </a:xfrm>
          <a:prstGeom prst="roundRect">
            <a:avLst>
              <a:gd name="adj" fmla="val 10526"/>
            </a:avLst>
          </a:prstGeom>
          <a:solidFill>
            <a:srgbClr val="E9EFEA"/>
          </a:solidFill>
          <a:ln w="12700">
            <a:solidFill>
              <a:srgbClr val="E9EFEA"/>
            </a:solidFill>
            <a:prstDash val="solid"/>
          </a:ln>
        </p:spPr>
      </p:sp>
      <p:sp>
        <p:nvSpPr>
          <p:cNvPr id="21" name="Shape 7">
            <a:extLst>
              <a:ext uri="{FF2B5EF4-FFF2-40B4-BE49-F238E27FC236}">
                <a16:creationId xmlns:a16="http://schemas.microsoft.com/office/drawing/2014/main" id="{F9108CEF-BFCE-4864-9587-A9019310129A}"/>
              </a:ext>
            </a:extLst>
          </p:cNvPr>
          <p:cNvSpPr/>
          <p:nvPr/>
        </p:nvSpPr>
        <p:spPr>
          <a:xfrm>
            <a:off x="835286" y="2581351"/>
            <a:ext cx="3282495" cy="347472"/>
          </a:xfrm>
          <a:prstGeom prst="roundRect">
            <a:avLst>
              <a:gd name="adj" fmla="val 10526"/>
            </a:avLst>
          </a:prstGeom>
          <a:solidFill>
            <a:srgbClr val="1C7070"/>
          </a:solidFill>
          <a:ln w="12700">
            <a:solidFill>
              <a:srgbClr val="1C7070"/>
            </a:solidFill>
            <a:prstDash val="solid"/>
          </a:ln>
        </p:spPr>
      </p:sp>
      <p:sp>
        <p:nvSpPr>
          <p:cNvPr id="22" name="Text 8">
            <a:extLst>
              <a:ext uri="{FF2B5EF4-FFF2-40B4-BE49-F238E27FC236}">
                <a16:creationId xmlns:a16="http://schemas.microsoft.com/office/drawing/2014/main" id="{99A7F619-12DC-48A7-A1FF-1FB514DAD9FD}"/>
              </a:ext>
            </a:extLst>
          </p:cNvPr>
          <p:cNvSpPr/>
          <p:nvPr/>
        </p:nvSpPr>
        <p:spPr>
          <a:xfrm>
            <a:off x="3669926" y="2617927"/>
            <a:ext cx="68580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0E2E22"/>
                </a:solidFill>
              </a:rPr>
              <a:t>$ 289</a:t>
            </a:r>
            <a:endParaRPr lang="en-US" sz="1100" dirty="0"/>
          </a:p>
        </p:txBody>
      </p:sp>
      <p:sp>
        <p:nvSpPr>
          <p:cNvPr id="23" name="Text 9">
            <a:extLst>
              <a:ext uri="{FF2B5EF4-FFF2-40B4-BE49-F238E27FC236}">
                <a16:creationId xmlns:a16="http://schemas.microsoft.com/office/drawing/2014/main" id="{2C3857F5-CFEA-48BD-A307-9AA57BA26AC1}"/>
              </a:ext>
            </a:extLst>
          </p:cNvPr>
          <p:cNvSpPr/>
          <p:nvPr/>
        </p:nvSpPr>
        <p:spPr>
          <a:xfrm>
            <a:off x="835286" y="3203143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4221B"/>
                </a:solidFill>
              </a:rPr>
              <a:t>Infraestructura + energía</a:t>
            </a:r>
            <a:endParaRPr lang="en-US" sz="1100" dirty="0"/>
          </a:p>
        </p:txBody>
      </p:sp>
      <p:sp>
        <p:nvSpPr>
          <p:cNvPr id="24" name="Shape 10">
            <a:extLst>
              <a:ext uri="{FF2B5EF4-FFF2-40B4-BE49-F238E27FC236}">
                <a16:creationId xmlns:a16="http://schemas.microsoft.com/office/drawing/2014/main" id="{C768FB03-BB08-4B04-B596-6FADA12F0A6E}"/>
              </a:ext>
            </a:extLst>
          </p:cNvPr>
          <p:cNvSpPr/>
          <p:nvPr/>
        </p:nvSpPr>
        <p:spPr>
          <a:xfrm>
            <a:off x="835286" y="3587191"/>
            <a:ext cx="3611880" cy="347472"/>
          </a:xfrm>
          <a:prstGeom prst="roundRect">
            <a:avLst>
              <a:gd name="adj" fmla="val 10526"/>
            </a:avLst>
          </a:prstGeom>
          <a:solidFill>
            <a:srgbClr val="E9EFEA"/>
          </a:solidFill>
          <a:ln w="12700">
            <a:solidFill>
              <a:srgbClr val="E9EFEA"/>
            </a:solidFill>
            <a:prstDash val="solid"/>
          </a:ln>
        </p:spPr>
      </p:sp>
      <p:sp>
        <p:nvSpPr>
          <p:cNvPr id="25" name="Shape 11">
            <a:extLst>
              <a:ext uri="{FF2B5EF4-FFF2-40B4-BE49-F238E27FC236}">
                <a16:creationId xmlns:a16="http://schemas.microsoft.com/office/drawing/2014/main" id="{99745A3E-F355-4F35-B600-DAB1FFEB9BC5}"/>
              </a:ext>
            </a:extLst>
          </p:cNvPr>
          <p:cNvSpPr/>
          <p:nvPr/>
        </p:nvSpPr>
        <p:spPr>
          <a:xfrm>
            <a:off x="835286" y="3587191"/>
            <a:ext cx="3611880" cy="347472"/>
          </a:xfrm>
          <a:prstGeom prst="roundRect">
            <a:avLst>
              <a:gd name="adj" fmla="val 10526"/>
            </a:avLst>
          </a:prstGeom>
          <a:solidFill>
            <a:srgbClr val="5F8F3D"/>
          </a:solidFill>
          <a:ln w="12700">
            <a:solidFill>
              <a:srgbClr val="5F8F3D"/>
            </a:solidFill>
            <a:prstDash val="solid"/>
          </a:ln>
        </p:spPr>
      </p:sp>
      <p:sp>
        <p:nvSpPr>
          <p:cNvPr id="26" name="Text 12">
            <a:extLst>
              <a:ext uri="{FF2B5EF4-FFF2-40B4-BE49-F238E27FC236}">
                <a16:creationId xmlns:a16="http://schemas.microsoft.com/office/drawing/2014/main" id="{B3BEAE06-234E-4941-B4D0-E29EB3D67939}"/>
              </a:ext>
            </a:extLst>
          </p:cNvPr>
          <p:cNvSpPr/>
          <p:nvPr/>
        </p:nvSpPr>
        <p:spPr>
          <a:xfrm>
            <a:off x="3669926" y="3623767"/>
            <a:ext cx="68580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0E2E22"/>
                </a:solidFill>
              </a:rPr>
              <a:t>$ 318</a:t>
            </a:r>
            <a:endParaRPr lang="en-US" sz="1100" dirty="0"/>
          </a:p>
        </p:txBody>
      </p:sp>
      <p:sp>
        <p:nvSpPr>
          <p:cNvPr id="27" name="Shape 13">
            <a:extLst>
              <a:ext uri="{FF2B5EF4-FFF2-40B4-BE49-F238E27FC236}">
                <a16:creationId xmlns:a16="http://schemas.microsoft.com/office/drawing/2014/main" id="{DC232DF8-BF00-4F31-AC23-8B91CF4CFB8C}"/>
              </a:ext>
            </a:extLst>
          </p:cNvPr>
          <p:cNvSpPr/>
          <p:nvPr/>
        </p:nvSpPr>
        <p:spPr>
          <a:xfrm>
            <a:off x="816998" y="4382719"/>
            <a:ext cx="3840480" cy="0"/>
          </a:xfrm>
          <a:prstGeom prst="line">
            <a:avLst/>
          </a:prstGeom>
          <a:noFill/>
          <a:ln w="12700">
            <a:solidFill>
              <a:srgbClr val="C9D4CC"/>
            </a:solidFill>
            <a:prstDash val="solid"/>
          </a:ln>
        </p:spPr>
      </p:sp>
      <p:sp>
        <p:nvSpPr>
          <p:cNvPr id="28" name="Text 14">
            <a:extLst>
              <a:ext uri="{FF2B5EF4-FFF2-40B4-BE49-F238E27FC236}">
                <a16:creationId xmlns:a16="http://schemas.microsoft.com/office/drawing/2014/main" id="{372C425E-50E9-49E8-AD7E-9974F841F3D3}"/>
              </a:ext>
            </a:extLst>
          </p:cNvPr>
          <p:cNvSpPr/>
          <p:nvPr/>
        </p:nvSpPr>
        <p:spPr>
          <a:xfrm>
            <a:off x="862718" y="4647895"/>
            <a:ext cx="2240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E2E2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$ 607</a:t>
            </a:r>
            <a:endParaRPr lang="en-US" sz="3400" dirty="0"/>
          </a:p>
        </p:txBody>
      </p:sp>
      <p:sp>
        <p:nvSpPr>
          <p:cNvPr id="29" name="Text 15">
            <a:extLst>
              <a:ext uri="{FF2B5EF4-FFF2-40B4-BE49-F238E27FC236}">
                <a16:creationId xmlns:a16="http://schemas.microsoft.com/office/drawing/2014/main" id="{7002F014-6905-40D4-AB03-8E6D54BCDABA}"/>
              </a:ext>
            </a:extLst>
          </p:cNvPr>
          <p:cNvSpPr/>
          <p:nvPr/>
        </p:nvSpPr>
        <p:spPr>
          <a:xfrm>
            <a:off x="2782958" y="4849063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17067"/>
                </a:solidFill>
              </a:rPr>
              <a:t>inversión total</a:t>
            </a:r>
            <a:endParaRPr lang="en-US" sz="1200" dirty="0"/>
          </a:p>
        </p:txBody>
      </p:sp>
      <p:sp>
        <p:nvSpPr>
          <p:cNvPr id="30" name="Text 16">
            <a:extLst>
              <a:ext uri="{FF2B5EF4-FFF2-40B4-BE49-F238E27FC236}">
                <a16:creationId xmlns:a16="http://schemas.microsoft.com/office/drawing/2014/main" id="{4717D017-A544-4AC9-8AFD-3B1C7C67A686}"/>
              </a:ext>
            </a:extLst>
          </p:cNvPr>
          <p:cNvSpPr/>
          <p:nvPr/>
        </p:nvSpPr>
        <p:spPr>
          <a:xfrm>
            <a:off x="862718" y="5351983"/>
            <a:ext cx="3886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17067"/>
                </a:solidFill>
              </a:rPr>
              <a:t>Software e ingeniería: $0 en licencias, según el documento.</a:t>
            </a:r>
            <a:endParaRPr lang="en-US" sz="950" dirty="0"/>
          </a:p>
        </p:txBody>
      </p:sp>
      <p:sp>
        <p:nvSpPr>
          <p:cNvPr id="31" name="Shape 17">
            <a:extLst>
              <a:ext uri="{FF2B5EF4-FFF2-40B4-BE49-F238E27FC236}">
                <a16:creationId xmlns:a16="http://schemas.microsoft.com/office/drawing/2014/main" id="{B0D41A4B-2818-4848-B245-933E5C399067}"/>
              </a:ext>
            </a:extLst>
          </p:cNvPr>
          <p:cNvSpPr/>
          <p:nvPr/>
        </p:nvSpPr>
        <p:spPr>
          <a:xfrm>
            <a:off x="5526158" y="1255471"/>
            <a:ext cx="5989320" cy="1280160"/>
          </a:xfrm>
          <a:prstGeom prst="roundRect">
            <a:avLst>
              <a:gd name="adj" fmla="val 5714"/>
            </a:avLst>
          </a:prstGeom>
          <a:solidFill>
            <a:srgbClr val="0E2E22"/>
          </a:solidFill>
          <a:ln w="12700">
            <a:solidFill>
              <a:srgbClr val="0E2E22"/>
            </a:solidFill>
            <a:prstDash val="solid"/>
          </a:ln>
        </p:spPr>
      </p:sp>
      <p:sp>
        <p:nvSpPr>
          <p:cNvPr id="32" name="Text 18">
            <a:extLst>
              <a:ext uri="{FF2B5EF4-FFF2-40B4-BE49-F238E27FC236}">
                <a16:creationId xmlns:a16="http://schemas.microsoft.com/office/drawing/2014/main" id="{932D3AA4-F2C0-4699-B791-055BBC8531F5}"/>
              </a:ext>
            </a:extLst>
          </p:cNvPr>
          <p:cNvSpPr/>
          <p:nvPr/>
        </p:nvSpPr>
        <p:spPr>
          <a:xfrm>
            <a:off x="5891918" y="1538935"/>
            <a:ext cx="2148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$ 146 / año</a:t>
            </a:r>
            <a:endParaRPr lang="en-US" sz="2800" dirty="0"/>
          </a:p>
        </p:txBody>
      </p:sp>
      <p:sp>
        <p:nvSpPr>
          <p:cNvPr id="33" name="Text 19">
            <a:extLst>
              <a:ext uri="{FF2B5EF4-FFF2-40B4-BE49-F238E27FC236}">
                <a16:creationId xmlns:a16="http://schemas.microsoft.com/office/drawing/2014/main" id="{BCEBB308-81B7-4085-847C-CD4B616E5714}"/>
              </a:ext>
            </a:extLst>
          </p:cNvPr>
          <p:cNvSpPr/>
          <p:nvPr/>
        </p:nvSpPr>
        <p:spPr>
          <a:xfrm>
            <a:off x="8315078" y="1538935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300" b="1" dirty="0" err="1">
                <a:solidFill>
                  <a:srgbClr val="FFFFFF"/>
                </a:solidFill>
              </a:rPr>
              <a:t>Costo</a:t>
            </a:r>
            <a:r>
              <a:rPr lang="en-US" sz="1300" b="1" dirty="0">
                <a:solidFill>
                  <a:srgbClr val="FFFFFF"/>
                </a:solidFill>
              </a:rPr>
              <a:t> de </a:t>
            </a:r>
            <a:r>
              <a:rPr lang="en-US" sz="1300" b="1" dirty="0" err="1">
                <a:solidFill>
                  <a:srgbClr val="FFFFFF"/>
                </a:solidFill>
              </a:rPr>
              <a:t>mantenimiento</a:t>
            </a:r>
            <a:endParaRPr lang="en-US" sz="1300" dirty="0"/>
          </a:p>
          <a:p>
            <a:pPr marL="0" indent="0" algn="r">
              <a:buNone/>
            </a:pPr>
            <a:r>
              <a:rPr lang="en-US" sz="1300" b="1" dirty="0">
                <a:solidFill>
                  <a:srgbClr val="FFFFFF"/>
                </a:solidFill>
              </a:rPr>
              <a:t>LTE + servicios IA</a:t>
            </a:r>
            <a:endParaRPr lang="en-US" sz="1300" dirty="0"/>
          </a:p>
        </p:txBody>
      </p:sp>
      <p:sp>
        <p:nvSpPr>
          <p:cNvPr id="34" name="Text 20">
            <a:extLst>
              <a:ext uri="{FF2B5EF4-FFF2-40B4-BE49-F238E27FC236}">
                <a16:creationId xmlns:a16="http://schemas.microsoft.com/office/drawing/2014/main" id="{8FFD5E13-5FAC-4300-9075-ABBCAC87BE57}"/>
              </a:ext>
            </a:extLst>
          </p:cNvPr>
          <p:cNvSpPr/>
          <p:nvPr/>
        </p:nvSpPr>
        <p:spPr>
          <a:xfrm>
            <a:off x="5599310" y="2974543"/>
            <a:ext cx="5440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5F8F3D"/>
                </a:solidFill>
              </a:rPr>
              <a:t>Componentes críticos</a:t>
            </a:r>
            <a:endParaRPr lang="en-US" sz="1000" dirty="0"/>
          </a:p>
        </p:txBody>
      </p:sp>
      <p:sp>
        <p:nvSpPr>
          <p:cNvPr id="35" name="Text 21">
            <a:extLst>
              <a:ext uri="{FF2B5EF4-FFF2-40B4-BE49-F238E27FC236}">
                <a16:creationId xmlns:a16="http://schemas.microsoft.com/office/drawing/2014/main" id="{BCFB7415-6C9F-4934-9E43-641F03212FCE}"/>
              </a:ext>
            </a:extLst>
          </p:cNvPr>
          <p:cNvSpPr/>
          <p:nvPr/>
        </p:nvSpPr>
        <p:spPr>
          <a:xfrm>
            <a:off x="5617598" y="3386023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4221B"/>
                </a:solidFill>
              </a:rPr>
              <a:t>Raspberry Pi 5 (8 GB)</a:t>
            </a:r>
            <a:endParaRPr lang="en-US" sz="1050" dirty="0"/>
          </a:p>
        </p:txBody>
      </p:sp>
      <p:sp>
        <p:nvSpPr>
          <p:cNvPr id="36" name="Text 22">
            <a:extLst>
              <a:ext uri="{FF2B5EF4-FFF2-40B4-BE49-F238E27FC236}">
                <a16:creationId xmlns:a16="http://schemas.microsoft.com/office/drawing/2014/main" id="{17A30F04-BA39-409A-B8FF-FAECD624F756}"/>
              </a:ext>
            </a:extLst>
          </p:cNvPr>
          <p:cNvSpPr/>
          <p:nvPr/>
        </p:nvSpPr>
        <p:spPr>
          <a:xfrm>
            <a:off x="10281038" y="3386023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0E2E22"/>
                </a:solidFill>
              </a:rPr>
              <a:t>$120</a:t>
            </a:r>
            <a:endParaRPr lang="en-US" sz="1050" dirty="0"/>
          </a:p>
        </p:txBody>
      </p:sp>
      <p:sp>
        <p:nvSpPr>
          <p:cNvPr id="37" name="Text 23">
            <a:extLst>
              <a:ext uri="{FF2B5EF4-FFF2-40B4-BE49-F238E27FC236}">
                <a16:creationId xmlns:a16="http://schemas.microsoft.com/office/drawing/2014/main" id="{CD868818-3AD2-4C8F-BCFA-7CB4EC26D31A}"/>
              </a:ext>
            </a:extLst>
          </p:cNvPr>
          <p:cNvSpPr/>
          <p:nvPr/>
        </p:nvSpPr>
        <p:spPr>
          <a:xfrm>
            <a:off x="5617598" y="3834079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4221B"/>
                </a:solidFill>
              </a:rPr>
              <a:t>Arducam IMX477 12MP</a:t>
            </a:r>
            <a:endParaRPr lang="en-US" sz="1050" dirty="0"/>
          </a:p>
        </p:txBody>
      </p:sp>
      <p:sp>
        <p:nvSpPr>
          <p:cNvPr id="38" name="Text 24">
            <a:extLst>
              <a:ext uri="{FF2B5EF4-FFF2-40B4-BE49-F238E27FC236}">
                <a16:creationId xmlns:a16="http://schemas.microsoft.com/office/drawing/2014/main" id="{A9E4C51A-E75C-4E9A-8364-C02B276F122E}"/>
              </a:ext>
            </a:extLst>
          </p:cNvPr>
          <p:cNvSpPr/>
          <p:nvPr/>
        </p:nvSpPr>
        <p:spPr>
          <a:xfrm>
            <a:off x="10281038" y="3834079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0E2E22"/>
                </a:solidFill>
              </a:rPr>
              <a:t>$80</a:t>
            </a:r>
            <a:endParaRPr lang="en-US" sz="1050" dirty="0"/>
          </a:p>
        </p:txBody>
      </p:sp>
      <p:sp>
        <p:nvSpPr>
          <p:cNvPr id="39" name="Text 25">
            <a:extLst>
              <a:ext uri="{FF2B5EF4-FFF2-40B4-BE49-F238E27FC236}">
                <a16:creationId xmlns:a16="http://schemas.microsoft.com/office/drawing/2014/main" id="{3981E2E5-C1DC-4F10-B174-EEEF5351F159}"/>
              </a:ext>
            </a:extLst>
          </p:cNvPr>
          <p:cNvSpPr/>
          <p:nvPr/>
        </p:nvSpPr>
        <p:spPr>
          <a:xfrm>
            <a:off x="5617598" y="4282135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4221B"/>
                </a:solidFill>
              </a:rPr>
              <a:t>Router LTE D-Link</a:t>
            </a:r>
            <a:endParaRPr lang="en-US" sz="1050" dirty="0"/>
          </a:p>
        </p:txBody>
      </p:sp>
      <p:sp>
        <p:nvSpPr>
          <p:cNvPr id="40" name="Text 26">
            <a:extLst>
              <a:ext uri="{FF2B5EF4-FFF2-40B4-BE49-F238E27FC236}">
                <a16:creationId xmlns:a16="http://schemas.microsoft.com/office/drawing/2014/main" id="{05399174-BF8F-4999-8388-8B57EDAC17F0}"/>
              </a:ext>
            </a:extLst>
          </p:cNvPr>
          <p:cNvSpPr/>
          <p:nvPr/>
        </p:nvSpPr>
        <p:spPr>
          <a:xfrm>
            <a:off x="10281038" y="4282135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0E2E22"/>
                </a:solidFill>
              </a:rPr>
              <a:t>$55</a:t>
            </a:r>
            <a:endParaRPr lang="en-US" sz="1050" dirty="0"/>
          </a:p>
        </p:txBody>
      </p:sp>
      <p:sp>
        <p:nvSpPr>
          <p:cNvPr id="41" name="Text 27">
            <a:extLst>
              <a:ext uri="{FF2B5EF4-FFF2-40B4-BE49-F238E27FC236}">
                <a16:creationId xmlns:a16="http://schemas.microsoft.com/office/drawing/2014/main" id="{5A7092E3-B173-4678-85E0-09003A5A2C56}"/>
              </a:ext>
            </a:extLst>
          </p:cNvPr>
          <p:cNvSpPr/>
          <p:nvPr/>
        </p:nvSpPr>
        <p:spPr>
          <a:xfrm>
            <a:off x="5617598" y="4730191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4221B"/>
                </a:solidFill>
              </a:rPr>
              <a:t>Panel solar 100W</a:t>
            </a:r>
            <a:endParaRPr lang="en-US" sz="1050" dirty="0"/>
          </a:p>
        </p:txBody>
      </p:sp>
      <p:sp>
        <p:nvSpPr>
          <p:cNvPr id="42" name="Text 28">
            <a:extLst>
              <a:ext uri="{FF2B5EF4-FFF2-40B4-BE49-F238E27FC236}">
                <a16:creationId xmlns:a16="http://schemas.microsoft.com/office/drawing/2014/main" id="{69772AE0-463C-4DE8-B3B3-CC2C91EE4E39}"/>
              </a:ext>
            </a:extLst>
          </p:cNvPr>
          <p:cNvSpPr/>
          <p:nvPr/>
        </p:nvSpPr>
        <p:spPr>
          <a:xfrm>
            <a:off x="10281038" y="4730191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0E2E22"/>
                </a:solidFill>
              </a:rPr>
              <a:t>$95</a:t>
            </a:r>
            <a:endParaRPr lang="en-US" sz="1050" dirty="0"/>
          </a:p>
        </p:txBody>
      </p:sp>
      <p:sp>
        <p:nvSpPr>
          <p:cNvPr id="43" name="Text 29">
            <a:extLst>
              <a:ext uri="{FF2B5EF4-FFF2-40B4-BE49-F238E27FC236}">
                <a16:creationId xmlns:a16="http://schemas.microsoft.com/office/drawing/2014/main" id="{493135FC-DB1C-4CDF-8976-3A65C1042CFC}"/>
              </a:ext>
            </a:extLst>
          </p:cNvPr>
          <p:cNvSpPr/>
          <p:nvPr/>
        </p:nvSpPr>
        <p:spPr>
          <a:xfrm>
            <a:off x="5617598" y="5178247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4221B"/>
                </a:solidFill>
              </a:rPr>
              <a:t>Batería de gel 12V 50Ah</a:t>
            </a:r>
            <a:endParaRPr lang="en-US" sz="1050" dirty="0"/>
          </a:p>
        </p:txBody>
      </p:sp>
      <p:sp>
        <p:nvSpPr>
          <p:cNvPr id="44" name="Text 30">
            <a:extLst>
              <a:ext uri="{FF2B5EF4-FFF2-40B4-BE49-F238E27FC236}">
                <a16:creationId xmlns:a16="http://schemas.microsoft.com/office/drawing/2014/main" id="{7E60171E-7F78-40ED-875B-36F2511CBBA5}"/>
              </a:ext>
            </a:extLst>
          </p:cNvPr>
          <p:cNvSpPr/>
          <p:nvPr/>
        </p:nvSpPr>
        <p:spPr>
          <a:xfrm>
            <a:off x="10281038" y="5178247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0E2E22"/>
                </a:solidFill>
              </a:rPr>
              <a:t>$85</a:t>
            </a:r>
            <a:endParaRPr lang="en-US" sz="1050" dirty="0"/>
          </a:p>
        </p:txBody>
      </p:sp>
    </p:spTree>
    <p:extLst>
      <p:ext uri="{BB962C8B-B14F-4D97-AF65-F5344CB8AC3E}">
        <p14:creationId xmlns:p14="http://schemas.microsoft.com/office/powerpoint/2010/main" val="231045442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2DEBDD-45D7-43BD-8E61-C10D475ACD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lecha: pentágono 11">
            <a:extLst>
              <a:ext uri="{FF2B5EF4-FFF2-40B4-BE49-F238E27FC236}">
                <a16:creationId xmlns:a16="http://schemas.microsoft.com/office/drawing/2014/main" id="{FC2199B3-A3F9-706C-AC61-500191076C13}"/>
              </a:ext>
            </a:extLst>
          </p:cNvPr>
          <p:cNvSpPr/>
          <p:nvPr/>
        </p:nvSpPr>
        <p:spPr>
          <a:xfrm>
            <a:off x="283349" y="104071"/>
            <a:ext cx="3567682" cy="1053548"/>
          </a:xfrm>
          <a:prstGeom prst="homePlate">
            <a:avLst/>
          </a:prstGeom>
          <a:solidFill>
            <a:srgbClr val="C00000"/>
          </a:solidFill>
          <a:ln/>
          <a:scene3d>
            <a:camera prst="orthographicFront"/>
            <a:lightRig rig="threePt" dir="t"/>
          </a:scene3d>
          <a:sp3d>
            <a:bevelT w="165100" prst="coolSlant"/>
          </a:sp3d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US" sz="36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Conclusiones</a:t>
            </a:r>
            <a:endParaRPr lang="es-US" sz="3600" b="1" noProof="0" dirty="0">
              <a:solidFill>
                <a:schemeClr val="bg1"/>
              </a:solidFill>
            </a:endParaRP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3B6C1340-61CD-DB98-F49C-C16B5D910F17}"/>
              </a:ext>
            </a:extLst>
          </p:cNvPr>
          <p:cNvSpPr/>
          <p:nvPr/>
        </p:nvSpPr>
        <p:spPr>
          <a:xfrm>
            <a:off x="5526157" y="6092687"/>
            <a:ext cx="6665843" cy="765313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US" noProof="0" dirty="0"/>
          </a:p>
        </p:txBody>
      </p:sp>
      <p:sp>
        <p:nvSpPr>
          <p:cNvPr id="11" name="Recortar rectángulo de una esquina 9">
            <a:extLst>
              <a:ext uri="{FF2B5EF4-FFF2-40B4-BE49-F238E27FC236}">
                <a16:creationId xmlns:a16="http://schemas.microsoft.com/office/drawing/2014/main" id="{503D4019-61FD-6CF3-DC3A-99E73EC7647E}"/>
              </a:ext>
            </a:extLst>
          </p:cNvPr>
          <p:cNvSpPr/>
          <p:nvPr/>
        </p:nvSpPr>
        <p:spPr>
          <a:xfrm>
            <a:off x="-9939" y="5814391"/>
            <a:ext cx="5903843" cy="1053548"/>
          </a:xfrm>
          <a:prstGeom prst="snip1Rect">
            <a:avLst>
              <a:gd name="adj" fmla="val 50000"/>
            </a:avLst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US" noProof="0" dirty="0"/>
          </a:p>
        </p:txBody>
      </p:sp>
      <p:pic>
        <p:nvPicPr>
          <p:cNvPr id="14" name="Imagen 13">
            <a:extLst>
              <a:ext uri="{FF2B5EF4-FFF2-40B4-BE49-F238E27FC236}">
                <a16:creationId xmlns:a16="http://schemas.microsoft.com/office/drawing/2014/main" id="{6A3CDC1F-C916-060A-786D-54F9BCABB6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0767" y="5928401"/>
            <a:ext cx="2827669" cy="825528"/>
          </a:xfrm>
          <a:prstGeom prst="rect">
            <a:avLst/>
          </a:prstGeom>
        </p:spPr>
      </p:pic>
      <p:pic>
        <p:nvPicPr>
          <p:cNvPr id="15" name="Imagen 14">
            <a:extLst>
              <a:ext uri="{FF2B5EF4-FFF2-40B4-BE49-F238E27FC236}">
                <a16:creationId xmlns:a16="http://schemas.microsoft.com/office/drawing/2014/main" id="{CDE86432-335A-45DB-49BE-1CFC2D4FBC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61751" y="5963285"/>
            <a:ext cx="3962401" cy="10241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995438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2DEBDD-45D7-43BD-8E61-C10D475ACD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lecha: pentágono 11">
            <a:extLst>
              <a:ext uri="{FF2B5EF4-FFF2-40B4-BE49-F238E27FC236}">
                <a16:creationId xmlns:a16="http://schemas.microsoft.com/office/drawing/2014/main" id="{FC2199B3-A3F9-706C-AC61-500191076C13}"/>
              </a:ext>
            </a:extLst>
          </p:cNvPr>
          <p:cNvSpPr/>
          <p:nvPr/>
        </p:nvSpPr>
        <p:spPr>
          <a:xfrm>
            <a:off x="283349" y="104071"/>
            <a:ext cx="4196554" cy="1053548"/>
          </a:xfrm>
          <a:prstGeom prst="homePlate">
            <a:avLst/>
          </a:prstGeom>
          <a:solidFill>
            <a:srgbClr val="C00000"/>
          </a:solidFill>
          <a:ln/>
          <a:scene3d>
            <a:camera prst="orthographicFront"/>
            <a:lightRig rig="threePt" dir="t"/>
          </a:scene3d>
          <a:sp3d>
            <a:bevelT w="165100" prst="coolSlant"/>
          </a:sp3d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US" sz="36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Recomendaciones</a:t>
            </a:r>
            <a:endParaRPr lang="es-US" sz="3600" b="1" noProof="0" dirty="0">
              <a:solidFill>
                <a:schemeClr val="bg1"/>
              </a:solidFill>
            </a:endParaRP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3B6C1340-61CD-DB98-F49C-C16B5D910F17}"/>
              </a:ext>
            </a:extLst>
          </p:cNvPr>
          <p:cNvSpPr/>
          <p:nvPr/>
        </p:nvSpPr>
        <p:spPr>
          <a:xfrm>
            <a:off x="5526157" y="6092687"/>
            <a:ext cx="6665843" cy="765313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US" noProof="0" dirty="0"/>
          </a:p>
        </p:txBody>
      </p:sp>
      <p:sp>
        <p:nvSpPr>
          <p:cNvPr id="11" name="Recortar rectángulo de una esquina 9">
            <a:extLst>
              <a:ext uri="{FF2B5EF4-FFF2-40B4-BE49-F238E27FC236}">
                <a16:creationId xmlns:a16="http://schemas.microsoft.com/office/drawing/2014/main" id="{503D4019-61FD-6CF3-DC3A-99E73EC7647E}"/>
              </a:ext>
            </a:extLst>
          </p:cNvPr>
          <p:cNvSpPr/>
          <p:nvPr/>
        </p:nvSpPr>
        <p:spPr>
          <a:xfrm>
            <a:off x="-9939" y="5814391"/>
            <a:ext cx="5903843" cy="1053548"/>
          </a:xfrm>
          <a:prstGeom prst="snip1Rect">
            <a:avLst>
              <a:gd name="adj" fmla="val 50000"/>
            </a:avLst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US" noProof="0" dirty="0"/>
          </a:p>
        </p:txBody>
      </p:sp>
      <p:pic>
        <p:nvPicPr>
          <p:cNvPr id="14" name="Imagen 13">
            <a:extLst>
              <a:ext uri="{FF2B5EF4-FFF2-40B4-BE49-F238E27FC236}">
                <a16:creationId xmlns:a16="http://schemas.microsoft.com/office/drawing/2014/main" id="{6A3CDC1F-C916-060A-786D-54F9BCABB6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0767" y="5928401"/>
            <a:ext cx="2827669" cy="825528"/>
          </a:xfrm>
          <a:prstGeom prst="rect">
            <a:avLst/>
          </a:prstGeom>
        </p:spPr>
      </p:pic>
      <p:pic>
        <p:nvPicPr>
          <p:cNvPr id="15" name="Imagen 14">
            <a:extLst>
              <a:ext uri="{FF2B5EF4-FFF2-40B4-BE49-F238E27FC236}">
                <a16:creationId xmlns:a16="http://schemas.microsoft.com/office/drawing/2014/main" id="{CDE86432-335A-45DB-49BE-1CFC2D4FBC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61751" y="5963285"/>
            <a:ext cx="3962401" cy="1024115"/>
          </a:xfrm>
          <a:prstGeom prst="rect">
            <a:avLst/>
          </a:prstGeom>
        </p:spPr>
      </p:pic>
      <p:sp>
        <p:nvSpPr>
          <p:cNvPr id="8" name="CuadroTexto 7">
            <a:extLst>
              <a:ext uri="{FF2B5EF4-FFF2-40B4-BE49-F238E27FC236}">
                <a16:creationId xmlns:a16="http://schemas.microsoft.com/office/drawing/2014/main" id="{B8445E3A-E303-4D44-9E5B-C338716548CA}"/>
              </a:ext>
            </a:extLst>
          </p:cNvPr>
          <p:cNvSpPr txBox="1"/>
          <p:nvPr/>
        </p:nvSpPr>
        <p:spPr>
          <a:xfrm>
            <a:off x="287215" y="1143000"/>
            <a:ext cx="11406554" cy="47169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MX" i="1" dirty="0"/>
              <a:t>Primero, a nivel de red, lo ideal sería migrar a internet satelital como </a:t>
            </a:r>
            <a:r>
              <a:rPr lang="es-MX" i="1" dirty="0" err="1"/>
              <a:t>Starlink</a:t>
            </a:r>
            <a:r>
              <a:rPr lang="es-MX" i="1" dirty="0"/>
              <a:t>, para olvidarnos de las caídas de señal de la red celular por la topografía del sector.</a:t>
            </a:r>
            <a:endParaRPr lang="es-MX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MX" i="1" dirty="0"/>
              <a:t>Segundo, implementar </a:t>
            </a:r>
            <a:r>
              <a:rPr lang="es-MX" i="1" dirty="0" err="1"/>
              <a:t>LoRaWAN</a:t>
            </a:r>
            <a:r>
              <a:rPr lang="es-MX" i="1" dirty="0"/>
              <a:t> como un canal de respaldo. Así, si la red Claro se cae, el sistema aún podría enviar una alerta de texto por radiofrecuencia.</a:t>
            </a:r>
            <a:endParaRPr lang="es-MX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MX" i="1" dirty="0"/>
              <a:t>En la parte operativa, sugerimos un mantenimiento trimestral básico: limpiar el panel solar y el lente de la cámara, ya que comprobamos que el polvo afecta directo a la lectura de las placas.</a:t>
            </a:r>
            <a:endParaRPr lang="es-MX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MX" i="1" dirty="0"/>
              <a:t>También es clave mantener la maleza podada frente al poste. Así evitamos que el sensor térmico se confunda con el movimiento de ramas calientes por el sol.</a:t>
            </a:r>
            <a:endParaRPr lang="es-MX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MX" i="1" dirty="0"/>
              <a:t>El sistema se diseñó de forma modular, la idea es escalarlo. Se pueden replicar nodos más económicos en los caminos secundarios y conectarlos todos a esta red principal.</a:t>
            </a:r>
            <a:endParaRPr lang="es-MX" dirty="0"/>
          </a:p>
          <a:p>
            <a:pPr marL="342900" lvl="0" indent="-342900" algn="just">
              <a:lnSpc>
                <a:spcPct val="200000"/>
              </a:lnSpc>
              <a:buFont typeface="Symbol" panose="05050102010706020507" pitchFamily="18" charset="2"/>
              <a:buChar char=""/>
            </a:pPr>
            <a:endParaRPr lang="es-EC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7091179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48115D-1E31-26A4-A464-8F942582A1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lecha: pentágono 11">
            <a:extLst>
              <a:ext uri="{FF2B5EF4-FFF2-40B4-BE49-F238E27FC236}">
                <a16:creationId xmlns:a16="http://schemas.microsoft.com/office/drawing/2014/main" id="{D0A47598-8421-51E3-7AB4-B2731AF89F63}"/>
              </a:ext>
            </a:extLst>
          </p:cNvPr>
          <p:cNvSpPr/>
          <p:nvPr/>
        </p:nvSpPr>
        <p:spPr>
          <a:xfrm>
            <a:off x="283349" y="104071"/>
            <a:ext cx="4196554" cy="898252"/>
          </a:xfrm>
          <a:prstGeom prst="homePlate">
            <a:avLst/>
          </a:prstGeom>
          <a:solidFill>
            <a:srgbClr val="C00000"/>
          </a:solidFill>
          <a:ln/>
          <a:scene3d>
            <a:camera prst="orthographicFront"/>
            <a:lightRig rig="threePt" dir="t"/>
          </a:scene3d>
          <a:sp3d>
            <a:bevelT w="165100" prst="coolSlant"/>
          </a:sp3d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US" sz="36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BIBLIOGRAFÍA</a:t>
            </a:r>
            <a:endParaRPr lang="es-US" sz="3600" b="1" noProof="0" dirty="0">
              <a:solidFill>
                <a:schemeClr val="bg1"/>
              </a:solidFill>
            </a:endParaRP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29CE284D-414E-3718-B013-478C534C68D2}"/>
              </a:ext>
            </a:extLst>
          </p:cNvPr>
          <p:cNvSpPr/>
          <p:nvPr/>
        </p:nvSpPr>
        <p:spPr>
          <a:xfrm>
            <a:off x="5526157" y="6092687"/>
            <a:ext cx="6665843" cy="765313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US" noProof="0" dirty="0"/>
          </a:p>
        </p:txBody>
      </p:sp>
      <p:sp>
        <p:nvSpPr>
          <p:cNvPr id="11" name="Recortar rectángulo de una esquina 9">
            <a:extLst>
              <a:ext uri="{FF2B5EF4-FFF2-40B4-BE49-F238E27FC236}">
                <a16:creationId xmlns:a16="http://schemas.microsoft.com/office/drawing/2014/main" id="{DBB83F4D-367F-48AA-5DE1-030B6BAC3FB2}"/>
              </a:ext>
            </a:extLst>
          </p:cNvPr>
          <p:cNvSpPr/>
          <p:nvPr/>
        </p:nvSpPr>
        <p:spPr>
          <a:xfrm>
            <a:off x="-9939" y="5814391"/>
            <a:ext cx="5903843" cy="1053548"/>
          </a:xfrm>
          <a:prstGeom prst="snip1Rect">
            <a:avLst>
              <a:gd name="adj" fmla="val 50000"/>
            </a:avLst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US" noProof="0" dirty="0"/>
          </a:p>
        </p:txBody>
      </p:sp>
      <p:pic>
        <p:nvPicPr>
          <p:cNvPr id="14" name="Imagen 13">
            <a:extLst>
              <a:ext uri="{FF2B5EF4-FFF2-40B4-BE49-F238E27FC236}">
                <a16:creationId xmlns:a16="http://schemas.microsoft.com/office/drawing/2014/main" id="{AFA68A19-B4D3-9D8F-C126-58CF7EA4FA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0767" y="5928401"/>
            <a:ext cx="2827669" cy="825528"/>
          </a:xfrm>
          <a:prstGeom prst="rect">
            <a:avLst/>
          </a:prstGeom>
        </p:spPr>
      </p:pic>
      <p:pic>
        <p:nvPicPr>
          <p:cNvPr id="15" name="Imagen 14">
            <a:extLst>
              <a:ext uri="{FF2B5EF4-FFF2-40B4-BE49-F238E27FC236}">
                <a16:creationId xmlns:a16="http://schemas.microsoft.com/office/drawing/2014/main" id="{79EC3F51-CC45-AFFB-57E6-35A66BCE67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61751" y="5963285"/>
            <a:ext cx="3962401" cy="1024115"/>
          </a:xfrm>
          <a:prstGeom prst="rect">
            <a:avLst/>
          </a:prstGeom>
        </p:spPr>
      </p:pic>
      <p:sp>
        <p:nvSpPr>
          <p:cNvPr id="16" name="CuadroTexto 15">
            <a:extLst>
              <a:ext uri="{FF2B5EF4-FFF2-40B4-BE49-F238E27FC236}">
                <a16:creationId xmlns:a16="http://schemas.microsoft.com/office/drawing/2014/main" id="{5A808613-68A5-43AE-96D4-7A73797E835C}"/>
              </a:ext>
            </a:extLst>
          </p:cNvPr>
          <p:cNvSpPr txBox="1"/>
          <p:nvPr/>
        </p:nvSpPr>
        <p:spPr>
          <a:xfrm>
            <a:off x="350418" y="1459522"/>
            <a:ext cx="10351477" cy="27779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EC" altLang="es-EC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Arquitectura </a:t>
            </a:r>
            <a:r>
              <a:rPr kumimoji="0" lang="es-EC" altLang="es-EC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IoT</a:t>
            </a:r>
            <a:r>
              <a:rPr kumimoji="0" lang="es-EC" altLang="es-EC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kumimoji="0" lang="es-EC" altLang="es-EC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Al-</a:t>
            </a:r>
            <a:r>
              <a:rPr kumimoji="0" lang="es-EC" altLang="es-EC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Fuqaha</a:t>
            </a:r>
            <a:r>
              <a:rPr kumimoji="0" lang="es-EC" altLang="es-EC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A. G. (2015). </a:t>
            </a:r>
            <a:r>
              <a:rPr kumimoji="0" lang="es-EC" altLang="es-EC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IEEE </a:t>
            </a:r>
            <a:r>
              <a:rPr kumimoji="0" lang="es-EC" altLang="es-EC" sz="18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Communications</a:t>
            </a:r>
            <a:r>
              <a:rPr kumimoji="0" lang="es-EC" altLang="es-EC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s-EC" altLang="es-EC" sz="18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Surveys</a:t>
            </a:r>
            <a:r>
              <a:rPr kumimoji="0" lang="es-EC" altLang="es-EC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&amp; </a:t>
            </a:r>
            <a:r>
              <a:rPr kumimoji="0" lang="es-EC" altLang="es-EC" sz="18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Tutorials</a:t>
            </a:r>
            <a:r>
              <a:rPr kumimoji="0" lang="es-EC" altLang="es-EC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EC" altLang="es-EC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Edge Computing y Almacenamiento:</a:t>
            </a:r>
            <a:r>
              <a:rPr kumimoji="0" lang="es-EC" altLang="es-EC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Botta, A. D. (2016). </a:t>
            </a:r>
            <a:r>
              <a:rPr kumimoji="0" lang="es-EC" altLang="es-EC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Future </a:t>
            </a:r>
            <a:r>
              <a:rPr kumimoji="0" lang="es-EC" altLang="es-EC" sz="18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Generation</a:t>
            </a:r>
            <a:r>
              <a:rPr kumimoji="0" lang="es-EC" altLang="es-EC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s-EC" altLang="es-EC" sz="18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Computer</a:t>
            </a:r>
            <a:r>
              <a:rPr kumimoji="0" lang="es-EC" altLang="es-EC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s-EC" altLang="es-EC" sz="18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Systems</a:t>
            </a:r>
            <a:r>
              <a:rPr kumimoji="0" lang="es-EC" altLang="es-EC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EC" altLang="es-EC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Visión Artificial y Procesamiento:</a:t>
            </a:r>
            <a:r>
              <a:rPr kumimoji="0" lang="es-EC" altLang="es-EC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s-EC" altLang="es-EC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Szeliski</a:t>
            </a:r>
            <a:r>
              <a:rPr kumimoji="0" lang="es-EC" altLang="es-EC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R. (2011). </a:t>
            </a:r>
            <a:r>
              <a:rPr kumimoji="0" lang="es-EC" altLang="es-EC" sz="18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Computer</a:t>
            </a:r>
            <a:r>
              <a:rPr kumimoji="0" lang="es-EC" altLang="es-EC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s-EC" altLang="es-EC" sz="18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Vision</a:t>
            </a:r>
            <a:r>
              <a:rPr kumimoji="0" lang="es-EC" altLang="es-EC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EC" altLang="es-EC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Conectividad y Redes Celulares:</a:t>
            </a:r>
            <a:r>
              <a:rPr kumimoji="0" lang="es-EC" altLang="es-EC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ITU. (2021). </a:t>
            </a:r>
            <a:r>
              <a:rPr kumimoji="0" lang="es-EC" altLang="es-EC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Estadísticas y Reportes de Telecomunicaciones</a:t>
            </a:r>
            <a:r>
              <a:rPr kumimoji="0" lang="es-EC" altLang="es-EC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EC" altLang="es-EC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Sensores y Entornos Limitados:</a:t>
            </a:r>
            <a:r>
              <a:rPr kumimoji="0" lang="es-EC" altLang="es-EC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Sharma, A. (2019). </a:t>
            </a:r>
            <a:r>
              <a:rPr kumimoji="0" lang="es-EC" altLang="es-EC" sz="18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Sensors</a:t>
            </a:r>
            <a:r>
              <a:rPr kumimoji="0" lang="es-EC" altLang="es-EC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19(14)</a:t>
            </a:r>
            <a:r>
              <a:rPr kumimoji="0" lang="es-EC" altLang="es-EC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368310671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ángulo 8">
            <a:extLst>
              <a:ext uri="{FF2B5EF4-FFF2-40B4-BE49-F238E27FC236}">
                <a16:creationId xmlns:a16="http://schemas.microsoft.com/office/drawing/2014/main" id="{589B78B1-5DEF-54D6-DBC8-E74AAA47F59E}"/>
              </a:ext>
            </a:extLst>
          </p:cNvPr>
          <p:cNvSpPr/>
          <p:nvPr/>
        </p:nvSpPr>
        <p:spPr>
          <a:xfrm>
            <a:off x="5526157" y="6092687"/>
            <a:ext cx="6665843" cy="765313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US" noProof="0" dirty="0"/>
          </a:p>
        </p:txBody>
      </p:sp>
      <p:sp>
        <p:nvSpPr>
          <p:cNvPr id="10" name="Recortar rectángulo de una esquina 9">
            <a:extLst>
              <a:ext uri="{FF2B5EF4-FFF2-40B4-BE49-F238E27FC236}">
                <a16:creationId xmlns:a16="http://schemas.microsoft.com/office/drawing/2014/main" id="{EDAC3E4D-3D84-2EC2-F30C-6EB8DB42FCDE}"/>
              </a:ext>
            </a:extLst>
          </p:cNvPr>
          <p:cNvSpPr/>
          <p:nvPr/>
        </p:nvSpPr>
        <p:spPr>
          <a:xfrm>
            <a:off x="-9939" y="5814391"/>
            <a:ext cx="5903843" cy="1053548"/>
          </a:xfrm>
          <a:prstGeom prst="snip1Rect">
            <a:avLst>
              <a:gd name="adj" fmla="val 50000"/>
            </a:avLst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US" noProof="0" dirty="0"/>
          </a:p>
        </p:txBody>
      </p:sp>
      <p:pic>
        <p:nvPicPr>
          <p:cNvPr id="15" name="Imagen 14">
            <a:extLst>
              <a:ext uri="{FF2B5EF4-FFF2-40B4-BE49-F238E27FC236}">
                <a16:creationId xmlns:a16="http://schemas.microsoft.com/office/drawing/2014/main" id="{EF4F3E91-2C59-75EE-C26C-E9196D93B7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0767" y="5928401"/>
            <a:ext cx="2827669" cy="825528"/>
          </a:xfrm>
          <a:prstGeom prst="rect">
            <a:avLst/>
          </a:prstGeom>
        </p:spPr>
      </p:pic>
      <p:pic>
        <p:nvPicPr>
          <p:cNvPr id="2" name="Imagen 1">
            <a:extLst>
              <a:ext uri="{FF2B5EF4-FFF2-40B4-BE49-F238E27FC236}">
                <a16:creationId xmlns:a16="http://schemas.microsoft.com/office/drawing/2014/main" id="{9AE470B8-DE5F-4E3C-3CBC-3354043A95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92266" y="5963285"/>
            <a:ext cx="3962401" cy="1024115"/>
          </a:xfrm>
          <a:prstGeom prst="rect">
            <a:avLst/>
          </a:prstGeom>
        </p:spPr>
      </p:pic>
      <p:sp>
        <p:nvSpPr>
          <p:cNvPr id="4" name="TextBox 5">
            <a:extLst>
              <a:ext uri="{FF2B5EF4-FFF2-40B4-BE49-F238E27FC236}">
                <a16:creationId xmlns:a16="http://schemas.microsoft.com/office/drawing/2014/main" id="{786F8588-4C34-8E3A-09B0-10FB544654F0}"/>
              </a:ext>
            </a:extLst>
          </p:cNvPr>
          <p:cNvSpPr txBox="1"/>
          <p:nvPr/>
        </p:nvSpPr>
        <p:spPr>
          <a:xfrm>
            <a:off x="1574290" y="972323"/>
            <a:ext cx="7117976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US" sz="12000" noProof="0" dirty="0"/>
              <a:t>GRACIAS</a:t>
            </a:r>
            <a:endParaRPr lang="es-US" sz="12000" kern="1200" noProof="0" dirty="0">
              <a:latin typeface="+mj-lt"/>
              <a:cs typeface="Segoe UI Semibold" panose="020B0702040204020203" pitchFamily="34" charset="0"/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E8639B6F-46AE-58A1-0B16-2B64DF5B25F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26157" y="1876975"/>
            <a:ext cx="6729237" cy="4205773"/>
          </a:xfrm>
          <a:prstGeom prst="rect">
            <a:avLst/>
          </a:prstGeom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56F54BF5-C649-0093-B1DC-3007C42FC7EA}"/>
              </a:ext>
            </a:extLst>
          </p:cNvPr>
          <p:cNvSpPr txBox="1"/>
          <p:nvPr/>
        </p:nvSpPr>
        <p:spPr>
          <a:xfrm>
            <a:off x="7482189" y="6453433"/>
            <a:ext cx="11862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US" noProof="0" dirty="0">
                <a:solidFill>
                  <a:schemeClr val="bg1"/>
                </a:solidFill>
              </a:rPr>
              <a:t>@</a:t>
            </a:r>
            <a:r>
              <a:rPr lang="es-US" b="1" noProof="0" dirty="0">
                <a:solidFill>
                  <a:schemeClr val="bg1"/>
                </a:solidFill>
                <a:effectLst/>
                <a:latin typeface="Archivo Black" panose="020B0A04020102020204" pitchFamily="34" charset="77"/>
              </a:rPr>
              <a:t>utn</a:t>
            </a:r>
            <a:r>
              <a:rPr lang="es-US" noProof="0" dirty="0">
                <a:solidFill>
                  <a:schemeClr val="bg1"/>
                </a:solidFill>
              </a:rPr>
              <a:t>_ec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A3CBB3BF-F641-5A7C-29A1-FAE3082CDD34}"/>
              </a:ext>
            </a:extLst>
          </p:cNvPr>
          <p:cNvSpPr txBox="1"/>
          <p:nvPr/>
        </p:nvSpPr>
        <p:spPr>
          <a:xfrm>
            <a:off x="6478997" y="6156499"/>
            <a:ext cx="17793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US" noProof="0" dirty="0">
                <a:solidFill>
                  <a:schemeClr val="bg1"/>
                </a:solidFill>
              </a:rPr>
              <a:t>@</a:t>
            </a:r>
            <a:r>
              <a:rPr lang="es-US" b="1" noProof="0" dirty="0">
                <a:solidFill>
                  <a:schemeClr val="bg1"/>
                </a:solidFill>
                <a:effectLst/>
                <a:latin typeface="Archivo Black" panose="020B0A04020102020204" pitchFamily="34" charset="77"/>
              </a:rPr>
              <a:t>utn</a:t>
            </a:r>
            <a:r>
              <a:rPr lang="es-US" noProof="0" dirty="0">
                <a:solidFill>
                  <a:schemeClr val="bg1"/>
                </a:solidFill>
              </a:rPr>
              <a:t>ibarra.ec</a:t>
            </a:r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8A431731-40D6-D8CD-ACB1-E888DA398BE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94209" y="6248050"/>
            <a:ext cx="227292" cy="227292"/>
          </a:xfrm>
          <a:prstGeom prst="rect">
            <a:avLst/>
          </a:prstGeom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CAF252B5-F3B6-BEBF-7D50-61D0CAA626D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65946" y="6544260"/>
            <a:ext cx="216243" cy="216243"/>
          </a:xfrm>
          <a:prstGeom prst="rect">
            <a:avLst/>
          </a:prstGeom>
        </p:spPr>
      </p:pic>
      <p:pic>
        <p:nvPicPr>
          <p:cNvPr id="13" name="Imagen 12">
            <a:extLst>
              <a:ext uri="{FF2B5EF4-FFF2-40B4-BE49-F238E27FC236}">
                <a16:creationId xmlns:a16="http://schemas.microsoft.com/office/drawing/2014/main" id="{3B544C4A-834C-9E8C-D849-9C11EB92F55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2696328"/>
            <a:ext cx="2996194" cy="31180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354016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11FFC73-B3EC-4C50-AC11-F1C28098CB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EC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6781E1A-6579-436A-BA76-3EE2780299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s-EC" dirty="0"/>
              <a:t>Imagen uno completar la palabra</a:t>
            </a:r>
          </a:p>
          <a:p>
            <a:r>
              <a:rPr lang="es-EC" dirty="0"/>
              <a:t>Quitar espacio de los puntos después da cada palabra</a:t>
            </a:r>
          </a:p>
          <a:p>
            <a:r>
              <a:rPr lang="es-EC" dirty="0"/>
              <a:t>Tildes en pagina web diapositivas finales </a:t>
            </a:r>
          </a:p>
          <a:p>
            <a:r>
              <a:rPr lang="es-EC" dirty="0" err="1"/>
              <a:t>Gooogle</a:t>
            </a:r>
            <a:r>
              <a:rPr lang="es-EC" dirty="0"/>
              <a:t> drive api con mayúsculas </a:t>
            </a:r>
          </a:p>
          <a:p>
            <a:r>
              <a:rPr lang="es-EC" dirty="0"/>
              <a:t>Chacar si </a:t>
            </a:r>
            <a:r>
              <a:rPr lang="es-EC" dirty="0" err="1"/>
              <a:t>rele</a:t>
            </a:r>
            <a:r>
              <a:rPr lang="es-EC" dirty="0"/>
              <a:t> es con tilde , si es con tilde </a:t>
            </a:r>
          </a:p>
          <a:p>
            <a:r>
              <a:rPr lang="es-EC" dirty="0"/>
              <a:t>Angulo es con tilde y sin </a:t>
            </a:r>
            <a:r>
              <a:rPr lang="es-EC" dirty="0" err="1"/>
              <a:t>mayuscula</a:t>
            </a:r>
            <a:r>
              <a:rPr lang="es-EC" dirty="0"/>
              <a:t> diapositivas de evidencias</a:t>
            </a:r>
          </a:p>
          <a:p>
            <a:r>
              <a:rPr lang="es-EC" dirty="0"/>
              <a:t>Corregir conclusiones  y recomendaciones</a:t>
            </a:r>
          </a:p>
          <a:p>
            <a:r>
              <a:rPr lang="es-EC" dirty="0"/>
              <a:t>Eliminar bibliografía y agregar trabajos futuros </a:t>
            </a:r>
          </a:p>
          <a:p>
            <a:r>
              <a:rPr lang="es-EC" dirty="0"/>
              <a:t>Corregir faltas ortográficas </a:t>
            </a:r>
          </a:p>
          <a:p>
            <a:endParaRPr lang="es-EC" dirty="0"/>
          </a:p>
          <a:p>
            <a:pPr marL="0" indent="0">
              <a:buNone/>
            </a:pPr>
            <a:endParaRPr lang="es-EC" dirty="0"/>
          </a:p>
          <a:p>
            <a:pPr marL="0" indent="0">
              <a:buNone/>
            </a:pPr>
            <a:endParaRPr lang="es-EC" dirty="0"/>
          </a:p>
          <a:p>
            <a:endParaRPr lang="es-EC" dirty="0"/>
          </a:p>
        </p:txBody>
      </p:sp>
    </p:spTree>
    <p:extLst>
      <p:ext uri="{BB962C8B-B14F-4D97-AF65-F5344CB8AC3E}">
        <p14:creationId xmlns:p14="http://schemas.microsoft.com/office/powerpoint/2010/main" val="2839867518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3772BBC85A1D1C46AE0114D9E74986D8" ma:contentTypeVersion="17" ma:contentTypeDescription="Crear nuevo documento." ma:contentTypeScope="" ma:versionID="6a06fedc0d0b9f4211d3a54291c29ac5">
  <xsd:schema xmlns:xsd="http://www.w3.org/2001/XMLSchema" xmlns:xs="http://www.w3.org/2001/XMLSchema" xmlns:p="http://schemas.microsoft.com/office/2006/metadata/properties" xmlns:ns2="8636db1f-078b-40e3-a07c-f91a72904681" xmlns:ns3="12f1d7cd-924f-42cf-a03f-191c4191d98d" targetNamespace="http://schemas.microsoft.com/office/2006/metadata/properties" ma:root="true" ma:fieldsID="dcfebf1a1fe1c722d24fbf9add2f37e6" ns2:_="" ns3:_="">
    <xsd:import namespace="8636db1f-078b-40e3-a07c-f91a72904681"/>
    <xsd:import namespace="12f1d7cd-924f-42cf-a03f-191c4191d98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ServiceAutoKeyPoints" minOccurs="0"/>
                <xsd:element ref="ns2:MediaServiceKeyPoints" minOccurs="0"/>
                <xsd:element ref="ns2:MediaLengthInSeconds" minOccurs="0"/>
                <xsd:element ref="ns2:MediaServiceLocation" minOccurs="0"/>
                <xsd:element ref="ns2:lcf76f155ced4ddcb4097134ff3c332f" minOccurs="0"/>
                <xsd:element ref="ns3:TaxCatchAll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636db1f-078b-40e3-a07c-f91a7290468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MediaServiceAutoTags" ma:internalName="MediaServiceAutoTags" ma:readOnly="true">
      <xsd:simpleType>
        <xsd:restriction base="dms:Text"/>
      </xsd:simpleType>
    </xsd:element>
    <xsd:element name="MediaServiceOCR" ma:index="11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7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8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19" nillable="true" ma:displayName="Length (seconds)" ma:internalName="MediaLengthInSeconds" ma:readOnly="true">
      <xsd:simpleType>
        <xsd:restriction base="dms:Unknown"/>
      </xsd:simpleType>
    </xsd:element>
    <xsd:element name="MediaServiceLocation" ma:index="20" nillable="true" ma:displayName="Location" ma:internalName="MediaServiceLocation" ma:readOnly="true">
      <xsd:simpleType>
        <xsd:restriction base="dms:Text"/>
      </xsd:simpleType>
    </xsd:element>
    <xsd:element name="lcf76f155ced4ddcb4097134ff3c332f" ma:index="22" nillable="true" ma:taxonomy="true" ma:internalName="lcf76f155ced4ddcb4097134ff3c332f" ma:taxonomyFieldName="MediaServiceImageTags" ma:displayName="Etiquetas de imagen" ma:readOnly="false" ma:fieldId="{5cf76f15-5ced-4ddc-b409-7134ff3c332f}" ma:taxonomyMulti="true" ma:sspId="d20270ce-9221-4f32-9aa0-448c4479a11a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2f1d7cd-924f-42cf-a03f-191c4191d98d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Compartido co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Detalles de uso compartido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4dfd831c-45b7-4313-b316-12592196fd83}" ma:internalName="TaxCatchAll" ma:showField="CatchAllData" ma:web="12f1d7cd-924f-42cf-a03f-191c4191d98d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8636db1f-078b-40e3-a07c-f91a72904681">
      <Terms xmlns="http://schemas.microsoft.com/office/infopath/2007/PartnerControls"/>
    </lcf76f155ced4ddcb4097134ff3c332f>
    <TaxCatchAll xmlns="12f1d7cd-924f-42cf-a03f-191c4191d98d" xsi:nil="true"/>
  </documentManagement>
</p:properties>
</file>

<file path=customXml/itemProps1.xml><?xml version="1.0" encoding="utf-8"?>
<ds:datastoreItem xmlns:ds="http://schemas.openxmlformats.org/officeDocument/2006/customXml" ds:itemID="{48CD0E5D-DFD1-4BED-A522-86D503506375}">
  <ds:schemaRefs>
    <ds:schemaRef ds:uri="http://schemas.microsoft.com/office/2006/metadata/contentType"/>
    <ds:schemaRef ds:uri="http://schemas.microsoft.com/office/2006/metadata/properties/metaAttributes"/>
    <ds:schemaRef ds:uri="http://www.w3.org/2000/xmlns/"/>
    <ds:schemaRef ds:uri="http://www.w3.org/2001/XMLSchema"/>
    <ds:schemaRef ds:uri="8636db1f-078b-40e3-a07c-f91a72904681"/>
    <ds:schemaRef ds:uri="12f1d7cd-924f-42cf-a03f-191c4191d98d"/>
    <ds:schemaRef ds:uri="http://schemas.microsoft.com/office/2006/metadata/properties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094D9154-C0CC-4356-98FE-13DF56B6A32F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821ADAEB-9F5F-447F-94DC-7F16123C6420}">
  <ds:schemaRefs>
    <ds:schemaRef ds:uri="http://schemas.microsoft.com/office/2006/metadata/properties"/>
    <ds:schemaRef ds:uri="http://www.w3.org/2000/xmlns/"/>
    <ds:schemaRef ds:uri="8636db1f-078b-40e3-a07c-f91a72904681"/>
    <ds:schemaRef ds:uri="http://schemas.microsoft.com/office/infopath/2007/PartnerControls"/>
    <ds:schemaRef ds:uri="12f1d7cd-924f-42cf-a03f-191c4191d98d"/>
    <ds:schemaRef ds:uri="http://www.w3.org/2001/XMLSchema-instan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11427</TotalTime>
  <Words>1528</Words>
  <Application>Microsoft Office PowerPoint</Application>
  <PresentationFormat>Panorámica</PresentationFormat>
  <Paragraphs>317</Paragraphs>
  <Slides>29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13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29</vt:i4>
      </vt:variant>
    </vt:vector>
  </HeadingPairs>
  <TitlesOfParts>
    <vt:vector size="43" baseType="lpstr">
      <vt:lpstr>Agency FB</vt:lpstr>
      <vt:lpstr>Aharoni</vt:lpstr>
      <vt:lpstr>Amasis MT Pro Black</vt:lpstr>
      <vt:lpstr>Amasis MT Pro Medium</vt:lpstr>
      <vt:lpstr>Aptos</vt:lpstr>
      <vt:lpstr>Aptos Display</vt:lpstr>
      <vt:lpstr>Archivo Black</vt:lpstr>
      <vt:lpstr>Arial</vt:lpstr>
      <vt:lpstr>Calibri</vt:lpstr>
      <vt:lpstr>Calibri Light</vt:lpstr>
      <vt:lpstr>Stencil</vt:lpstr>
      <vt:lpstr>Symbol</vt:lpstr>
      <vt:lpstr>Times New Roman</vt:lpstr>
      <vt:lpstr>Tema de Office</vt:lpstr>
      <vt:lpstr>Presentación de PowerPoint</vt:lpstr>
      <vt:lpstr>Presentación de PowerPoint</vt:lpstr>
      <vt:lpstr>Agenda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DIEGO ANDRES BEDOYA VILLALOBOS</dc:creator>
  <cp:lastModifiedBy>Alder Navarrete</cp:lastModifiedBy>
  <cp:revision>55</cp:revision>
  <dcterms:created xsi:type="dcterms:W3CDTF">2022-10-20T20:34:06Z</dcterms:created>
  <dcterms:modified xsi:type="dcterms:W3CDTF">2026-09-02T17:21:15Z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0x0101003772BBC85A1D1C46AE0114D9E74986D8</vt:lpwstr>
  </property>
  <property fmtid="{D5CDD505-2E9C-101B-9397-08002B2CF9AE}" pid="3" name="MediaServiceImageTags">
    <vt:lpwstr/>
  </property>
</Properties>
</file>